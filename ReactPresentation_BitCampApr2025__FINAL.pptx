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A8E_9840DC86.xml" ContentType="application/vnd.ms-powerpoint.comments+xml"/>
  <Override PartName="/ppt/notesSlides/notesSlide9.xml" ContentType="application/vnd.openxmlformats-officedocument.presentationml.notesSlide+xml"/>
  <Override PartName="/ppt/comments/modernComment_A90_7E6AA715.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A70_62D84C61.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A72_8C240C7E.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823" r:id="rId4"/>
  </p:sldMasterIdLst>
  <p:notesMasterIdLst>
    <p:notesMasterId r:id="rId49"/>
  </p:notesMasterIdLst>
  <p:handoutMasterIdLst>
    <p:handoutMasterId r:id="rId50"/>
  </p:handoutMasterIdLst>
  <p:sldIdLst>
    <p:sldId id="256" r:id="rId5"/>
    <p:sldId id="2661" r:id="rId6"/>
    <p:sldId id="2660" r:id="rId7"/>
    <p:sldId id="2683" r:id="rId8"/>
    <p:sldId id="2684" r:id="rId9"/>
    <p:sldId id="2686" r:id="rId10"/>
    <p:sldId id="2700" r:id="rId11"/>
    <p:sldId id="2701" r:id="rId12"/>
    <p:sldId id="2690" r:id="rId13"/>
    <p:sldId id="2702" r:id="rId14"/>
    <p:sldId id="2704" r:id="rId15"/>
    <p:sldId id="2693" r:id="rId16"/>
    <p:sldId id="2703" r:id="rId17"/>
    <p:sldId id="2664" r:id="rId18"/>
    <p:sldId id="260" r:id="rId19"/>
    <p:sldId id="261" r:id="rId20"/>
    <p:sldId id="2662" r:id="rId21"/>
    <p:sldId id="2663" r:id="rId22"/>
    <p:sldId id="265" r:id="rId23"/>
    <p:sldId id="2665" r:id="rId24"/>
    <p:sldId id="266" r:id="rId25"/>
    <p:sldId id="267" r:id="rId26"/>
    <p:sldId id="2666" r:id="rId27"/>
    <p:sldId id="2667" r:id="rId28"/>
    <p:sldId id="2670" r:id="rId29"/>
    <p:sldId id="2668" r:id="rId30"/>
    <p:sldId id="2669" r:id="rId31"/>
    <p:sldId id="2671" r:id="rId32"/>
    <p:sldId id="2672" r:id="rId33"/>
    <p:sldId id="2695" r:id="rId34"/>
    <p:sldId id="2673" r:id="rId35"/>
    <p:sldId id="2674" r:id="rId36"/>
    <p:sldId id="2685" r:id="rId37"/>
    <p:sldId id="2675" r:id="rId38"/>
    <p:sldId id="2676" r:id="rId39"/>
    <p:sldId id="2677" r:id="rId40"/>
    <p:sldId id="2696" r:id="rId41"/>
    <p:sldId id="2694" r:id="rId42"/>
    <p:sldId id="2680" r:id="rId43"/>
    <p:sldId id="2681" r:id="rId44"/>
    <p:sldId id="2682" r:id="rId45"/>
    <p:sldId id="2705" r:id="rId46"/>
    <p:sldId id="2678" r:id="rId47"/>
    <p:sldId id="2679" r:id="rId48"/>
  </p:sldIdLst>
  <p:sldSz cx="1219200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 userDrawn="1">
          <p15:clr>
            <a:srgbClr val="A4A3A4"/>
          </p15:clr>
        </p15:guide>
        <p15:guide id="2" pos="9" userDrawn="1">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2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6ED11-FDA0-7403-3982-61B2BA07A387}" name="Fogarty, Katherine (PERATON)" initials="KF" userId="S::kfogarty@peraton.com::950cb0fb-670c-4071-a0a9-0cec5c28239d" providerId="AD"/>
  <p188:author id="{0230B5DB-F158-C991-620E-721998CCF952}" name="Combs, Noah (PERATON)" initials="C(" userId="S::ncombs@peraton.com::6ff8b753-59c6-4160-a85e-7f27c6e9c616" providerId="AD"/>
  <p188:author id="{752E75DD-BE5A-8914-D52D-9A643F3BDB83}" name="Persson, Jordan (PERATON)" initials="P(" userId="S::jpersson@peraton.com::3a416aff-0c6d-45e1-b879-36df44ba646d"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9300"/>
    <a:srgbClr val="000000"/>
    <a:srgbClr val="53565A"/>
    <a:srgbClr val="315EAB"/>
    <a:srgbClr val="00AEEF"/>
    <a:srgbClr val="46E3D5"/>
    <a:srgbClr val="EDF19C"/>
    <a:srgbClr val="36FFE3"/>
    <a:srgbClr val="78E1E3"/>
    <a:srgbClr val="85E3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guide orient="horz" pos="238"/>
        <p:guide pos="9"/>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omments/modernComment_A8E_9840DC86.xml><?xml version="1.0" encoding="utf-8"?>
<p188:cmLst xmlns:a="http://schemas.openxmlformats.org/drawingml/2006/main" xmlns:r="http://schemas.openxmlformats.org/officeDocument/2006/relationships" xmlns:p188="http://schemas.microsoft.com/office/powerpoint/2018/8/main">
  <p188:cm id="{C3AAE5C5-E8D4-4045-82B4-F42EE9C6F9BC}" authorId="{D476ED11-FDA0-7403-3982-61B2BA07A387}" created="2024-03-05T15:26:04.194">
    <pc:sldMkLst xmlns:pc="http://schemas.microsoft.com/office/powerpoint/2013/main/command">
      <pc:docMk/>
      <pc:sldMk cId="341903158" sldId="2688"/>
    </pc:sldMkLst>
    <p188:txBody>
      <a:bodyPr/>
      <a:lstStyle/>
      <a:p>
        <a:r>
          <a:rPr lang="en-US"/>
          <a:t>Potentially remove this slide</a:t>
        </a:r>
      </a:p>
    </p188:txBody>
  </p188:cm>
</p188:cmLst>
</file>

<file path=ppt/comments/modernComment_A70_62D84C61.xml><?xml version="1.0" encoding="utf-8"?>
<p188:cmLst xmlns:a="http://schemas.openxmlformats.org/drawingml/2006/main" xmlns:r="http://schemas.openxmlformats.org/officeDocument/2006/relationships" xmlns:p188="http://schemas.microsoft.com/office/powerpoint/2018/8/main">
  <p188:cm id="{D488CB61-FB48-4262-A609-A24F11DF69E0}" authorId="{0230B5DB-F158-C991-620E-721998CCF952}" status="resolved" created="2022-11-02T15:20:16.119" complete="100000">
    <ac:deMkLst xmlns:ac="http://schemas.microsoft.com/office/drawing/2013/main/command">
      <pc:docMk xmlns:pc="http://schemas.microsoft.com/office/powerpoint/2013/main/command"/>
      <pc:sldMk xmlns:pc="http://schemas.microsoft.com/office/powerpoint/2013/main/command" cId="1658342497" sldId="2672"/>
      <ac:spMk id="4" creationId="{00000000-0000-0000-0000-000000000000}"/>
    </ac:deMkLst>
    <p188:txBody>
      <a:bodyPr/>
      <a:lstStyle/>
      <a:p>
        <a:r>
          <a:rPr lang="en-US"/>
          <a:t>Revise second bullet point. Maybe expand on callback function</a:t>
        </a:r>
      </a:p>
    </p188:txBody>
  </p188:cm>
</p188:cmLst>
</file>

<file path=ppt/comments/modernComment_A72_8C240C7E.xml><?xml version="1.0" encoding="utf-8"?>
<p188:cmLst xmlns:a="http://schemas.openxmlformats.org/drawingml/2006/main" xmlns:r="http://schemas.openxmlformats.org/officeDocument/2006/relationships" xmlns:p188="http://schemas.microsoft.com/office/powerpoint/2018/8/main">
  <p188:cm id="{C180AB5A-754C-4E2E-BC97-7671FD4EA60E}" authorId="{0230B5DB-F158-C991-620E-721998CCF952}" created="2022-11-02T17:07:20.771">
    <pc:sldMkLst xmlns:pc="http://schemas.microsoft.com/office/powerpoint/2013/main/command">
      <pc:docMk/>
      <pc:sldMk cId="2351172734" sldId="2674"/>
    </pc:sldMkLst>
    <p188:txBody>
      <a:bodyPr/>
      <a:lstStyle/>
      <a:p>
        <a:r>
          <a:rPr lang="en-US"/>
          <a:t>Decided to keep hook slide here. Examples used in previous slides are simple enough to explain before hooks concept is introduced.</a:t>
        </a:r>
      </a:p>
    </p188:txBody>
  </p188:cm>
</p188:cmLst>
</file>

<file path=ppt/comments/modernComment_A90_7E6AA715.xml><?xml version="1.0" encoding="utf-8"?>
<p188:cmLst xmlns:a="http://schemas.openxmlformats.org/drawingml/2006/main" xmlns:r="http://schemas.openxmlformats.org/officeDocument/2006/relationships" xmlns:p188="http://schemas.microsoft.com/office/powerpoint/2018/8/main">
  <p188:cm id="{770379A2-AE54-499B-A719-5099A0DEBC81}" authorId="{D476ED11-FDA0-7403-3982-61B2BA07A387}" created="2024-03-05T15:26:57.826">
    <pc:sldMkLst xmlns:pc="http://schemas.microsoft.com/office/powerpoint/2013/main/command">
      <pc:docMk/>
      <pc:sldMk cId="3021485684" sldId="2689"/>
    </pc:sldMkLst>
    <p188:txBody>
      <a:bodyPr/>
      <a:lstStyle/>
      <a:p>
        <a:r>
          <a:rPr lang="en-US"/>
          <a:t>Helpful to have tree? React returns JSX which has elements nested within elements (this is the component)</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157" cy="350642"/>
          </a:xfrm>
          <a:prstGeom prst="rect">
            <a:avLst/>
          </a:prstGeom>
        </p:spPr>
        <p:txBody>
          <a:bodyPr vert="horz" lIns="92115" tIns="46058" rIns="92115" bIns="46058" rtlCol="0"/>
          <a:lstStyle>
            <a:lvl1pPr algn="l">
              <a:defRPr sz="1200"/>
            </a:lvl1pPr>
          </a:lstStyle>
          <a:p>
            <a:endParaRPr lang="en-US"/>
          </a:p>
        </p:txBody>
      </p:sp>
      <p:sp>
        <p:nvSpPr>
          <p:cNvPr id="3" name="Date Placeholder 2"/>
          <p:cNvSpPr>
            <a:spLocks noGrp="1"/>
          </p:cNvSpPr>
          <p:nvPr>
            <p:ph type="dt" sz="quarter" idx="1"/>
          </p:nvPr>
        </p:nvSpPr>
        <p:spPr>
          <a:xfrm>
            <a:off x="5266120" y="0"/>
            <a:ext cx="4028157" cy="350642"/>
          </a:xfrm>
          <a:prstGeom prst="rect">
            <a:avLst/>
          </a:prstGeom>
        </p:spPr>
        <p:txBody>
          <a:bodyPr vert="horz" lIns="92115" tIns="46058" rIns="92115" bIns="46058" rtlCol="0"/>
          <a:lstStyle>
            <a:lvl1pPr algn="r">
              <a:defRPr sz="1200"/>
            </a:lvl1pPr>
          </a:lstStyle>
          <a:p>
            <a:fld id="{415CB892-7BA9-4964-A7D1-88F443C0D783}" type="datetimeFigureOut">
              <a:rPr lang="en-US" smtClean="0"/>
              <a:pPr/>
              <a:t>4/11/2025</a:t>
            </a:fld>
            <a:endParaRPr lang="en-US"/>
          </a:p>
        </p:txBody>
      </p:sp>
      <p:sp>
        <p:nvSpPr>
          <p:cNvPr id="4" name="Footer Placeholder 3"/>
          <p:cNvSpPr>
            <a:spLocks noGrp="1"/>
          </p:cNvSpPr>
          <p:nvPr>
            <p:ph type="ftr" sz="quarter" idx="2"/>
          </p:nvPr>
        </p:nvSpPr>
        <p:spPr>
          <a:xfrm>
            <a:off x="0" y="6658555"/>
            <a:ext cx="4028157" cy="350642"/>
          </a:xfrm>
          <a:prstGeom prst="rect">
            <a:avLst/>
          </a:prstGeom>
        </p:spPr>
        <p:txBody>
          <a:bodyPr vert="horz" lIns="92115" tIns="46058" rIns="92115" bIns="46058" rtlCol="0" anchor="b"/>
          <a:lstStyle>
            <a:lvl1pPr algn="l">
              <a:defRPr sz="1200"/>
            </a:lvl1pPr>
          </a:lstStyle>
          <a:p>
            <a:endParaRPr lang="en-US"/>
          </a:p>
        </p:txBody>
      </p:sp>
      <p:sp>
        <p:nvSpPr>
          <p:cNvPr id="5" name="Slide Number Placeholder 4"/>
          <p:cNvSpPr>
            <a:spLocks noGrp="1"/>
          </p:cNvSpPr>
          <p:nvPr>
            <p:ph type="sldNum" sz="quarter" idx="3"/>
          </p:nvPr>
        </p:nvSpPr>
        <p:spPr>
          <a:xfrm>
            <a:off x="5266120" y="6658555"/>
            <a:ext cx="4028157" cy="350642"/>
          </a:xfrm>
          <a:prstGeom prst="rect">
            <a:avLst/>
          </a:prstGeom>
        </p:spPr>
        <p:txBody>
          <a:bodyPr vert="horz" lIns="92115" tIns="46058" rIns="92115" bIns="46058" rtlCol="0" anchor="b"/>
          <a:lstStyle>
            <a:lvl1pPr algn="r">
              <a:defRPr sz="1200"/>
            </a:lvl1pPr>
          </a:lstStyle>
          <a:p>
            <a:fld id="{46491A93-C7B1-4BA6-BF6D-56EB1BB3A7EB}" type="slidenum">
              <a:rPr lang="en-US" smtClean="0"/>
              <a:pPr/>
              <a:t>‹#›</a:t>
            </a:fld>
            <a:endParaRPr lang="en-US"/>
          </a:p>
        </p:txBody>
      </p:sp>
    </p:spTree>
    <p:extLst>
      <p:ext uri="{BB962C8B-B14F-4D97-AF65-F5344CB8AC3E}">
        <p14:creationId xmlns:p14="http://schemas.microsoft.com/office/powerpoint/2010/main" val="1617486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8157" cy="350642"/>
          </a:xfrm>
          <a:prstGeom prst="rect">
            <a:avLst/>
          </a:prstGeom>
        </p:spPr>
        <p:txBody>
          <a:bodyPr vert="horz" lIns="92115" tIns="46058" rIns="92115" bIns="46058" rtlCol="0"/>
          <a:lstStyle>
            <a:lvl1pPr algn="l">
              <a:defRPr sz="1200"/>
            </a:lvl1pPr>
          </a:lstStyle>
          <a:p>
            <a:endParaRPr lang="en-US"/>
          </a:p>
        </p:txBody>
      </p:sp>
      <p:sp>
        <p:nvSpPr>
          <p:cNvPr id="3" name="Date Placeholder 2"/>
          <p:cNvSpPr>
            <a:spLocks noGrp="1"/>
          </p:cNvSpPr>
          <p:nvPr>
            <p:ph type="dt" idx="1"/>
          </p:nvPr>
        </p:nvSpPr>
        <p:spPr>
          <a:xfrm>
            <a:off x="5266120" y="0"/>
            <a:ext cx="4028157" cy="350642"/>
          </a:xfrm>
          <a:prstGeom prst="rect">
            <a:avLst/>
          </a:prstGeom>
        </p:spPr>
        <p:txBody>
          <a:bodyPr vert="horz" lIns="92115" tIns="46058" rIns="92115" bIns="46058" rtlCol="0"/>
          <a:lstStyle>
            <a:lvl1pPr algn="r">
              <a:defRPr sz="1200"/>
            </a:lvl1pPr>
          </a:lstStyle>
          <a:p>
            <a:fld id="{EDAD0333-CEE5-4A3A-BF42-B70C34686FE5}" type="datetimeFigureOut">
              <a:rPr lang="en-US" smtClean="0"/>
              <a:pPr/>
              <a:t>4/11/2025</a:t>
            </a:fld>
            <a:endParaRPr lang="en-US"/>
          </a:p>
        </p:txBody>
      </p:sp>
      <p:sp>
        <p:nvSpPr>
          <p:cNvPr id="4" name="Slide Image Placeholder 3"/>
          <p:cNvSpPr>
            <a:spLocks noGrp="1" noRot="1" noChangeAspect="1"/>
          </p:cNvSpPr>
          <p:nvPr>
            <p:ph type="sldImg" idx="2"/>
          </p:nvPr>
        </p:nvSpPr>
        <p:spPr>
          <a:xfrm>
            <a:off x="2311400" y="525463"/>
            <a:ext cx="4673600" cy="2628900"/>
          </a:xfrm>
          <a:prstGeom prst="rect">
            <a:avLst/>
          </a:prstGeom>
          <a:noFill/>
          <a:ln w="12700">
            <a:solidFill>
              <a:prstClr val="black"/>
            </a:solidFill>
          </a:ln>
        </p:spPr>
        <p:txBody>
          <a:bodyPr vert="horz" lIns="92115" tIns="46058" rIns="92115" bIns="46058" rtlCol="0" anchor="ctr"/>
          <a:lstStyle/>
          <a:p>
            <a:endParaRPr lang="en-US"/>
          </a:p>
        </p:txBody>
      </p:sp>
      <p:sp>
        <p:nvSpPr>
          <p:cNvPr id="5" name="Notes Placeholder 4"/>
          <p:cNvSpPr>
            <a:spLocks noGrp="1"/>
          </p:cNvSpPr>
          <p:nvPr>
            <p:ph type="body" sz="quarter" idx="3"/>
          </p:nvPr>
        </p:nvSpPr>
        <p:spPr>
          <a:xfrm>
            <a:off x="930066" y="3330483"/>
            <a:ext cx="7436271" cy="3154559"/>
          </a:xfrm>
          <a:prstGeom prst="rect">
            <a:avLst/>
          </a:prstGeom>
        </p:spPr>
        <p:txBody>
          <a:bodyPr vert="horz" lIns="92115" tIns="46058" rIns="92115" bIns="4605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555"/>
            <a:ext cx="4028157" cy="350642"/>
          </a:xfrm>
          <a:prstGeom prst="rect">
            <a:avLst/>
          </a:prstGeom>
        </p:spPr>
        <p:txBody>
          <a:bodyPr vert="horz" lIns="92115" tIns="46058" rIns="92115" bIns="46058" rtlCol="0" anchor="b"/>
          <a:lstStyle>
            <a:lvl1pPr algn="l">
              <a:defRPr sz="1200"/>
            </a:lvl1pPr>
          </a:lstStyle>
          <a:p>
            <a:endParaRPr lang="en-US"/>
          </a:p>
        </p:txBody>
      </p:sp>
      <p:sp>
        <p:nvSpPr>
          <p:cNvPr id="7" name="Slide Number Placeholder 6"/>
          <p:cNvSpPr>
            <a:spLocks noGrp="1"/>
          </p:cNvSpPr>
          <p:nvPr>
            <p:ph type="sldNum" sz="quarter" idx="5"/>
          </p:nvPr>
        </p:nvSpPr>
        <p:spPr>
          <a:xfrm>
            <a:off x="5266120" y="6658555"/>
            <a:ext cx="4028157" cy="350642"/>
          </a:xfrm>
          <a:prstGeom prst="rect">
            <a:avLst/>
          </a:prstGeom>
        </p:spPr>
        <p:txBody>
          <a:bodyPr vert="horz" lIns="92115" tIns="46058" rIns="92115" bIns="46058" rtlCol="0" anchor="b"/>
          <a:lstStyle>
            <a:lvl1pPr algn="r">
              <a:defRPr sz="1200"/>
            </a:lvl1pPr>
          </a:lstStyle>
          <a:p>
            <a:fld id="{BC39A3BA-A1FA-41DB-9F41-BC9BFA7404B6}" type="slidenum">
              <a:rPr lang="en-US" smtClean="0"/>
              <a:pPr/>
              <a:t>‹#›</a:t>
            </a:fld>
            <a:endParaRPr lang="en-US"/>
          </a:p>
        </p:txBody>
      </p:sp>
    </p:spTree>
    <p:extLst>
      <p:ext uri="{BB962C8B-B14F-4D97-AF65-F5344CB8AC3E}">
        <p14:creationId xmlns:p14="http://schemas.microsoft.com/office/powerpoint/2010/main" val="1299229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2</a:t>
            </a:fld>
            <a:endParaRPr lang="en-US"/>
          </a:p>
        </p:txBody>
      </p:sp>
    </p:spTree>
    <p:extLst>
      <p:ext uri="{BB962C8B-B14F-4D97-AF65-F5344CB8AC3E}">
        <p14:creationId xmlns:p14="http://schemas.microsoft.com/office/powerpoint/2010/main" val="3737345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Peraton is a </a:t>
            </a:r>
            <a:r>
              <a:rPr lang="en-US" b="1">
                <a:ea typeface="Calibri"/>
                <a:cs typeface="Calibri"/>
              </a:rPr>
              <a:t>Next Generation National Security Company</a:t>
            </a:r>
            <a:r>
              <a:rPr lang="en-US">
                <a:ea typeface="Calibri"/>
                <a:cs typeface="Calibri"/>
              </a:rPr>
              <a:t> with work across multiple different sectors.</a:t>
            </a:r>
            <a:endParaRPr lang="en-US"/>
          </a:p>
          <a:p>
            <a:r>
              <a:rPr lang="en-US">
                <a:ea typeface="Calibri"/>
                <a:cs typeface="Calibri"/>
              </a:rPr>
              <a:t>Our work has an impact on real people, whether it's protecting the International Space Station from debris or ensuring people across the country have access to Medicare </a:t>
            </a:r>
          </a:p>
          <a:p>
            <a:r>
              <a:rPr lang="en-US">
                <a:ea typeface="Calibri"/>
                <a:cs typeface="Calibri"/>
              </a:rPr>
              <a:t>Some other cool projects around the company includes:</a:t>
            </a:r>
            <a:endParaRPr lang="en-US"/>
          </a:p>
          <a:p>
            <a:endParaRPr lang="en-US">
              <a:ea typeface="Calibri"/>
              <a:cs typeface="Calibri"/>
            </a:endParaRPr>
          </a:p>
          <a:p>
            <a:r>
              <a:rPr lang="en-US">
                <a:ea typeface="Calibri"/>
                <a:cs typeface="Calibri"/>
              </a:rPr>
              <a:t>Situational awareness in space</a:t>
            </a:r>
          </a:p>
          <a:p>
            <a:r>
              <a:rPr lang="en-US">
                <a:ea typeface="Calibri"/>
                <a:cs typeface="Calibri"/>
              </a:rPr>
              <a:t>Work on the Nasa Deep Space and Near Space Networks</a:t>
            </a:r>
          </a:p>
          <a:p>
            <a:r>
              <a:rPr lang="en-US">
                <a:ea typeface="Calibri"/>
                <a:cs typeface="Calibri"/>
              </a:rPr>
              <a:t>Managing cyber watch floors and software</a:t>
            </a:r>
          </a:p>
          <a:p>
            <a:r>
              <a:rPr lang="en-US">
                <a:ea typeface="Calibri"/>
                <a:cs typeface="Calibri"/>
              </a:rPr>
              <a:t>Helping protect our borders</a:t>
            </a:r>
          </a:p>
          <a:p>
            <a:r>
              <a:rPr lang="en-US">
                <a:ea typeface="Calibri"/>
                <a:cs typeface="Calibri"/>
              </a:rPr>
              <a:t>And Medicare claims processing</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3</a:t>
            </a:fld>
            <a:endParaRPr lang="en-US"/>
          </a:p>
        </p:txBody>
      </p:sp>
    </p:spTree>
    <p:extLst>
      <p:ext uri="{BB962C8B-B14F-4D97-AF65-F5344CB8AC3E}">
        <p14:creationId xmlns:p14="http://schemas.microsoft.com/office/powerpoint/2010/main" val="2750348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Highlight internship and coop programs</a:t>
            </a:r>
          </a:p>
          <a:p>
            <a:endParaRPr lang="en-US">
              <a:cs typeface="Calibri"/>
            </a:endParaRPr>
          </a:p>
          <a:p>
            <a:r>
              <a:rPr lang="en-US">
                <a:cs typeface="Calibri"/>
              </a:rPr>
              <a:t>Speak about your experience as an employee (leadership opportunities, support you've received)</a:t>
            </a:r>
          </a:p>
        </p:txBody>
      </p:sp>
      <p:sp>
        <p:nvSpPr>
          <p:cNvPr id="4" name="Slide Number Placeholder 3"/>
          <p:cNvSpPr>
            <a:spLocks noGrp="1"/>
          </p:cNvSpPr>
          <p:nvPr>
            <p:ph type="sldNum" sz="quarter" idx="5"/>
          </p:nvPr>
        </p:nvSpPr>
        <p:spPr/>
        <p:txBody>
          <a:bodyPr/>
          <a:lstStyle/>
          <a:p>
            <a:fld id="{BC39A3BA-A1FA-41DB-9F41-BC9BFA7404B6}" type="slidenum">
              <a:rPr lang="en-US" smtClean="0"/>
              <a:pPr/>
              <a:t>4</a:t>
            </a:fld>
            <a:endParaRPr lang="en-US"/>
          </a:p>
        </p:txBody>
      </p:sp>
    </p:spTree>
    <p:extLst>
      <p:ext uri="{BB962C8B-B14F-4D97-AF65-F5344CB8AC3E}">
        <p14:creationId xmlns:p14="http://schemas.microsoft.com/office/powerpoint/2010/main" val="68502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You can come work with us on missions that matter by stopping by our sponsor table today!</a:t>
            </a:r>
          </a:p>
          <a:p>
            <a:endParaRPr lang="en-US">
              <a:cs typeface="Calibri"/>
            </a:endParaRPr>
          </a:p>
          <a:p>
            <a:r>
              <a:rPr lang="en-US">
                <a:cs typeface="Calibri"/>
              </a:rPr>
              <a:t>If Brett is present, ask him to add any comments</a:t>
            </a:r>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5</a:t>
            </a:fld>
            <a:endParaRPr lang="en-US"/>
          </a:p>
        </p:txBody>
      </p:sp>
    </p:spTree>
    <p:extLst>
      <p:ext uri="{BB962C8B-B14F-4D97-AF65-F5344CB8AC3E}">
        <p14:creationId xmlns:p14="http://schemas.microsoft.com/office/powerpoint/2010/main" val="4189297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We'll now go quickly through a frontend web development intro.</a:t>
            </a:r>
            <a:endParaRPr lang="en-US"/>
          </a:p>
          <a:p>
            <a:r>
              <a:rPr lang="en-US">
                <a:cs typeface="Calibri"/>
              </a:rPr>
              <a:t>If you've taken a web dev class before this might be review for you, but if not we wanted to give you a bit of helpful background.</a:t>
            </a:r>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6</a:t>
            </a:fld>
            <a:endParaRPr lang="en-US"/>
          </a:p>
        </p:txBody>
      </p:sp>
    </p:spTree>
    <p:extLst>
      <p:ext uri="{BB962C8B-B14F-4D97-AF65-F5344CB8AC3E}">
        <p14:creationId xmlns:p14="http://schemas.microsoft.com/office/powerpoint/2010/main" val="1184296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Web development is divided into the front end and back end. The front end consists of HTML...</a:t>
            </a:r>
          </a:p>
          <a:p>
            <a:r>
              <a:rPr lang="en-US">
                <a:cs typeface="Calibri"/>
              </a:rPr>
              <a:t>The backend is the data and services...</a:t>
            </a:r>
          </a:p>
        </p:txBody>
      </p:sp>
      <p:sp>
        <p:nvSpPr>
          <p:cNvPr id="4" name="Slide Number Placeholder 3"/>
          <p:cNvSpPr>
            <a:spLocks noGrp="1"/>
          </p:cNvSpPr>
          <p:nvPr>
            <p:ph type="sldNum" sz="quarter" idx="5"/>
          </p:nvPr>
        </p:nvSpPr>
        <p:spPr/>
        <p:txBody>
          <a:bodyPr/>
          <a:lstStyle/>
          <a:p>
            <a:fld id="{BC39A3BA-A1FA-41DB-9F41-BC9BFA7404B6}" type="slidenum">
              <a:rPr lang="en-US" smtClean="0"/>
              <a:pPr/>
              <a:t>8</a:t>
            </a:fld>
            <a:endParaRPr lang="en-US"/>
          </a:p>
        </p:txBody>
      </p:sp>
    </p:spTree>
    <p:extLst>
      <p:ext uri="{BB962C8B-B14F-4D97-AF65-F5344CB8AC3E}">
        <p14:creationId xmlns:p14="http://schemas.microsoft.com/office/powerpoint/2010/main" val="2089366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What is a framework? This is a way of structuring...</a:t>
            </a:r>
          </a:p>
          <a:p>
            <a:r>
              <a:rPr lang="en-US">
                <a:cs typeface="Calibri"/>
              </a:rPr>
              <a:t>Frameworks provide the developer with tools, libraries...</a:t>
            </a:r>
          </a:p>
          <a:p>
            <a:r>
              <a:rPr lang="en-US">
                <a:cs typeface="Calibri"/>
              </a:rPr>
              <a:t>We still use classic HTML, CSS, and JS to create our frontend.</a:t>
            </a:r>
          </a:p>
          <a:p>
            <a:r>
              <a:rPr lang="en-US">
                <a:cs typeface="Calibri"/>
              </a:rPr>
              <a:t>Here are some examples of frameworks commonly used, we have angular … </a:t>
            </a:r>
          </a:p>
          <a:p>
            <a:r>
              <a:rPr lang="en-US">
                <a:cs typeface="Calibri"/>
              </a:rPr>
              <a:t>We also want to note that react isn’t a framework, it’s a library that is used to build react based frameworks like next.js</a:t>
            </a:r>
          </a:p>
          <a:p>
            <a:endParaRPr lang="en-US">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BFBFBF"/>
                </a:solidFill>
                <a:effectLst/>
                <a:latin typeface="Google Sans"/>
              </a:rPr>
              <a:t>Transition: All of the frameworks listed here share a </a:t>
            </a:r>
            <a:r>
              <a:rPr lang="en-US" b="0" i="0">
                <a:solidFill>
                  <a:srgbClr val="BFBFBF"/>
                </a:solidFill>
                <a:effectLst/>
                <a:latin typeface="Google Sans"/>
                <a:cs typeface="Calibri"/>
              </a:rPr>
              <a:t>common interface that helps make websites built using frameworks efficient, also known as the DOM</a:t>
            </a:r>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9</a:t>
            </a:fld>
            <a:endParaRPr lang="en-US"/>
          </a:p>
        </p:txBody>
      </p:sp>
    </p:spTree>
    <p:extLst>
      <p:ext uri="{BB962C8B-B14F-4D97-AF65-F5344CB8AC3E}">
        <p14:creationId xmlns:p14="http://schemas.microsoft.com/office/powerpoint/2010/main" val="4194002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The DOM stands for Document Object Model and this is a tree representation...</a:t>
            </a:r>
          </a:p>
          <a:p>
            <a:r>
              <a:rPr lang="en-US">
                <a:cs typeface="Calibri"/>
              </a:rPr>
              <a:t>The DOM helps us...</a:t>
            </a:r>
          </a:p>
        </p:txBody>
      </p:sp>
      <p:sp>
        <p:nvSpPr>
          <p:cNvPr id="4" name="Slide Number Placeholder 3"/>
          <p:cNvSpPr>
            <a:spLocks noGrp="1"/>
          </p:cNvSpPr>
          <p:nvPr>
            <p:ph type="sldNum" sz="quarter" idx="5"/>
          </p:nvPr>
        </p:nvSpPr>
        <p:spPr/>
        <p:txBody>
          <a:bodyPr/>
          <a:lstStyle/>
          <a:p>
            <a:fld id="{BC39A3BA-A1FA-41DB-9F41-BC9BFA7404B6}" type="slidenum">
              <a:rPr lang="en-US" smtClean="0"/>
              <a:pPr/>
              <a:t>10</a:t>
            </a:fld>
            <a:endParaRPr lang="en-US"/>
          </a:p>
        </p:txBody>
      </p:sp>
    </p:spTree>
    <p:extLst>
      <p:ext uri="{BB962C8B-B14F-4D97-AF65-F5344CB8AC3E}">
        <p14:creationId xmlns:p14="http://schemas.microsoft.com/office/powerpoint/2010/main" val="3931533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Here's an example of how the DOM represents elements on a page. The h1 tag is inside ….</a:t>
            </a:r>
          </a:p>
        </p:txBody>
      </p:sp>
      <p:sp>
        <p:nvSpPr>
          <p:cNvPr id="4" name="Slide Number Placeholder 3"/>
          <p:cNvSpPr>
            <a:spLocks noGrp="1"/>
          </p:cNvSpPr>
          <p:nvPr>
            <p:ph type="sldNum" sz="quarter" idx="5"/>
          </p:nvPr>
        </p:nvSpPr>
        <p:spPr/>
        <p:txBody>
          <a:bodyPr/>
          <a:lstStyle/>
          <a:p>
            <a:fld id="{BC39A3BA-A1FA-41DB-9F41-BC9BFA7404B6}" type="slidenum">
              <a:rPr lang="en-US" smtClean="0"/>
              <a:pPr/>
              <a:t>11</a:t>
            </a:fld>
            <a:endParaRPr lang="en-US"/>
          </a:p>
        </p:txBody>
      </p:sp>
    </p:spTree>
    <p:extLst>
      <p:ext uri="{BB962C8B-B14F-4D97-AF65-F5344CB8AC3E}">
        <p14:creationId xmlns:p14="http://schemas.microsoft.com/office/powerpoint/2010/main" val="3717798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0B56-7697-20AD-3A49-E5C3BDBBA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76B59-187A-BC61-E013-5FF22B4B4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D0D6E1-B3B8-EB45-DAEA-FE349487EB47}"/>
              </a:ext>
            </a:extLst>
          </p:cNvPr>
          <p:cNvSpPr>
            <a:spLocks noGrp="1"/>
          </p:cNvSpPr>
          <p:nvPr>
            <p:ph type="body" idx="1"/>
          </p:nvPr>
        </p:nvSpPr>
        <p:spPr/>
        <p:txBody>
          <a:bodyPr/>
          <a:lstStyle/>
          <a:p>
            <a:r>
              <a:rPr lang="en-US">
                <a:ea typeface="Calibri"/>
                <a:cs typeface="Calibri"/>
              </a:rPr>
              <a:t>Frameworks build on this concept of a single page application. Pieces of the …</a:t>
            </a:r>
          </a:p>
          <a:p>
            <a:r>
              <a:rPr lang="en-US">
                <a:ea typeface="Calibri"/>
                <a:cs typeface="Calibri"/>
              </a:rPr>
              <a:t>So websites built off of frameworks are quicker…</a:t>
            </a:r>
          </a:p>
          <a:p>
            <a:r>
              <a:rPr lang="en-US">
                <a:ea typeface="Calibri"/>
                <a:cs typeface="Calibri"/>
              </a:rPr>
              <a:t>Angular manipulates the real DOM which is quick but React uses a virtual DOM made with JSX which is even quicker.</a:t>
            </a:r>
          </a:p>
          <a:p>
            <a:r>
              <a:rPr lang="en-US">
                <a:ea typeface="Calibri"/>
                <a:cs typeface="Calibri"/>
              </a:rPr>
              <a:t>The virtual DOM is a lightweight in-memory representation of the real DOM to optimize rendering and </a:t>
            </a:r>
            <a:r>
              <a:rPr lang="en-US" err="1">
                <a:ea typeface="Calibri"/>
                <a:cs typeface="Calibri"/>
              </a:rPr>
              <a:t>preformance</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770BCB73-DA2F-89E1-D02B-B68BB8A6AF66}"/>
              </a:ext>
            </a:extLst>
          </p:cNvPr>
          <p:cNvSpPr>
            <a:spLocks noGrp="1"/>
          </p:cNvSpPr>
          <p:nvPr>
            <p:ph type="sldNum" sz="quarter" idx="5"/>
          </p:nvPr>
        </p:nvSpPr>
        <p:spPr/>
        <p:txBody>
          <a:bodyPr/>
          <a:lstStyle/>
          <a:p>
            <a:fld id="{BC39A3BA-A1FA-41DB-9F41-BC9BFA7404B6}" type="slidenum">
              <a:rPr lang="en-US" smtClean="0"/>
              <a:pPr/>
              <a:t>12</a:t>
            </a:fld>
            <a:endParaRPr lang="en-US"/>
          </a:p>
        </p:txBody>
      </p:sp>
    </p:spTree>
    <p:extLst>
      <p:ext uri="{BB962C8B-B14F-4D97-AF65-F5344CB8AC3E}">
        <p14:creationId xmlns:p14="http://schemas.microsoft.com/office/powerpoint/2010/main" val="1186172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Next, we’ll learn a bit about JavaScript and some frameworks built by JavaScript.</a:t>
            </a:r>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14</a:t>
            </a:fld>
            <a:endParaRPr lang="en-US"/>
          </a:p>
        </p:txBody>
      </p:sp>
    </p:spTree>
    <p:extLst>
      <p:ext uri="{BB962C8B-B14F-4D97-AF65-F5344CB8AC3E}">
        <p14:creationId xmlns:p14="http://schemas.microsoft.com/office/powerpoint/2010/main" val="1276250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React is a JavaScript …</a:t>
            </a:r>
          </a:p>
        </p:txBody>
      </p:sp>
      <p:sp>
        <p:nvSpPr>
          <p:cNvPr id="4" name="Slide Number Placeholder 3"/>
          <p:cNvSpPr>
            <a:spLocks noGrp="1"/>
          </p:cNvSpPr>
          <p:nvPr>
            <p:ph type="sldNum" sz="quarter" idx="5"/>
          </p:nvPr>
        </p:nvSpPr>
        <p:spPr/>
        <p:txBody>
          <a:bodyPr/>
          <a:lstStyle/>
          <a:p>
            <a:fld id="{BC39A3BA-A1FA-41DB-9F41-BC9BFA7404B6}" type="slidenum">
              <a:rPr lang="en-US" smtClean="0"/>
              <a:pPr/>
              <a:t>15</a:t>
            </a:fld>
            <a:endParaRPr lang="en-US"/>
          </a:p>
        </p:txBody>
      </p:sp>
    </p:spTree>
    <p:extLst>
      <p:ext uri="{BB962C8B-B14F-4D97-AF65-F5344CB8AC3E}">
        <p14:creationId xmlns:p14="http://schemas.microsoft.com/office/powerpoint/2010/main" val="2832402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big advantage of react is that its open source …</a:t>
            </a:r>
          </a:p>
          <a:p>
            <a:r>
              <a:rPr lang="en-US"/>
              <a:t>React also facilitates reusable components which are blocks of code that can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16</a:t>
            </a:fld>
            <a:endParaRPr lang="en-US"/>
          </a:p>
        </p:txBody>
      </p:sp>
    </p:spTree>
    <p:extLst>
      <p:ext uri="{BB962C8B-B14F-4D97-AF65-F5344CB8AC3E}">
        <p14:creationId xmlns:p14="http://schemas.microsoft.com/office/powerpoint/2010/main" val="1742025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17</a:t>
            </a:fld>
            <a:endParaRPr lang="en-US"/>
          </a:p>
        </p:txBody>
      </p:sp>
    </p:spTree>
    <p:extLst>
      <p:ext uri="{BB962C8B-B14F-4D97-AF65-F5344CB8AC3E}">
        <p14:creationId xmlns:p14="http://schemas.microsoft.com/office/powerpoint/2010/main" val="493740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*Mention what a component library is</a:t>
            </a:r>
          </a:p>
          <a:p>
            <a:endParaRPr lang="en-US"/>
          </a:p>
          <a:p>
            <a:r>
              <a:rPr lang="en-US"/>
              <a:t>JavaScript has many different libraries. We have listed here some common ones that Peraton uses. </a:t>
            </a:r>
          </a:p>
          <a:p>
            <a:r>
              <a:rPr lang="en-US"/>
              <a:t>Material UI is a …</a:t>
            </a:r>
          </a:p>
          <a:p>
            <a:endParaRPr lang="en-US"/>
          </a:p>
          <a:p>
            <a:r>
              <a:rPr lang="en-US"/>
              <a:t>If you are unfamiliar with ArcGIS, it is a geological information system developed by Esri that offers </a:t>
            </a:r>
            <a:r>
              <a:rPr lang="en-US" b="0" i="0">
                <a:solidFill>
                  <a:srgbClr val="BFBFBF"/>
                </a:solidFill>
                <a:effectLst/>
                <a:latin typeface="Google Sans"/>
              </a:rPr>
              <a:t>mapping and analysis solutions for geospatial data.</a:t>
            </a:r>
          </a:p>
          <a:p>
            <a:endParaRPr lang="en-US" b="0" i="0">
              <a:solidFill>
                <a:srgbClr val="BFBFBF"/>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BFBFBF"/>
                </a:solidFill>
                <a:effectLst/>
                <a:latin typeface="Google Sans"/>
              </a:rPr>
              <a:t>Transition: There are many other tools and libraries that you can find to suit your specific needs. Next, I’ll hand it off to Daniel to get started on configuring your environment for React development.</a:t>
            </a:r>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18</a:t>
            </a:fld>
            <a:endParaRPr lang="en-US"/>
          </a:p>
        </p:txBody>
      </p:sp>
    </p:spTree>
    <p:extLst>
      <p:ext uri="{BB962C8B-B14F-4D97-AF65-F5344CB8AC3E}">
        <p14:creationId xmlns:p14="http://schemas.microsoft.com/office/powerpoint/2010/main" val="493065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Add mini agenda here/transition (why React – our prize category?)</a:t>
            </a:r>
          </a:p>
        </p:txBody>
      </p:sp>
      <p:sp>
        <p:nvSpPr>
          <p:cNvPr id="4" name="Slide Number Placeholder 3"/>
          <p:cNvSpPr>
            <a:spLocks noGrp="1"/>
          </p:cNvSpPr>
          <p:nvPr>
            <p:ph type="sldNum" sz="quarter" idx="5"/>
          </p:nvPr>
        </p:nvSpPr>
        <p:spPr/>
        <p:txBody>
          <a:bodyPr/>
          <a:lstStyle/>
          <a:p>
            <a:fld id="{BC39A3BA-A1FA-41DB-9F41-BC9BFA7404B6}" type="slidenum">
              <a:rPr lang="en-US" smtClean="0"/>
              <a:pPr/>
              <a:t>20</a:t>
            </a:fld>
            <a:endParaRPr lang="en-US"/>
          </a:p>
        </p:txBody>
      </p:sp>
    </p:spTree>
    <p:extLst>
      <p:ext uri="{BB962C8B-B14F-4D97-AF65-F5344CB8AC3E}">
        <p14:creationId xmlns:p14="http://schemas.microsoft.com/office/powerpoint/2010/main" val="3751188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 to what a default package manager is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21</a:t>
            </a:fld>
            <a:endParaRPr lang="en-US"/>
          </a:p>
        </p:txBody>
      </p:sp>
    </p:spTree>
    <p:extLst>
      <p:ext uri="{BB962C8B-B14F-4D97-AF65-F5344CB8AC3E}">
        <p14:creationId xmlns:p14="http://schemas.microsoft.com/office/powerpoint/2010/main" val="2490637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Syntax extension means that JSX can be written directly in JavaScript (.</a:t>
            </a:r>
            <a:r>
              <a:rPr lang="en-US" err="1">
                <a:cs typeface="Calibri"/>
              </a:rPr>
              <a:t>js</a:t>
            </a:r>
            <a:r>
              <a:rPr lang="en-US">
                <a:cs typeface="Calibri"/>
              </a:rPr>
              <a:t>) files, but is </a:t>
            </a:r>
            <a:r>
              <a:rPr lang="en-US" err="1">
                <a:cs typeface="Calibri"/>
              </a:rPr>
              <a:t>transpiled</a:t>
            </a:r>
            <a:r>
              <a:rPr lang="en-US">
                <a:cs typeface="Calibri"/>
              </a:rPr>
              <a:t> down to plain JavaScript (</a:t>
            </a:r>
            <a:r>
              <a:rPr lang="en-US" err="1">
                <a:cs typeface="Calibri"/>
              </a:rPr>
              <a:t>React.createElement</a:t>
            </a:r>
            <a:r>
              <a:rPr lang="en-US">
                <a:cs typeface="Calibri"/>
              </a:rPr>
              <a:t> calls) via a library called Babel.</a:t>
            </a:r>
            <a:endParaRPr lang="en-US"/>
          </a:p>
          <a:p>
            <a:endParaRPr lang="en-US">
              <a:cs typeface="Calibri"/>
            </a:endParaRPr>
          </a:p>
          <a:p>
            <a:r>
              <a:rPr lang="en-US">
                <a:cs typeface="Calibri"/>
              </a:rPr>
              <a:t>React uses JSX to specify both the view and the logic in a single component.</a:t>
            </a:r>
          </a:p>
          <a:p>
            <a:pPr marL="171450" indent="-171450">
              <a:buFont typeface="Arial"/>
              <a:buChar char="•"/>
            </a:pPr>
            <a:endParaRPr lang="en-US">
              <a:cs typeface="Calibri"/>
            </a:endParaRPr>
          </a:p>
          <a:p>
            <a:r>
              <a:rPr lang="en-US">
                <a:cs typeface="Calibri"/>
              </a:rPr>
              <a:t>Curly braces are used for many purposes in JavaScript. In the context of JSX, any expression surrounded by curly braces will be evaluated and the result displayed. If you do not use curly braces around an expression, the plaintext will be displayed verbatim.</a:t>
            </a:r>
          </a:p>
          <a:p>
            <a:endParaRPr lang="en-US">
              <a:cs typeface="Calibri"/>
            </a:endParaRPr>
          </a:p>
          <a:p>
            <a:r>
              <a:rPr lang="en-US">
                <a:cs typeface="Calibri"/>
              </a:rPr>
              <a:t>JSX is technically optional in React. React functions return React elements and that can be done via JSX or </a:t>
            </a:r>
            <a:r>
              <a:rPr lang="en-US" err="1">
                <a:cs typeface="Calibri"/>
              </a:rPr>
              <a:t>React.createElement</a:t>
            </a:r>
            <a:r>
              <a:rPr lang="en-US">
                <a:cs typeface="Calibri"/>
              </a:rPr>
              <a:t>(). It is highly recommended to use JSX for convenience and clarity.</a:t>
            </a:r>
          </a:p>
        </p:txBody>
      </p:sp>
      <p:sp>
        <p:nvSpPr>
          <p:cNvPr id="4" name="Slide Number Placeholder 3"/>
          <p:cNvSpPr>
            <a:spLocks noGrp="1"/>
          </p:cNvSpPr>
          <p:nvPr>
            <p:ph type="sldNum" sz="quarter" idx="5"/>
          </p:nvPr>
        </p:nvSpPr>
        <p:spPr/>
        <p:txBody>
          <a:bodyPr/>
          <a:lstStyle/>
          <a:p>
            <a:fld id="{BC39A3BA-A1FA-41DB-9F41-BC9BFA7404B6}" type="slidenum">
              <a:rPr lang="en-US" smtClean="0"/>
              <a:pPr/>
              <a:t>22</a:t>
            </a:fld>
            <a:endParaRPr lang="en-US"/>
          </a:p>
        </p:txBody>
      </p:sp>
    </p:spTree>
    <p:extLst>
      <p:ext uri="{BB962C8B-B14F-4D97-AF65-F5344CB8AC3E}">
        <p14:creationId xmlns:p14="http://schemas.microsoft.com/office/powerpoint/2010/main" val="8426537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Building blocks: React components contain specify how a part of the UI should look and act.</a:t>
            </a:r>
          </a:p>
          <a:p>
            <a:endParaRPr lang="en-US">
              <a:cs typeface="Calibri"/>
            </a:endParaRPr>
          </a:p>
          <a:p>
            <a:r>
              <a:rPr lang="en-US">
                <a:cs typeface="Calibri"/>
              </a:rPr>
              <a:t>Reusable: A well-written component is flexible enough to be used multiple times across the application if necessary. Web applications often display similar UI elements across the application, so re-using components prevents code duplication and simplifies the readability and maintainability of the application.</a:t>
            </a:r>
            <a:endParaRPr lang="en-US"/>
          </a:p>
          <a:p>
            <a:endParaRPr lang="en-US">
              <a:cs typeface="Calibri"/>
            </a:endParaRPr>
          </a:p>
          <a:p>
            <a:r>
              <a:rPr lang="en-US">
                <a:cs typeface="Calibri"/>
              </a:rPr>
              <a:t>Hierarchical: React elements are specified using JSX (JavaScript XML) which is implicitly hierarchical. Allowing components to render other components also improves reusability. For example, take a webpage that displays a card for each faculty member at a university. You'd build a single component that renders a card UI element showing the faculty member's details (name, department, picture, </a:t>
            </a:r>
            <a:r>
              <a:rPr lang="en-US" err="1">
                <a:cs typeface="Calibri"/>
              </a:rPr>
              <a:t>etc</a:t>
            </a:r>
            <a:r>
              <a:rPr lang="en-US">
                <a:cs typeface="Calibri"/>
              </a:rPr>
              <a:t>). Then you'd build a separate component that takes in a list of faculty members and renders the card component for each person. You can add sorting/filtering functionality into that component too.</a:t>
            </a:r>
          </a:p>
          <a:p>
            <a:endParaRPr lang="en-US">
              <a:cs typeface="Calibri"/>
            </a:endParaRPr>
          </a:p>
          <a:p>
            <a:r>
              <a:rPr lang="en-US">
                <a:cs typeface="Calibri"/>
              </a:rPr>
              <a:t>Stateful: Most React components maintain an internal state object that is empty by default. The state object is JSON format, so essentially key/value pairs. When you build a component, you specify the initial state of a component and build logic into the component to update the state in response to certain user actions or other events (e.g. API calls, </a:t>
            </a:r>
            <a:r>
              <a:rPr lang="en-US" err="1">
                <a:cs typeface="Calibri"/>
              </a:rPr>
              <a:t>websocket</a:t>
            </a:r>
            <a:r>
              <a:rPr lang="en-US">
                <a:cs typeface="Calibri"/>
              </a:rPr>
              <a:t> message received, pub/sub message received, </a:t>
            </a:r>
            <a:r>
              <a:rPr lang="en-US" err="1">
                <a:cs typeface="Calibri"/>
              </a:rPr>
              <a:t>etc</a:t>
            </a:r>
            <a:r>
              <a:rPr lang="en-US">
                <a:cs typeface="Calibri"/>
              </a:rPr>
              <a:t>). Component state is useful to make components responsive and flexible.</a:t>
            </a:r>
          </a:p>
          <a:p>
            <a:endParaRPr lang="en-US"/>
          </a:p>
          <a:p>
            <a:r>
              <a:rPr lang="en-US"/>
              <a:t>Function components are more common in modern react applications, but you can still use class components. The reason that function components are more popular is that they are generally simpler and less verbose making for better readability and maintainability.</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24</a:t>
            </a:fld>
            <a:endParaRPr lang="en-US"/>
          </a:p>
        </p:txBody>
      </p:sp>
    </p:spTree>
    <p:extLst>
      <p:ext uri="{BB962C8B-B14F-4D97-AF65-F5344CB8AC3E}">
        <p14:creationId xmlns:p14="http://schemas.microsoft.com/office/powerpoint/2010/main" val="13675131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cs typeface="Calibri"/>
              </a:rPr>
              <a:t>Should we move this ahead of the component examples?</a:t>
            </a:r>
          </a:p>
          <a:p>
            <a:endParaRPr lang="en-US" b="1">
              <a:cs typeface="Calibri"/>
            </a:endParaRPr>
          </a:p>
          <a:p>
            <a:r>
              <a:rPr lang="en-US">
                <a:ea typeface="Calibri"/>
                <a:cs typeface="Calibri"/>
              </a:rPr>
              <a:t>Props pass data down from parent to child component</a:t>
            </a:r>
          </a:p>
          <a:p>
            <a:r>
              <a:rPr lang="en-US">
                <a:ea typeface="Calibri"/>
                <a:cs typeface="Calibri"/>
              </a:rPr>
              <a:t>Values passed as props can change, which causes the component to re-render the UI. This way the UI is responsive</a:t>
            </a:r>
          </a:p>
          <a:p>
            <a:endParaRPr lang="en-US">
              <a:ea typeface="Calibri"/>
              <a:cs typeface="Calibri"/>
            </a:endParaRPr>
          </a:p>
          <a:p>
            <a:r>
              <a:rPr lang="en-US">
                <a:ea typeface="Calibri"/>
                <a:cs typeface="Calibri"/>
              </a:rPr>
              <a:t>State is a JSON object maintained by the component. A component changes its own state which causes the component to re-render.</a:t>
            </a:r>
          </a:p>
        </p:txBody>
      </p:sp>
      <p:sp>
        <p:nvSpPr>
          <p:cNvPr id="4" name="Slide Number Placeholder 3"/>
          <p:cNvSpPr>
            <a:spLocks noGrp="1"/>
          </p:cNvSpPr>
          <p:nvPr>
            <p:ph type="sldNum" sz="quarter" idx="5"/>
          </p:nvPr>
        </p:nvSpPr>
        <p:spPr/>
        <p:txBody>
          <a:bodyPr/>
          <a:lstStyle/>
          <a:p>
            <a:fld id="{BC39A3BA-A1FA-41DB-9F41-BC9BFA7404B6}" type="slidenum">
              <a:rPr lang="en-US" smtClean="0"/>
              <a:pPr/>
              <a:t>25</a:t>
            </a:fld>
            <a:endParaRPr lang="en-US"/>
          </a:p>
        </p:txBody>
      </p:sp>
    </p:spTree>
    <p:extLst>
      <p:ext uri="{BB962C8B-B14F-4D97-AF65-F5344CB8AC3E}">
        <p14:creationId xmlns:p14="http://schemas.microsoft.com/office/powerpoint/2010/main" val="2936585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At the core, this is a plain JavaScript function called "App" that receives props as parameters to the function. The function returns a React element, which in this case is specified using JSX.</a:t>
            </a:r>
          </a:p>
          <a:p>
            <a:r>
              <a:rPr lang="en-US">
                <a:cs typeface="Calibri"/>
              </a:rPr>
              <a:t>The '</a:t>
            </a:r>
            <a:r>
              <a:rPr lang="en-US" err="1">
                <a:cs typeface="Calibri"/>
              </a:rPr>
              <a:t>useState</a:t>
            </a:r>
            <a:r>
              <a:rPr lang="en-US">
                <a:cs typeface="Calibri"/>
              </a:rPr>
              <a:t>' hook makes the component stateful – will talk about the specifics later.</a:t>
            </a:r>
          </a:p>
          <a:p>
            <a:r>
              <a:rPr lang="en-US">
                <a:cs typeface="Calibri"/>
              </a:rPr>
              <a:t>This App function renders the simple UI in the bottom right. When the button is clicked, the counter is incremented.</a:t>
            </a:r>
          </a:p>
        </p:txBody>
      </p:sp>
      <p:sp>
        <p:nvSpPr>
          <p:cNvPr id="4" name="Slide Number Placeholder 3"/>
          <p:cNvSpPr>
            <a:spLocks noGrp="1"/>
          </p:cNvSpPr>
          <p:nvPr>
            <p:ph type="sldNum" sz="quarter" idx="5"/>
          </p:nvPr>
        </p:nvSpPr>
        <p:spPr/>
        <p:txBody>
          <a:bodyPr/>
          <a:lstStyle/>
          <a:p>
            <a:fld id="{BC39A3BA-A1FA-41DB-9F41-BC9BFA7404B6}" type="slidenum">
              <a:rPr lang="en-US" smtClean="0"/>
              <a:pPr/>
              <a:t>26</a:t>
            </a:fld>
            <a:endParaRPr lang="en-US"/>
          </a:p>
        </p:txBody>
      </p:sp>
    </p:spTree>
    <p:extLst>
      <p:ext uri="{BB962C8B-B14F-4D97-AF65-F5344CB8AC3E}">
        <p14:creationId xmlns:p14="http://schemas.microsoft.com/office/powerpoint/2010/main" val="18947311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This is the equivalent of the function component in the last slide. The UI rendered looks and behaves the same.</a:t>
            </a:r>
          </a:p>
          <a:p>
            <a:endParaRPr lang="en-US">
              <a:cs typeface="Calibri"/>
            </a:endParaRPr>
          </a:p>
          <a:p>
            <a:r>
              <a:rPr lang="en-US">
                <a:cs typeface="Calibri"/>
              </a:rPr>
              <a:t>Class components use a ES6/JavaScript class extending the "</a:t>
            </a:r>
            <a:r>
              <a:rPr lang="en-US" err="1">
                <a:cs typeface="Calibri"/>
              </a:rPr>
              <a:t>React.Component</a:t>
            </a:r>
            <a:r>
              <a:rPr lang="en-US">
                <a:cs typeface="Calibri"/>
              </a:rPr>
              <a:t>" class which is imported from the React library.</a:t>
            </a:r>
          </a:p>
          <a:p>
            <a:r>
              <a:rPr lang="en-US">
                <a:cs typeface="Calibri"/>
              </a:rPr>
              <a:t>The props are received via the class constructor. </a:t>
            </a:r>
          </a:p>
          <a:p>
            <a:r>
              <a:rPr lang="en-US">
                <a:cs typeface="Calibri"/>
              </a:rPr>
              <a:t>The render() function returns JSX just like the function component.</a:t>
            </a:r>
          </a:p>
          <a:p>
            <a:r>
              <a:rPr lang="en-US">
                <a:cs typeface="Calibri"/>
              </a:rPr>
              <a:t>The initial state is specified in the constructor rather than via the '</a:t>
            </a:r>
            <a:r>
              <a:rPr lang="en-US" err="1">
                <a:cs typeface="Calibri"/>
              </a:rPr>
              <a:t>useState</a:t>
            </a:r>
            <a:r>
              <a:rPr lang="en-US">
                <a:cs typeface="Calibri"/>
              </a:rPr>
              <a:t>' hook since class components don't work with React hooks.</a:t>
            </a:r>
          </a:p>
        </p:txBody>
      </p:sp>
      <p:sp>
        <p:nvSpPr>
          <p:cNvPr id="4" name="Slide Number Placeholder 3"/>
          <p:cNvSpPr>
            <a:spLocks noGrp="1"/>
          </p:cNvSpPr>
          <p:nvPr>
            <p:ph type="sldNum" sz="quarter" idx="5"/>
          </p:nvPr>
        </p:nvSpPr>
        <p:spPr/>
        <p:txBody>
          <a:bodyPr/>
          <a:lstStyle/>
          <a:p>
            <a:fld id="{BC39A3BA-A1FA-41DB-9F41-BC9BFA7404B6}" type="slidenum">
              <a:rPr lang="en-US" smtClean="0"/>
              <a:pPr/>
              <a:t>27</a:t>
            </a:fld>
            <a:endParaRPr lang="en-US"/>
          </a:p>
        </p:txBody>
      </p:sp>
    </p:spTree>
    <p:extLst>
      <p:ext uri="{BB962C8B-B14F-4D97-AF65-F5344CB8AC3E}">
        <p14:creationId xmlns:p14="http://schemas.microsoft.com/office/powerpoint/2010/main" val="25225085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Component mount means component renders for the first time. The primary lifecycle methods associated with this are ‘</a:t>
            </a:r>
            <a:r>
              <a:rPr lang="en-US" err="1"/>
              <a:t>componentDidMount</a:t>
            </a:r>
            <a:r>
              <a:rPr lang="en-US"/>
              <a:t>’ and ‘</a:t>
            </a:r>
            <a:r>
              <a:rPr lang="en-US" err="1"/>
              <a:t>useEffect</a:t>
            </a:r>
            <a:r>
              <a:rPr lang="en-US"/>
              <a:t>’ (for class and function components respectively). These lifecycle methods are the best place to do “setup” for the component such as calling an API to get data, setting up a </a:t>
            </a:r>
            <a:r>
              <a:rPr lang="en-US" err="1"/>
              <a:t>websocket</a:t>
            </a:r>
            <a:r>
              <a:rPr lang="en-US"/>
              <a:t>, creating a timer, etc.</a:t>
            </a:r>
          </a:p>
          <a:p>
            <a:endParaRPr lang="en-US"/>
          </a:p>
          <a:p>
            <a:r>
              <a:rPr lang="en-US"/>
              <a:t>Component update re-renders the components using the new values from props and/or state. This allows us to build responsive and dynamic components rather than static components. React re-rendering is fast because of something called the “virtual DOM”. Basically, React internally stores an in-memory representation of a webpage that can quickly be updated. However, this is memory-intensive. These updates occur asynchronously and are managed by React. Don’t expect the state to be changed one line after you call </a:t>
            </a:r>
            <a:r>
              <a:rPr lang="en-US" err="1"/>
              <a:t>setState</a:t>
            </a:r>
            <a:r>
              <a:rPr lang="en-US"/>
              <a:t>/</a:t>
            </a:r>
            <a:r>
              <a:rPr lang="en-US" err="1"/>
              <a:t>useState</a:t>
            </a:r>
            <a:r>
              <a:rPr lang="en-US"/>
              <a:t> (it may, but no guarantee).</a:t>
            </a:r>
          </a:p>
          <a:p>
            <a:endParaRPr lang="en-US"/>
          </a:p>
          <a:p>
            <a:r>
              <a:rPr lang="en-US"/>
              <a:t>Component unmount is when the component is no longer rendered. This may happen when the user clicks on a new navigation element on a page (tab, </a:t>
            </a:r>
            <a:r>
              <a:rPr lang="en-US" err="1"/>
              <a:t>appbar</a:t>
            </a:r>
            <a:r>
              <a:rPr lang="en-US"/>
              <a:t> header, </a:t>
            </a:r>
            <a:r>
              <a:rPr lang="en-US" err="1"/>
              <a:t>etc</a:t>
            </a:r>
            <a:r>
              <a:rPr lang="en-US"/>
              <a:t>) or when a user closes a dialog. React lifecycle methods associated with this are ‘</a:t>
            </a:r>
            <a:r>
              <a:rPr lang="en-US" err="1"/>
              <a:t>componentWillUnmount</a:t>
            </a:r>
            <a:r>
              <a:rPr lang="en-US"/>
              <a:t>’ or the ‘</a:t>
            </a:r>
            <a:r>
              <a:rPr lang="en-US" err="1"/>
              <a:t>useEffect</a:t>
            </a:r>
            <a:r>
              <a:rPr lang="en-US"/>
              <a:t>’ callback (class and function components respectively). Things that were setup on mount are cleaned up here. For example, you may cancel pending API requests, disconnect from a </a:t>
            </a:r>
            <a:r>
              <a:rPr lang="en-US" err="1"/>
              <a:t>websocket</a:t>
            </a:r>
            <a:r>
              <a:rPr lang="en-US"/>
              <a:t>, unsubscribe from a service, etc.</a:t>
            </a:r>
          </a:p>
          <a:p>
            <a:endParaRPr lang="en-US"/>
          </a:p>
          <a:p>
            <a:endParaRPr lang="en-US">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28</a:t>
            </a:fld>
            <a:endParaRPr lang="en-US"/>
          </a:p>
        </p:txBody>
      </p:sp>
    </p:spTree>
    <p:extLst>
      <p:ext uri="{BB962C8B-B14F-4D97-AF65-F5344CB8AC3E}">
        <p14:creationId xmlns:p14="http://schemas.microsoft.com/office/powerpoint/2010/main" val="46930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Data flows by passing props to child components. Component receiving props does not modify their own props and cannot directly pass data back to parent.</a:t>
            </a:r>
            <a:endParaRPr lang="en-US"/>
          </a:p>
          <a:p>
            <a:endParaRPr lang="en-US">
              <a:ea typeface="Calibri"/>
              <a:cs typeface="Calibri"/>
            </a:endParaRPr>
          </a:p>
          <a:p>
            <a:r>
              <a:rPr lang="en-US">
                <a:ea typeface="Calibri"/>
                <a:cs typeface="Calibri"/>
              </a:rPr>
              <a:t>Props passed are often from the state of the parent component, but can also be hardcoded.</a:t>
            </a:r>
          </a:p>
          <a:p>
            <a:endParaRPr lang="en-US">
              <a:ea typeface="Calibri"/>
              <a:cs typeface="Calibri"/>
            </a:endParaRPr>
          </a:p>
          <a:p>
            <a:r>
              <a:rPr lang="en-US">
                <a:ea typeface="Calibri"/>
                <a:cs typeface="Calibri"/>
              </a:rPr>
              <a:t>Any data can be passed as a prop, including a function. Passing a function as a prop allows the child component to call that function from the parent component. This can get messy so try to limit this pattern.</a:t>
            </a:r>
          </a:p>
        </p:txBody>
      </p:sp>
      <p:sp>
        <p:nvSpPr>
          <p:cNvPr id="4" name="Slide Number Placeholder 3"/>
          <p:cNvSpPr>
            <a:spLocks noGrp="1"/>
          </p:cNvSpPr>
          <p:nvPr>
            <p:ph type="sldNum" sz="quarter" idx="5"/>
          </p:nvPr>
        </p:nvSpPr>
        <p:spPr/>
        <p:txBody>
          <a:bodyPr/>
          <a:lstStyle/>
          <a:p>
            <a:fld id="{BC39A3BA-A1FA-41DB-9F41-BC9BFA7404B6}" type="slidenum">
              <a:rPr lang="en-US" smtClean="0"/>
              <a:pPr/>
              <a:t>29</a:t>
            </a:fld>
            <a:endParaRPr lang="en-US"/>
          </a:p>
        </p:txBody>
      </p:sp>
    </p:spTree>
    <p:extLst>
      <p:ext uri="{BB962C8B-B14F-4D97-AF65-F5344CB8AC3E}">
        <p14:creationId xmlns:p14="http://schemas.microsoft.com/office/powerpoint/2010/main" val="12345269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state is for functional components</a:t>
            </a:r>
          </a:p>
          <a:p>
            <a:r>
              <a:rPr lang="en-US"/>
              <a:t>Set state is for class components </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31</a:t>
            </a:fld>
            <a:endParaRPr lang="en-US"/>
          </a:p>
        </p:txBody>
      </p:sp>
    </p:spTree>
    <p:extLst>
      <p:ext uri="{BB962C8B-B14F-4D97-AF65-F5344CB8AC3E}">
        <p14:creationId xmlns:p14="http://schemas.microsoft.com/office/powerpoint/2010/main" val="2806314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Context – Avoid prop drilling. Lets data be stored in a parent that can be accessed by any children without having to pass it through intermediate components</a:t>
            </a:r>
          </a:p>
          <a:p>
            <a:r>
              <a:rPr lang="en-US"/>
              <a:t>Use Ref – Stays consistent between renders (a value you want to track that doesn’t trigger a re-render)</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BC39A3BA-A1FA-41DB-9F41-BC9BFA7404B6}" type="slidenum">
              <a:rPr lang="en-US" smtClean="0"/>
              <a:pPr/>
              <a:t>32</a:t>
            </a:fld>
            <a:endParaRPr lang="en-US"/>
          </a:p>
        </p:txBody>
      </p:sp>
    </p:spTree>
    <p:extLst>
      <p:ext uri="{BB962C8B-B14F-4D97-AF65-F5344CB8AC3E}">
        <p14:creationId xmlns:p14="http://schemas.microsoft.com/office/powerpoint/2010/main" val="40634754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38</a:t>
            </a:fld>
            <a:endParaRPr lang="en-US"/>
          </a:p>
        </p:txBody>
      </p:sp>
    </p:spTree>
    <p:extLst>
      <p:ext uri="{BB962C8B-B14F-4D97-AF65-F5344CB8AC3E}">
        <p14:creationId xmlns:p14="http://schemas.microsoft.com/office/powerpoint/2010/main" val="3451404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Next, we’ve prepared a getting started guide to help you get started with React development, and as a reminder, these slides will be available after our presentation.</a:t>
            </a:r>
          </a:p>
        </p:txBody>
      </p:sp>
      <p:sp>
        <p:nvSpPr>
          <p:cNvPr id="4" name="Slide Number Placeholder 3"/>
          <p:cNvSpPr>
            <a:spLocks noGrp="1"/>
          </p:cNvSpPr>
          <p:nvPr>
            <p:ph type="sldNum" sz="quarter" idx="5"/>
          </p:nvPr>
        </p:nvSpPr>
        <p:spPr/>
        <p:txBody>
          <a:bodyPr/>
          <a:lstStyle/>
          <a:p>
            <a:fld id="{BC39A3BA-A1FA-41DB-9F41-BC9BFA7404B6}" type="slidenum">
              <a:rPr lang="en-US" smtClean="0"/>
              <a:pPr/>
              <a:t>39</a:t>
            </a:fld>
            <a:endParaRPr lang="en-US"/>
          </a:p>
        </p:txBody>
      </p:sp>
    </p:spTree>
    <p:extLst>
      <p:ext uri="{BB962C8B-B14F-4D97-AF65-F5344CB8AC3E}">
        <p14:creationId xmlns:p14="http://schemas.microsoft.com/office/powerpoint/2010/main" val="2655293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40</a:t>
            </a:fld>
            <a:endParaRPr lang="en-US"/>
          </a:p>
        </p:txBody>
      </p:sp>
    </p:spTree>
    <p:extLst>
      <p:ext uri="{BB962C8B-B14F-4D97-AF65-F5344CB8AC3E}">
        <p14:creationId xmlns:p14="http://schemas.microsoft.com/office/powerpoint/2010/main" val="3023357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this presentation, we’ll demo a quick react application that uses all the features discussed previously.</a:t>
            </a:r>
          </a:p>
          <a:p>
            <a:endParaRPr lang="en-US"/>
          </a:p>
          <a:p>
            <a:r>
              <a:rPr lang="en-US"/>
              <a:t>Transition: If you run into anything you can’t find in the documentation, you can always ask one of us or look online because there is huge community support for React.</a:t>
            </a:r>
          </a:p>
        </p:txBody>
      </p:sp>
      <p:sp>
        <p:nvSpPr>
          <p:cNvPr id="4" name="Slide Number Placeholder 3"/>
          <p:cNvSpPr>
            <a:spLocks noGrp="1"/>
          </p:cNvSpPr>
          <p:nvPr>
            <p:ph type="sldNum" sz="quarter" idx="5"/>
          </p:nvPr>
        </p:nvSpPr>
        <p:spPr/>
        <p:txBody>
          <a:bodyPr/>
          <a:lstStyle/>
          <a:p>
            <a:fld id="{BC39A3BA-A1FA-41DB-9F41-BC9BFA7404B6}" type="slidenum">
              <a:rPr lang="en-US" smtClean="0"/>
              <a:pPr/>
              <a:t>41</a:t>
            </a:fld>
            <a:endParaRPr lang="en-US"/>
          </a:p>
        </p:txBody>
      </p:sp>
    </p:spTree>
    <p:extLst>
      <p:ext uri="{BB962C8B-B14F-4D97-AF65-F5344CB8AC3E}">
        <p14:creationId xmlns:p14="http://schemas.microsoft.com/office/powerpoint/2010/main" val="17459066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39A3BA-A1FA-41DB-9F41-BC9BFA7404B6}" type="slidenum">
              <a:rPr lang="en-US" smtClean="0"/>
              <a:pPr/>
              <a:t>44</a:t>
            </a:fld>
            <a:endParaRPr lang="en-US"/>
          </a:p>
        </p:txBody>
      </p:sp>
    </p:spTree>
    <p:extLst>
      <p:ext uri="{BB962C8B-B14F-4D97-AF65-F5344CB8AC3E}">
        <p14:creationId xmlns:p14="http://schemas.microsoft.com/office/powerpoint/2010/main" val="20976007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70A62AA-3312-4B56-8B80-B724CB87FE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6111" t="30578" r="289" b="135"/>
          <a:stretch/>
        </p:blipFill>
        <p:spPr>
          <a:xfrm flipH="1">
            <a:off x="-3" y="0"/>
            <a:ext cx="12192001" cy="6858000"/>
          </a:xfrm>
          <a:prstGeom prst="rect">
            <a:avLst/>
          </a:prstGeom>
        </p:spPr>
      </p:pic>
      <p:pic>
        <p:nvPicPr>
          <p:cNvPr id="8" name="Picture 7">
            <a:extLst>
              <a:ext uri="{FF2B5EF4-FFF2-40B4-BE49-F238E27FC236}">
                <a16:creationId xmlns:a16="http://schemas.microsoft.com/office/drawing/2014/main" id="{5E3EA515-A0AE-48A8-ADC8-CA03AEFED132}"/>
              </a:ext>
            </a:extLst>
          </p:cNvPr>
          <p:cNvPicPr>
            <a:picLocks/>
          </p:cNvPicPr>
          <p:nvPr userDrawn="1"/>
        </p:nvPicPr>
        <p:blipFill rotWithShape="1">
          <a:blip r:embed="rId3">
            <a:extLst>
              <a:ext uri="{28A0092B-C50C-407E-A947-70E740481C1C}">
                <a14:useLocalDpi xmlns:a14="http://schemas.microsoft.com/office/drawing/2010/main" val="0"/>
              </a:ext>
            </a:extLst>
          </a:blip>
          <a:srcRect t="91111" b="7083"/>
          <a:stretch/>
        </p:blipFill>
        <p:spPr>
          <a:xfrm>
            <a:off x="2" y="0"/>
            <a:ext cx="12198096" cy="123793"/>
          </a:xfrm>
          <a:prstGeom prst="rect">
            <a:avLst/>
          </a:prstGeom>
          <a:gradFill>
            <a:gsLst>
              <a:gs pos="0">
                <a:srgbClr val="00AEEF"/>
              </a:gs>
              <a:gs pos="64000">
                <a:srgbClr val="EDF19C"/>
              </a:gs>
              <a:gs pos="92000">
                <a:srgbClr val="D7DF22">
                  <a:lumMod val="45000"/>
                  <a:lumOff val="55000"/>
                </a:srgbClr>
              </a:gs>
              <a:gs pos="100000">
                <a:srgbClr val="D7DF22">
                  <a:lumMod val="30000"/>
                  <a:lumOff val="70000"/>
                </a:srgbClr>
              </a:gs>
            </a:gsLst>
            <a:lin ang="0" scaled="1"/>
          </a:gradFill>
        </p:spPr>
      </p:pic>
      <p:sp>
        <p:nvSpPr>
          <p:cNvPr id="9" name="Text Placeholder 8">
            <a:extLst>
              <a:ext uri="{FF2B5EF4-FFF2-40B4-BE49-F238E27FC236}">
                <a16:creationId xmlns:a16="http://schemas.microsoft.com/office/drawing/2014/main" id="{A25AD173-A5FA-4BA7-8AD8-AF88EE3062F9}"/>
              </a:ext>
            </a:extLst>
          </p:cNvPr>
          <p:cNvSpPr>
            <a:spLocks noGrp="1"/>
          </p:cNvSpPr>
          <p:nvPr>
            <p:ph type="body" sz="quarter" idx="10"/>
          </p:nvPr>
        </p:nvSpPr>
        <p:spPr>
          <a:xfrm>
            <a:off x="897775" y="4473634"/>
            <a:ext cx="6529223" cy="530629"/>
          </a:xfrm>
          <a:prstGeom prst="rect">
            <a:avLst/>
          </a:prstGeom>
          <a:noFill/>
        </p:spPr>
        <p:txBody>
          <a:bodyPr lIns="0" rIns="0"/>
          <a:lstStyle>
            <a:lvl1pPr marL="0" indent="0">
              <a:buFontTx/>
              <a:buNone/>
              <a:defRPr sz="2800" b="1">
                <a:gradFill>
                  <a:gsLst>
                    <a:gs pos="0">
                      <a:srgbClr val="00AEEF"/>
                    </a:gs>
                    <a:gs pos="64000">
                      <a:srgbClr val="EDF19C">
                        <a:lumMod val="45000"/>
                        <a:lumOff val="55000"/>
                      </a:srgbClr>
                    </a:gs>
                    <a:gs pos="92000">
                      <a:srgbClr val="EDF19C">
                        <a:lumMod val="45000"/>
                        <a:lumOff val="55000"/>
                      </a:srgbClr>
                    </a:gs>
                    <a:gs pos="100000">
                      <a:srgbClr val="EDF19C">
                        <a:lumMod val="30000"/>
                        <a:lumOff val="70000"/>
                      </a:srgbClr>
                    </a:gs>
                  </a:gsLst>
                  <a:lin ang="0" scaled="1"/>
                </a:gradFill>
                <a:latin typeface="Gill Sans MT" panose="020B0502020104020203" pitchFamily="34" charset="77"/>
              </a:defRPr>
            </a:lvl1pPr>
          </a:lstStyle>
          <a:p>
            <a:pPr lvl="0"/>
            <a:r>
              <a:rPr lang="en-US"/>
              <a:t>Click to edit Master text styles</a:t>
            </a:r>
          </a:p>
        </p:txBody>
      </p:sp>
      <p:pic>
        <p:nvPicPr>
          <p:cNvPr id="10" name="Picture 9">
            <a:extLst>
              <a:ext uri="{FF2B5EF4-FFF2-40B4-BE49-F238E27FC236}">
                <a16:creationId xmlns:a16="http://schemas.microsoft.com/office/drawing/2014/main" id="{10951245-860C-4EB1-8AF2-4519AEEAF38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2525" b="24543"/>
          <a:stretch/>
        </p:blipFill>
        <p:spPr>
          <a:xfrm>
            <a:off x="330821" y="3510055"/>
            <a:ext cx="3141250" cy="665102"/>
          </a:xfrm>
          <a:prstGeom prst="rect">
            <a:avLst/>
          </a:prstGeom>
        </p:spPr>
      </p:pic>
    </p:spTree>
    <p:extLst>
      <p:ext uri="{BB962C8B-B14F-4D97-AF65-F5344CB8AC3E}">
        <p14:creationId xmlns:p14="http://schemas.microsoft.com/office/powerpoint/2010/main" val="176653187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9" name="Slide Number Placeholder 3"/>
          <p:cNvSpPr txBox="1">
            <a:spLocks/>
          </p:cNvSpPr>
          <p:nvPr userDrawn="1"/>
        </p:nvSpPr>
        <p:spPr bwMode="auto">
          <a:xfrm flipH="1">
            <a:off x="401811" y="6459546"/>
            <a:ext cx="474133" cy="320675"/>
          </a:xfrm>
          <a:prstGeom prst="rect">
            <a:avLst/>
          </a:prstGeom>
          <a:noFill/>
          <a:ln w="9525">
            <a:noFill/>
            <a:miter lim="800000"/>
            <a:headEnd/>
            <a:tailEnd/>
          </a:ln>
        </p:spPr>
        <p:txBody>
          <a:bodyPr lIns="0" tIns="0" rIns="0" bIns="0"/>
          <a:lstStyle/>
          <a:p>
            <a:pPr algn="l"/>
            <a:r>
              <a:rPr lang="en-US" sz="800">
                <a:solidFill>
                  <a:srgbClr val="00AEEF"/>
                </a:solidFill>
                <a:latin typeface="Gill Sans MT" panose="020B0502020104020203" pitchFamily="34" charset="77"/>
                <a:cs typeface="Arial" pitchFamily="34" charset="0"/>
              </a:rPr>
              <a:t>Slide </a:t>
            </a:r>
            <a:fld id="{FFF824FF-5FA3-4935-85EA-2B9516965570}" type="slidenum">
              <a:rPr lang="en-US" sz="800" smtClean="0">
                <a:solidFill>
                  <a:srgbClr val="00AEEF"/>
                </a:solidFill>
                <a:latin typeface="Gill Sans MT" panose="020B0502020104020203" pitchFamily="34" charset="77"/>
                <a:cs typeface="Arial" pitchFamily="34" charset="0"/>
              </a:rPr>
              <a:pPr algn="l"/>
              <a:t>‹#›</a:t>
            </a:fld>
            <a:endParaRPr lang="en-US" sz="800">
              <a:solidFill>
                <a:srgbClr val="00AEEF"/>
              </a:solidFill>
              <a:latin typeface="Gill Sans MT" panose="020B0502020104020203" pitchFamily="34" charset="77"/>
              <a:cs typeface="Arial" pitchFamily="34" charset="0"/>
            </a:endParaRPr>
          </a:p>
        </p:txBody>
      </p:sp>
      <p:sp>
        <p:nvSpPr>
          <p:cNvPr id="13" name="Content Placeholder 2"/>
          <p:cNvSpPr>
            <a:spLocks noGrp="1"/>
          </p:cNvSpPr>
          <p:nvPr>
            <p:ph idx="1"/>
          </p:nvPr>
        </p:nvSpPr>
        <p:spPr>
          <a:xfrm>
            <a:off x="401811" y="1042539"/>
            <a:ext cx="11379200" cy="5055387"/>
          </a:xfrm>
          <a:prstGeom prst="rect">
            <a:avLst/>
          </a:prstGeom>
        </p:spPr>
        <p:txBody>
          <a:bodyPr>
            <a:normAutofit/>
          </a:bodyPr>
          <a:lstStyle>
            <a:lvl1pPr marL="231775" indent="-231775">
              <a:spcBef>
                <a:spcPts val="200"/>
              </a:spcBef>
              <a:spcAft>
                <a:spcPts val="400"/>
              </a:spcAft>
              <a:buClr>
                <a:srgbClr val="00AEEF"/>
              </a:buClr>
              <a:buSzPct val="90000"/>
              <a:buFont typeface="Wingdings" pitchFamily="2" charset="2"/>
              <a:buChar char="§"/>
              <a:defRPr sz="2400" baseline="0">
                <a:solidFill>
                  <a:srgbClr val="315EAB"/>
                </a:solidFill>
                <a:latin typeface="Gill Sans MT" panose="020B0502020104020203" pitchFamily="34" charset="77"/>
              </a:defRPr>
            </a:lvl1pPr>
            <a:lvl2pPr marL="452438" indent="-219075">
              <a:spcBef>
                <a:spcPts val="200"/>
              </a:spcBef>
              <a:spcAft>
                <a:spcPts val="400"/>
              </a:spcAft>
              <a:buClr>
                <a:srgbClr val="00AEEF"/>
              </a:buClr>
              <a:buSzPct val="90000"/>
              <a:defRPr sz="2000" baseline="0">
                <a:solidFill>
                  <a:schemeClr val="bg1">
                    <a:lumMod val="65000"/>
                  </a:schemeClr>
                </a:solidFill>
                <a:latin typeface="Gill Sans MT" panose="020B0502020104020203" pitchFamily="34" charset="77"/>
              </a:defRPr>
            </a:lvl2pPr>
            <a:lvl3pPr marL="690563" indent="-228600">
              <a:spcBef>
                <a:spcPts val="200"/>
              </a:spcBef>
              <a:spcAft>
                <a:spcPts val="400"/>
              </a:spcAft>
              <a:buClr>
                <a:srgbClr val="00AEEF"/>
              </a:buClr>
              <a:buSzPct val="90000"/>
              <a:defRPr sz="1800" baseline="0">
                <a:solidFill>
                  <a:schemeClr val="bg1">
                    <a:lumMod val="65000"/>
                  </a:schemeClr>
                </a:solidFill>
                <a:latin typeface="Gill Sans MT" panose="020B0502020104020203" pitchFamily="34" charset="77"/>
              </a:defRPr>
            </a:lvl3pPr>
            <a:lvl4pPr marL="914400" indent="-223838">
              <a:spcBef>
                <a:spcPts val="200"/>
              </a:spcBef>
              <a:spcAft>
                <a:spcPts val="400"/>
              </a:spcAft>
              <a:buClr>
                <a:srgbClr val="00AEEF"/>
              </a:buClr>
              <a:buSzPct val="90000"/>
              <a:buFont typeface="Calibri" pitchFamily="34" charset="0"/>
              <a:buChar char="‐"/>
              <a:defRPr sz="1600" baseline="0">
                <a:solidFill>
                  <a:schemeClr val="bg1">
                    <a:lumMod val="65000"/>
                  </a:schemeClr>
                </a:solidFill>
                <a:latin typeface="Gill Sans MT" panose="020B0502020104020203" pitchFamily="34" charset="77"/>
              </a:defRPr>
            </a:lvl4pPr>
            <a:lvl5pPr marL="1146175" indent="-231775">
              <a:spcBef>
                <a:spcPts val="200"/>
              </a:spcBef>
              <a:spcAft>
                <a:spcPts val="400"/>
              </a:spcAft>
              <a:buClr>
                <a:srgbClr val="00AEEF"/>
              </a:buClr>
              <a:buSzPct val="90000"/>
              <a:buFont typeface="Calibri" pitchFamily="34" charset="0"/>
              <a:buChar char="‐"/>
              <a:defRPr sz="1400" baseline="0">
                <a:solidFill>
                  <a:schemeClr val="bg1">
                    <a:lumMod val="65000"/>
                  </a:schemeClr>
                </a:solidFill>
                <a:latin typeface="Gill Sans MT" panose="020B050202010402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
            <a:extLst>
              <a:ext uri="{FF2B5EF4-FFF2-40B4-BE49-F238E27FC236}">
                <a16:creationId xmlns:a16="http://schemas.microsoft.com/office/drawing/2014/main" id="{BBAE86CD-2EE7-464F-B887-8BBE8995CF6D}"/>
              </a:ext>
            </a:extLst>
          </p:cNvPr>
          <p:cNvSpPr>
            <a:spLocks noGrp="1"/>
          </p:cNvSpPr>
          <p:nvPr>
            <p:ph type="title"/>
          </p:nvPr>
        </p:nvSpPr>
        <p:spPr>
          <a:xfrm>
            <a:off x="406399" y="449730"/>
            <a:ext cx="11374611" cy="365760"/>
          </a:xfrm>
          <a:prstGeom prst="rect">
            <a:avLst/>
          </a:prstGeom>
        </p:spPr>
        <p:txBody>
          <a:bodyPr lIns="0" anchor="b">
            <a:noAutofit/>
          </a:bodyPr>
          <a:lstStyle>
            <a:lvl1pPr algn="l">
              <a:defRPr sz="3200" b="1">
                <a:solidFill>
                  <a:srgbClr val="0070C0"/>
                </a:solidFill>
                <a:latin typeface="Gill Sans MT" panose="020B0502020104020203" pitchFamily="34" charset="77"/>
              </a:defRPr>
            </a:lvl1pPr>
          </a:lstStyle>
          <a:p>
            <a:r>
              <a:rPr lang="en-US"/>
              <a:t>Click to edit Master title style</a:t>
            </a:r>
          </a:p>
        </p:txBody>
      </p:sp>
      <p:pic>
        <p:nvPicPr>
          <p:cNvPr id="11" name="Picture 10">
            <a:extLst>
              <a:ext uri="{FF2B5EF4-FFF2-40B4-BE49-F238E27FC236}">
                <a16:creationId xmlns:a16="http://schemas.microsoft.com/office/drawing/2014/main" id="{A39A6EB5-D1F4-5E40-BF2A-E2653F847FBA}"/>
              </a:ext>
            </a:extLst>
          </p:cNvPr>
          <p:cNvPicPr>
            <a:picLocks/>
          </p:cNvPicPr>
          <p:nvPr userDrawn="1"/>
        </p:nvPicPr>
        <p:blipFill rotWithShape="1">
          <a:blip r:embed="rId2" cstate="screen">
            <a:extLst>
              <a:ext uri="{28A0092B-C50C-407E-A947-70E740481C1C}">
                <a14:useLocalDpi xmlns:a14="http://schemas.microsoft.com/office/drawing/2010/main"/>
              </a:ext>
            </a:extLst>
          </a:blip>
          <a:srcRect/>
          <a:stretch/>
        </p:blipFill>
        <p:spPr>
          <a:xfrm>
            <a:off x="2" y="0"/>
            <a:ext cx="12198096" cy="123793"/>
          </a:xfrm>
          <a:prstGeom prst="rect">
            <a:avLst/>
          </a:prstGeom>
          <a:gradFill>
            <a:gsLst>
              <a:gs pos="0">
                <a:srgbClr val="00AEEF"/>
              </a:gs>
              <a:gs pos="64000">
                <a:srgbClr val="EDF19C"/>
              </a:gs>
              <a:gs pos="92000">
                <a:srgbClr val="D7DF22">
                  <a:lumMod val="45000"/>
                  <a:lumOff val="55000"/>
                </a:srgbClr>
              </a:gs>
              <a:gs pos="100000">
                <a:srgbClr val="D7DF22">
                  <a:lumMod val="30000"/>
                  <a:lumOff val="70000"/>
                </a:srgbClr>
              </a:gs>
            </a:gsLst>
            <a:lin ang="0" scaled="1"/>
          </a:gradFill>
        </p:spPr>
      </p:pic>
      <p:pic>
        <p:nvPicPr>
          <p:cNvPr id="15" name="Picture 14">
            <a:extLst>
              <a:ext uri="{FF2B5EF4-FFF2-40B4-BE49-F238E27FC236}">
                <a16:creationId xmlns:a16="http://schemas.microsoft.com/office/drawing/2014/main" id="{3668245C-D8AA-4A8F-AE4E-33AC54E9E23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881" r="8094" b="15826"/>
          <a:stretch/>
        </p:blipFill>
        <p:spPr>
          <a:xfrm>
            <a:off x="9786222" y="6324975"/>
            <a:ext cx="2100974" cy="533025"/>
          </a:xfrm>
          <a:prstGeom prst="rect">
            <a:avLst/>
          </a:prstGeom>
        </p:spPr>
      </p:pic>
    </p:spTree>
    <p:extLst>
      <p:ext uri="{BB962C8B-B14F-4D97-AF65-F5344CB8AC3E}">
        <p14:creationId xmlns:p14="http://schemas.microsoft.com/office/powerpoint/2010/main" val="1460781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13" name="Content Placeholder 2"/>
          <p:cNvSpPr>
            <a:spLocks noGrp="1"/>
          </p:cNvSpPr>
          <p:nvPr>
            <p:ph idx="1"/>
          </p:nvPr>
        </p:nvSpPr>
        <p:spPr>
          <a:xfrm>
            <a:off x="401811" y="1027058"/>
            <a:ext cx="5681472" cy="5199436"/>
          </a:xfrm>
          <a:prstGeom prst="rect">
            <a:avLst/>
          </a:prstGeom>
        </p:spPr>
        <p:txBody>
          <a:bodyPr>
            <a:normAutofit/>
          </a:bodyPr>
          <a:lstStyle>
            <a:lvl1pPr marL="231775" indent="-231775">
              <a:spcBef>
                <a:spcPts val="200"/>
              </a:spcBef>
              <a:spcAft>
                <a:spcPts val="400"/>
              </a:spcAft>
              <a:buClr>
                <a:srgbClr val="00AEEF"/>
              </a:buClr>
              <a:buSzPct val="90000"/>
              <a:buFont typeface="Wingdings" pitchFamily="2" charset="2"/>
              <a:buChar char="§"/>
              <a:defRPr sz="2400" baseline="0">
                <a:solidFill>
                  <a:srgbClr val="315EAB"/>
                </a:solidFill>
                <a:latin typeface="Gill Sans MT" panose="020B0502020104020203" pitchFamily="34" charset="77"/>
              </a:defRPr>
            </a:lvl1pPr>
            <a:lvl2pPr marL="452438" indent="-219075">
              <a:spcBef>
                <a:spcPts val="200"/>
              </a:spcBef>
              <a:spcAft>
                <a:spcPts val="400"/>
              </a:spcAft>
              <a:buClr>
                <a:schemeClr val="bg1"/>
              </a:buClr>
              <a:buSzPct val="90000"/>
              <a:defRPr sz="2000" baseline="0">
                <a:solidFill>
                  <a:schemeClr val="bg1">
                    <a:lumMod val="65000"/>
                  </a:schemeClr>
                </a:solidFill>
                <a:latin typeface="Gill Sans MT" panose="020B0502020104020203" pitchFamily="34" charset="77"/>
              </a:defRPr>
            </a:lvl2pPr>
            <a:lvl3pPr marL="690563" indent="-228600">
              <a:spcBef>
                <a:spcPts val="200"/>
              </a:spcBef>
              <a:spcAft>
                <a:spcPts val="400"/>
              </a:spcAft>
              <a:buClr>
                <a:schemeClr val="bg1"/>
              </a:buClr>
              <a:buSzPct val="90000"/>
              <a:defRPr sz="1800" baseline="0">
                <a:solidFill>
                  <a:schemeClr val="bg1">
                    <a:lumMod val="65000"/>
                  </a:schemeClr>
                </a:solidFill>
                <a:latin typeface="Gill Sans MT" panose="020B0502020104020203" pitchFamily="34" charset="77"/>
              </a:defRPr>
            </a:lvl3pPr>
            <a:lvl4pPr marL="914400" indent="-223838">
              <a:spcBef>
                <a:spcPts val="200"/>
              </a:spcBef>
              <a:spcAft>
                <a:spcPts val="400"/>
              </a:spcAft>
              <a:buClr>
                <a:schemeClr val="bg1"/>
              </a:buClr>
              <a:buSzPct val="90000"/>
              <a:buFont typeface="Calibri" pitchFamily="34" charset="0"/>
              <a:buChar char="‐"/>
              <a:defRPr sz="1600" baseline="0">
                <a:solidFill>
                  <a:schemeClr val="bg1">
                    <a:lumMod val="65000"/>
                  </a:schemeClr>
                </a:solidFill>
                <a:latin typeface="Gill Sans MT" panose="020B0502020104020203" pitchFamily="34" charset="77"/>
              </a:defRPr>
            </a:lvl4pPr>
            <a:lvl5pPr marL="1146175" indent="-231775">
              <a:spcBef>
                <a:spcPts val="200"/>
              </a:spcBef>
              <a:spcAft>
                <a:spcPts val="400"/>
              </a:spcAft>
              <a:buClr>
                <a:schemeClr val="bg1"/>
              </a:buClr>
              <a:buSzPct val="90000"/>
              <a:buFont typeface="Calibri" pitchFamily="34" charset="0"/>
              <a:buChar char="‐"/>
              <a:defRPr sz="1400" baseline="0">
                <a:solidFill>
                  <a:schemeClr val="bg1">
                    <a:lumMod val="65000"/>
                  </a:schemeClr>
                </a:solidFill>
                <a:latin typeface="Gill Sans MT" panose="020B050202010402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p:cNvSpPr>
            <a:spLocks noGrp="1"/>
          </p:cNvSpPr>
          <p:nvPr>
            <p:ph idx="25"/>
          </p:nvPr>
        </p:nvSpPr>
        <p:spPr>
          <a:xfrm>
            <a:off x="6104280" y="1027058"/>
            <a:ext cx="5681472" cy="5056632"/>
          </a:xfrm>
          <a:prstGeom prst="rect">
            <a:avLst/>
          </a:prstGeom>
        </p:spPr>
        <p:txBody>
          <a:bodyPr>
            <a:normAutofit/>
          </a:bodyPr>
          <a:lstStyle>
            <a:lvl1pPr marL="231775" indent="-231775">
              <a:spcBef>
                <a:spcPts val="200"/>
              </a:spcBef>
              <a:spcAft>
                <a:spcPts val="400"/>
              </a:spcAft>
              <a:buClr>
                <a:srgbClr val="00AEEF"/>
              </a:buClr>
              <a:buSzPct val="90000"/>
              <a:buFont typeface="Wingdings" pitchFamily="2" charset="2"/>
              <a:buChar char="§"/>
              <a:defRPr sz="2400" baseline="0">
                <a:solidFill>
                  <a:srgbClr val="315EAB"/>
                </a:solidFill>
                <a:latin typeface="Gill Sans MT" panose="020B0502020104020203" pitchFamily="34" charset="77"/>
              </a:defRPr>
            </a:lvl1pPr>
            <a:lvl2pPr marL="452438" indent="-219075">
              <a:spcBef>
                <a:spcPts val="200"/>
              </a:spcBef>
              <a:spcAft>
                <a:spcPts val="400"/>
              </a:spcAft>
              <a:buClr>
                <a:schemeClr val="bg1"/>
              </a:buClr>
              <a:buSzPct val="90000"/>
              <a:defRPr sz="2000" baseline="0">
                <a:solidFill>
                  <a:schemeClr val="bg1">
                    <a:lumMod val="65000"/>
                  </a:schemeClr>
                </a:solidFill>
                <a:latin typeface="Gill Sans MT" panose="020B0502020104020203" pitchFamily="34" charset="77"/>
              </a:defRPr>
            </a:lvl2pPr>
            <a:lvl3pPr marL="690563" indent="-228600">
              <a:spcBef>
                <a:spcPts val="200"/>
              </a:spcBef>
              <a:spcAft>
                <a:spcPts val="400"/>
              </a:spcAft>
              <a:buClr>
                <a:schemeClr val="bg1"/>
              </a:buClr>
              <a:buSzPct val="90000"/>
              <a:defRPr sz="1800" baseline="0">
                <a:solidFill>
                  <a:schemeClr val="bg1">
                    <a:lumMod val="65000"/>
                  </a:schemeClr>
                </a:solidFill>
                <a:latin typeface="Gill Sans MT" panose="020B0502020104020203" pitchFamily="34" charset="77"/>
              </a:defRPr>
            </a:lvl3pPr>
            <a:lvl4pPr marL="914400" indent="-223838">
              <a:spcBef>
                <a:spcPts val="200"/>
              </a:spcBef>
              <a:spcAft>
                <a:spcPts val="400"/>
              </a:spcAft>
              <a:buClr>
                <a:schemeClr val="bg1"/>
              </a:buClr>
              <a:buSzPct val="90000"/>
              <a:buFont typeface="Calibri" pitchFamily="34" charset="0"/>
              <a:buChar char="‐"/>
              <a:defRPr sz="1600" baseline="0">
                <a:solidFill>
                  <a:schemeClr val="bg1">
                    <a:lumMod val="65000"/>
                  </a:schemeClr>
                </a:solidFill>
                <a:latin typeface="Gill Sans MT" panose="020B0502020104020203" pitchFamily="34" charset="77"/>
              </a:defRPr>
            </a:lvl4pPr>
            <a:lvl5pPr marL="1146175" indent="-231775">
              <a:spcBef>
                <a:spcPts val="200"/>
              </a:spcBef>
              <a:spcAft>
                <a:spcPts val="400"/>
              </a:spcAft>
              <a:buClr>
                <a:schemeClr val="bg1"/>
              </a:buClr>
              <a:buSzPct val="90000"/>
              <a:buFont typeface="Calibri" pitchFamily="34" charset="0"/>
              <a:buChar char="‐"/>
              <a:defRPr sz="1400" baseline="0">
                <a:solidFill>
                  <a:schemeClr val="bg1">
                    <a:lumMod val="65000"/>
                  </a:schemeClr>
                </a:solidFill>
                <a:latin typeface="Gill Sans MT" panose="020B050202010402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1">
            <a:extLst>
              <a:ext uri="{FF2B5EF4-FFF2-40B4-BE49-F238E27FC236}">
                <a16:creationId xmlns:a16="http://schemas.microsoft.com/office/drawing/2014/main" id="{63B9CB5D-5D4C-6744-95C7-648E395D1734}"/>
              </a:ext>
            </a:extLst>
          </p:cNvPr>
          <p:cNvSpPr>
            <a:spLocks noGrp="1"/>
          </p:cNvSpPr>
          <p:nvPr>
            <p:ph type="title"/>
          </p:nvPr>
        </p:nvSpPr>
        <p:spPr>
          <a:xfrm>
            <a:off x="406399" y="449730"/>
            <a:ext cx="11374611" cy="365760"/>
          </a:xfrm>
          <a:prstGeom prst="rect">
            <a:avLst/>
          </a:prstGeom>
        </p:spPr>
        <p:txBody>
          <a:bodyPr lIns="0" anchor="b">
            <a:noAutofit/>
          </a:bodyPr>
          <a:lstStyle>
            <a:lvl1pPr algn="l">
              <a:defRPr sz="3200" b="1">
                <a:solidFill>
                  <a:srgbClr val="0070C0"/>
                </a:solidFill>
                <a:latin typeface="Gill Sans MT" panose="020B0502020104020203" pitchFamily="34" charset="77"/>
              </a:defRPr>
            </a:lvl1pPr>
          </a:lstStyle>
          <a:p>
            <a:r>
              <a:rPr lang="en-US"/>
              <a:t>Click to edit Master title style</a:t>
            </a:r>
          </a:p>
        </p:txBody>
      </p:sp>
      <p:sp>
        <p:nvSpPr>
          <p:cNvPr id="21" name="Slide Number Placeholder 3">
            <a:extLst>
              <a:ext uri="{FF2B5EF4-FFF2-40B4-BE49-F238E27FC236}">
                <a16:creationId xmlns:a16="http://schemas.microsoft.com/office/drawing/2014/main" id="{AAA783D2-AE69-4779-A49A-8EAE6A50AE8D}"/>
              </a:ext>
            </a:extLst>
          </p:cNvPr>
          <p:cNvSpPr txBox="1">
            <a:spLocks/>
          </p:cNvSpPr>
          <p:nvPr userDrawn="1"/>
        </p:nvSpPr>
        <p:spPr bwMode="auto">
          <a:xfrm flipH="1">
            <a:off x="401811" y="6459546"/>
            <a:ext cx="474133" cy="320675"/>
          </a:xfrm>
          <a:prstGeom prst="rect">
            <a:avLst/>
          </a:prstGeom>
          <a:noFill/>
          <a:ln w="9525">
            <a:noFill/>
            <a:miter lim="800000"/>
            <a:headEnd/>
            <a:tailEnd/>
          </a:ln>
        </p:spPr>
        <p:txBody>
          <a:bodyPr lIns="0" tIns="0" rIns="0" bIns="0"/>
          <a:lstStyle/>
          <a:p>
            <a:pPr algn="l"/>
            <a:r>
              <a:rPr lang="en-US" sz="800">
                <a:solidFill>
                  <a:srgbClr val="00AEEF"/>
                </a:solidFill>
                <a:latin typeface="Gill Sans MT" panose="020B0502020104020203" pitchFamily="34" charset="77"/>
                <a:cs typeface="Arial" pitchFamily="34" charset="0"/>
              </a:rPr>
              <a:t>Slide </a:t>
            </a:r>
            <a:fld id="{FFF824FF-5FA3-4935-85EA-2B9516965570}" type="slidenum">
              <a:rPr lang="en-US" sz="800" smtClean="0">
                <a:solidFill>
                  <a:srgbClr val="00AEEF"/>
                </a:solidFill>
                <a:latin typeface="Gill Sans MT" panose="020B0502020104020203" pitchFamily="34" charset="77"/>
                <a:cs typeface="Arial" pitchFamily="34" charset="0"/>
              </a:rPr>
              <a:pPr algn="l"/>
              <a:t>‹#›</a:t>
            </a:fld>
            <a:endParaRPr lang="en-US" sz="800">
              <a:solidFill>
                <a:srgbClr val="00AEEF"/>
              </a:solidFill>
              <a:latin typeface="Gill Sans MT" panose="020B0502020104020203" pitchFamily="34" charset="77"/>
              <a:cs typeface="Arial" pitchFamily="34" charset="0"/>
            </a:endParaRPr>
          </a:p>
        </p:txBody>
      </p:sp>
      <p:pic>
        <p:nvPicPr>
          <p:cNvPr id="11" name="Picture 10">
            <a:extLst>
              <a:ext uri="{FF2B5EF4-FFF2-40B4-BE49-F238E27FC236}">
                <a16:creationId xmlns:a16="http://schemas.microsoft.com/office/drawing/2014/main" id="{391141A3-DF6D-CC4B-94FA-D98B97AFA31A}"/>
              </a:ext>
            </a:extLst>
          </p:cNvPr>
          <p:cNvPicPr>
            <a:picLocks/>
          </p:cNvPicPr>
          <p:nvPr userDrawn="1"/>
        </p:nvPicPr>
        <p:blipFill rotWithShape="1">
          <a:blip r:embed="rId2" cstate="screen">
            <a:extLst>
              <a:ext uri="{28A0092B-C50C-407E-A947-70E740481C1C}">
                <a14:useLocalDpi xmlns:a14="http://schemas.microsoft.com/office/drawing/2010/main"/>
              </a:ext>
            </a:extLst>
          </a:blip>
          <a:srcRect/>
          <a:stretch/>
        </p:blipFill>
        <p:spPr>
          <a:xfrm>
            <a:off x="2" y="0"/>
            <a:ext cx="12198096" cy="123793"/>
          </a:xfrm>
          <a:prstGeom prst="rect">
            <a:avLst/>
          </a:prstGeom>
          <a:gradFill>
            <a:gsLst>
              <a:gs pos="0">
                <a:srgbClr val="315EAB"/>
              </a:gs>
              <a:gs pos="25000">
                <a:srgbClr val="00AEEF"/>
              </a:gs>
              <a:gs pos="50000">
                <a:srgbClr val="EDF19C"/>
              </a:gs>
              <a:gs pos="75000">
                <a:srgbClr val="D7DF22">
                  <a:lumMod val="45000"/>
                  <a:lumOff val="55000"/>
                </a:srgbClr>
              </a:gs>
              <a:gs pos="100000">
                <a:srgbClr val="D7DF22">
                  <a:lumMod val="30000"/>
                  <a:lumOff val="70000"/>
                </a:srgbClr>
              </a:gs>
            </a:gsLst>
            <a:lin ang="0" scaled="1"/>
          </a:gradFill>
        </p:spPr>
      </p:pic>
      <p:pic>
        <p:nvPicPr>
          <p:cNvPr id="8" name="Picture 7">
            <a:extLst>
              <a:ext uri="{FF2B5EF4-FFF2-40B4-BE49-F238E27FC236}">
                <a16:creationId xmlns:a16="http://schemas.microsoft.com/office/drawing/2014/main" id="{49DF1B0C-BF64-420A-BDD5-7283AB9AADF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881" r="8094" b="15826"/>
          <a:stretch/>
        </p:blipFill>
        <p:spPr>
          <a:xfrm>
            <a:off x="9786222" y="6324975"/>
            <a:ext cx="2100974" cy="533025"/>
          </a:xfrm>
          <a:prstGeom prst="rect">
            <a:avLst/>
          </a:prstGeom>
        </p:spPr>
      </p:pic>
    </p:spTree>
    <p:extLst>
      <p:ext uri="{BB962C8B-B14F-4D97-AF65-F5344CB8AC3E}">
        <p14:creationId xmlns:p14="http://schemas.microsoft.com/office/powerpoint/2010/main" val="706402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9" name="Text Placeholder 2"/>
          <p:cNvSpPr>
            <a:spLocks noGrp="1"/>
          </p:cNvSpPr>
          <p:nvPr>
            <p:ph type="body" idx="1"/>
          </p:nvPr>
        </p:nvSpPr>
        <p:spPr>
          <a:xfrm>
            <a:off x="406399" y="1043825"/>
            <a:ext cx="5681472" cy="444500"/>
          </a:xfrm>
          <a:prstGeom prst="rect">
            <a:avLst/>
          </a:prstGeom>
        </p:spPr>
        <p:txBody>
          <a:bodyPr anchor="ctr">
            <a:noAutofit/>
          </a:bodyPr>
          <a:lstStyle>
            <a:lvl1pPr marL="0" indent="0" algn="ctr">
              <a:buNone/>
              <a:defRPr sz="2800" b="1">
                <a:solidFill>
                  <a:srgbClr val="315EAB"/>
                </a:solidFill>
                <a:latin typeface="Gill Sans MT" panose="020B0502020104020203" pitchFamily="34"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4"/>
          <p:cNvSpPr>
            <a:spLocks noGrp="1"/>
          </p:cNvSpPr>
          <p:nvPr>
            <p:ph type="body" sz="quarter" idx="3"/>
          </p:nvPr>
        </p:nvSpPr>
        <p:spPr>
          <a:xfrm>
            <a:off x="6121398" y="1043660"/>
            <a:ext cx="5675439" cy="444500"/>
          </a:xfrm>
          <a:prstGeom prst="rect">
            <a:avLst/>
          </a:prstGeom>
        </p:spPr>
        <p:txBody>
          <a:bodyPr anchor="ctr">
            <a:noAutofit/>
          </a:bodyPr>
          <a:lstStyle>
            <a:lvl1pPr marL="0" indent="0" algn="ctr">
              <a:buNone/>
              <a:defRPr sz="2800" b="1">
                <a:solidFill>
                  <a:srgbClr val="315EAB"/>
                </a:solidFill>
                <a:latin typeface="Gill Sans MT" panose="020B0502020104020203" pitchFamily="34"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Content Placeholder 2"/>
          <p:cNvSpPr>
            <a:spLocks noGrp="1"/>
          </p:cNvSpPr>
          <p:nvPr>
            <p:ph idx="25"/>
          </p:nvPr>
        </p:nvSpPr>
        <p:spPr>
          <a:xfrm>
            <a:off x="412895" y="1504786"/>
            <a:ext cx="5681472" cy="4599432"/>
          </a:xfrm>
          <a:prstGeom prst="rect">
            <a:avLst/>
          </a:prstGeom>
        </p:spPr>
        <p:txBody>
          <a:bodyPr>
            <a:normAutofit/>
          </a:bodyPr>
          <a:lstStyle>
            <a:lvl1pPr marL="231775" indent="-231775">
              <a:spcBef>
                <a:spcPts val="200"/>
              </a:spcBef>
              <a:spcAft>
                <a:spcPts val="400"/>
              </a:spcAft>
              <a:buClr>
                <a:srgbClr val="00AEEF"/>
              </a:buClr>
              <a:buSzPct val="90000"/>
              <a:buFont typeface="Wingdings" pitchFamily="2" charset="2"/>
              <a:buChar char="§"/>
              <a:defRPr sz="2400" baseline="0">
                <a:solidFill>
                  <a:srgbClr val="315EAB"/>
                </a:solidFill>
                <a:latin typeface="Gill Sans MT" panose="020B0502020104020203" pitchFamily="34" charset="77"/>
              </a:defRPr>
            </a:lvl1pPr>
            <a:lvl2pPr marL="452438" indent="-219075">
              <a:spcBef>
                <a:spcPts val="200"/>
              </a:spcBef>
              <a:spcAft>
                <a:spcPts val="400"/>
              </a:spcAft>
              <a:buClr>
                <a:srgbClr val="00AEEF"/>
              </a:buClr>
              <a:buSzPct val="90000"/>
              <a:defRPr sz="2000" baseline="0">
                <a:solidFill>
                  <a:schemeClr val="bg1">
                    <a:lumMod val="65000"/>
                  </a:schemeClr>
                </a:solidFill>
                <a:latin typeface="Gill Sans MT" panose="020B0502020104020203" pitchFamily="34" charset="77"/>
              </a:defRPr>
            </a:lvl2pPr>
            <a:lvl3pPr marL="690563" indent="-228600">
              <a:spcBef>
                <a:spcPts val="200"/>
              </a:spcBef>
              <a:spcAft>
                <a:spcPts val="400"/>
              </a:spcAft>
              <a:buClr>
                <a:srgbClr val="00AEEF"/>
              </a:buClr>
              <a:buSzPct val="90000"/>
              <a:defRPr sz="1800" baseline="0">
                <a:solidFill>
                  <a:schemeClr val="bg1">
                    <a:lumMod val="65000"/>
                  </a:schemeClr>
                </a:solidFill>
                <a:latin typeface="Gill Sans MT" panose="020B0502020104020203" pitchFamily="34" charset="77"/>
              </a:defRPr>
            </a:lvl3pPr>
            <a:lvl4pPr marL="914400" indent="-223838">
              <a:spcBef>
                <a:spcPts val="200"/>
              </a:spcBef>
              <a:spcAft>
                <a:spcPts val="400"/>
              </a:spcAft>
              <a:buClr>
                <a:srgbClr val="00AEEF"/>
              </a:buClr>
              <a:buSzPct val="90000"/>
              <a:buFont typeface="Calibri" pitchFamily="34" charset="0"/>
              <a:buChar char="‐"/>
              <a:defRPr sz="1600" baseline="0">
                <a:solidFill>
                  <a:schemeClr val="bg1">
                    <a:lumMod val="65000"/>
                  </a:schemeClr>
                </a:solidFill>
                <a:latin typeface="Gill Sans MT" panose="020B0502020104020203" pitchFamily="34" charset="77"/>
              </a:defRPr>
            </a:lvl4pPr>
            <a:lvl5pPr marL="1146175" indent="-231775">
              <a:spcBef>
                <a:spcPts val="200"/>
              </a:spcBef>
              <a:spcAft>
                <a:spcPts val="400"/>
              </a:spcAft>
              <a:buClr>
                <a:srgbClr val="00AEEF"/>
              </a:buClr>
              <a:buSzPct val="90000"/>
              <a:buFont typeface="Calibri" pitchFamily="34" charset="0"/>
              <a:buChar char="‐"/>
              <a:defRPr sz="1400" baseline="0">
                <a:solidFill>
                  <a:schemeClr val="bg1">
                    <a:lumMod val="65000"/>
                  </a:schemeClr>
                </a:solidFill>
                <a:latin typeface="Gill Sans MT" panose="020B050202010402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
          <p:cNvSpPr>
            <a:spLocks noGrp="1"/>
          </p:cNvSpPr>
          <p:nvPr>
            <p:ph idx="26"/>
          </p:nvPr>
        </p:nvSpPr>
        <p:spPr>
          <a:xfrm>
            <a:off x="6115364" y="1504786"/>
            <a:ext cx="5681472" cy="4599432"/>
          </a:xfrm>
          <a:prstGeom prst="rect">
            <a:avLst/>
          </a:prstGeom>
        </p:spPr>
        <p:txBody>
          <a:bodyPr>
            <a:normAutofit/>
          </a:bodyPr>
          <a:lstStyle>
            <a:lvl1pPr marL="231775" indent="-231775">
              <a:spcBef>
                <a:spcPts val="200"/>
              </a:spcBef>
              <a:spcAft>
                <a:spcPts val="400"/>
              </a:spcAft>
              <a:buClr>
                <a:srgbClr val="00AEEF"/>
              </a:buClr>
              <a:buSzPct val="90000"/>
              <a:buFont typeface="Wingdings" pitchFamily="2" charset="2"/>
              <a:buChar char="§"/>
              <a:defRPr sz="2400" baseline="0">
                <a:solidFill>
                  <a:srgbClr val="315EAB"/>
                </a:solidFill>
                <a:latin typeface="Gill Sans MT" panose="020B0502020104020203" pitchFamily="34" charset="77"/>
              </a:defRPr>
            </a:lvl1pPr>
            <a:lvl2pPr marL="452438" indent="-219075">
              <a:spcBef>
                <a:spcPts val="200"/>
              </a:spcBef>
              <a:spcAft>
                <a:spcPts val="400"/>
              </a:spcAft>
              <a:buClr>
                <a:srgbClr val="00AEEF"/>
              </a:buClr>
              <a:buSzPct val="90000"/>
              <a:defRPr sz="2000" baseline="0">
                <a:solidFill>
                  <a:schemeClr val="bg1">
                    <a:lumMod val="65000"/>
                  </a:schemeClr>
                </a:solidFill>
                <a:latin typeface="Gill Sans MT" panose="020B0502020104020203" pitchFamily="34" charset="77"/>
              </a:defRPr>
            </a:lvl2pPr>
            <a:lvl3pPr marL="690563" indent="-228600">
              <a:spcBef>
                <a:spcPts val="200"/>
              </a:spcBef>
              <a:spcAft>
                <a:spcPts val="400"/>
              </a:spcAft>
              <a:buClr>
                <a:srgbClr val="00AEEF"/>
              </a:buClr>
              <a:buSzPct val="90000"/>
              <a:defRPr sz="1800" baseline="0">
                <a:solidFill>
                  <a:schemeClr val="bg1">
                    <a:lumMod val="65000"/>
                  </a:schemeClr>
                </a:solidFill>
                <a:latin typeface="Gill Sans MT" panose="020B0502020104020203" pitchFamily="34" charset="77"/>
              </a:defRPr>
            </a:lvl3pPr>
            <a:lvl4pPr marL="914400" indent="-223838">
              <a:spcBef>
                <a:spcPts val="200"/>
              </a:spcBef>
              <a:spcAft>
                <a:spcPts val="400"/>
              </a:spcAft>
              <a:buClr>
                <a:srgbClr val="00AEEF"/>
              </a:buClr>
              <a:buSzPct val="90000"/>
              <a:buFont typeface="Calibri" pitchFamily="34" charset="0"/>
              <a:buChar char="‐"/>
              <a:defRPr sz="1600" baseline="0">
                <a:solidFill>
                  <a:schemeClr val="bg1">
                    <a:lumMod val="65000"/>
                  </a:schemeClr>
                </a:solidFill>
                <a:latin typeface="Gill Sans MT" panose="020B0502020104020203" pitchFamily="34" charset="77"/>
              </a:defRPr>
            </a:lvl4pPr>
            <a:lvl5pPr marL="1146175" indent="-231775">
              <a:spcBef>
                <a:spcPts val="200"/>
              </a:spcBef>
              <a:spcAft>
                <a:spcPts val="400"/>
              </a:spcAft>
              <a:buClr>
                <a:srgbClr val="00AEEF"/>
              </a:buClr>
              <a:buSzPct val="90000"/>
              <a:buFont typeface="Calibri" pitchFamily="34" charset="0"/>
              <a:buChar char="‐"/>
              <a:defRPr sz="1400" baseline="0">
                <a:solidFill>
                  <a:schemeClr val="bg1">
                    <a:lumMod val="65000"/>
                  </a:schemeClr>
                </a:solidFill>
                <a:latin typeface="Gill Sans MT" panose="020B0502020104020203" pitchFamily="34"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
            <a:extLst>
              <a:ext uri="{FF2B5EF4-FFF2-40B4-BE49-F238E27FC236}">
                <a16:creationId xmlns:a16="http://schemas.microsoft.com/office/drawing/2014/main" id="{87665D3E-55F0-774B-BB9B-6C67718C7E77}"/>
              </a:ext>
            </a:extLst>
          </p:cNvPr>
          <p:cNvSpPr>
            <a:spLocks noGrp="1"/>
          </p:cNvSpPr>
          <p:nvPr>
            <p:ph type="title"/>
          </p:nvPr>
        </p:nvSpPr>
        <p:spPr>
          <a:xfrm>
            <a:off x="406399" y="449730"/>
            <a:ext cx="11374611" cy="365760"/>
          </a:xfrm>
          <a:prstGeom prst="rect">
            <a:avLst/>
          </a:prstGeom>
        </p:spPr>
        <p:txBody>
          <a:bodyPr lIns="0" anchor="b">
            <a:noAutofit/>
          </a:bodyPr>
          <a:lstStyle>
            <a:lvl1pPr algn="l">
              <a:defRPr sz="3200" b="1">
                <a:solidFill>
                  <a:srgbClr val="0070C0"/>
                </a:solidFill>
                <a:latin typeface="Gill Sans MT" panose="020B0502020104020203" pitchFamily="34" charset="77"/>
              </a:defRPr>
            </a:lvl1pPr>
          </a:lstStyle>
          <a:p>
            <a:r>
              <a:rPr lang="en-US"/>
              <a:t>Click to edit Master title style</a:t>
            </a:r>
          </a:p>
        </p:txBody>
      </p:sp>
      <p:sp>
        <p:nvSpPr>
          <p:cNvPr id="23" name="Slide Number Placeholder 3">
            <a:extLst>
              <a:ext uri="{FF2B5EF4-FFF2-40B4-BE49-F238E27FC236}">
                <a16:creationId xmlns:a16="http://schemas.microsoft.com/office/drawing/2014/main" id="{02A15DF5-76EB-4490-9667-C71F91A82786}"/>
              </a:ext>
            </a:extLst>
          </p:cNvPr>
          <p:cNvSpPr txBox="1">
            <a:spLocks/>
          </p:cNvSpPr>
          <p:nvPr userDrawn="1"/>
        </p:nvSpPr>
        <p:spPr bwMode="auto">
          <a:xfrm flipH="1">
            <a:off x="401811" y="6459546"/>
            <a:ext cx="474133" cy="320675"/>
          </a:xfrm>
          <a:prstGeom prst="rect">
            <a:avLst/>
          </a:prstGeom>
          <a:noFill/>
          <a:ln w="9525">
            <a:noFill/>
            <a:miter lim="800000"/>
            <a:headEnd/>
            <a:tailEnd/>
          </a:ln>
        </p:spPr>
        <p:txBody>
          <a:bodyPr lIns="0" tIns="0" rIns="0" bIns="0"/>
          <a:lstStyle/>
          <a:p>
            <a:pPr algn="l"/>
            <a:r>
              <a:rPr lang="en-US" sz="800">
                <a:solidFill>
                  <a:srgbClr val="00AEEF"/>
                </a:solidFill>
                <a:latin typeface="Gill Sans MT" panose="020B0502020104020203" pitchFamily="34" charset="77"/>
                <a:cs typeface="Arial" pitchFamily="34" charset="0"/>
              </a:rPr>
              <a:t>Slide </a:t>
            </a:r>
            <a:fld id="{FFF824FF-5FA3-4935-85EA-2B9516965570}" type="slidenum">
              <a:rPr lang="en-US" sz="800" smtClean="0">
                <a:solidFill>
                  <a:srgbClr val="00AEEF"/>
                </a:solidFill>
                <a:latin typeface="Gill Sans MT" panose="020B0502020104020203" pitchFamily="34" charset="77"/>
                <a:cs typeface="Arial" pitchFamily="34" charset="0"/>
              </a:rPr>
              <a:pPr algn="l"/>
              <a:t>‹#›</a:t>
            </a:fld>
            <a:endParaRPr lang="en-US" sz="800">
              <a:solidFill>
                <a:srgbClr val="00AEEF"/>
              </a:solidFill>
              <a:latin typeface="Gill Sans MT" panose="020B0502020104020203" pitchFamily="34" charset="77"/>
              <a:cs typeface="Arial" pitchFamily="34" charset="0"/>
            </a:endParaRPr>
          </a:p>
        </p:txBody>
      </p:sp>
      <p:pic>
        <p:nvPicPr>
          <p:cNvPr id="12" name="Picture 11">
            <a:extLst>
              <a:ext uri="{FF2B5EF4-FFF2-40B4-BE49-F238E27FC236}">
                <a16:creationId xmlns:a16="http://schemas.microsoft.com/office/drawing/2014/main" id="{3A2067E4-B8D9-8D4B-9CF5-0631FC2B3A18}"/>
              </a:ext>
            </a:extLst>
          </p:cNvPr>
          <p:cNvPicPr>
            <a:picLocks/>
          </p:cNvPicPr>
          <p:nvPr userDrawn="1"/>
        </p:nvPicPr>
        <p:blipFill rotWithShape="1">
          <a:blip r:embed="rId2" cstate="screen">
            <a:extLst>
              <a:ext uri="{28A0092B-C50C-407E-A947-70E740481C1C}">
                <a14:useLocalDpi xmlns:a14="http://schemas.microsoft.com/office/drawing/2010/main"/>
              </a:ext>
            </a:extLst>
          </a:blip>
          <a:srcRect/>
          <a:stretch/>
        </p:blipFill>
        <p:spPr>
          <a:xfrm>
            <a:off x="2" y="0"/>
            <a:ext cx="12198096" cy="123793"/>
          </a:xfrm>
          <a:prstGeom prst="rect">
            <a:avLst/>
          </a:prstGeom>
          <a:gradFill>
            <a:gsLst>
              <a:gs pos="0">
                <a:srgbClr val="315EAB"/>
              </a:gs>
              <a:gs pos="25000">
                <a:srgbClr val="00AEEF"/>
              </a:gs>
              <a:gs pos="50000">
                <a:srgbClr val="EDF19C"/>
              </a:gs>
              <a:gs pos="75000">
                <a:srgbClr val="D7DF22">
                  <a:lumMod val="45000"/>
                  <a:lumOff val="55000"/>
                </a:srgbClr>
              </a:gs>
              <a:gs pos="100000">
                <a:srgbClr val="D7DF22">
                  <a:lumMod val="30000"/>
                  <a:lumOff val="70000"/>
                </a:srgbClr>
              </a:gs>
            </a:gsLst>
            <a:lin ang="0" scaled="1"/>
          </a:gradFill>
        </p:spPr>
      </p:pic>
      <p:pic>
        <p:nvPicPr>
          <p:cNvPr id="10" name="Picture 9">
            <a:extLst>
              <a:ext uri="{FF2B5EF4-FFF2-40B4-BE49-F238E27FC236}">
                <a16:creationId xmlns:a16="http://schemas.microsoft.com/office/drawing/2014/main" id="{59FE7F94-B953-4F4E-964B-B50AE550C76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881" r="8094" b="15826"/>
          <a:stretch/>
        </p:blipFill>
        <p:spPr>
          <a:xfrm>
            <a:off x="9786222" y="6324975"/>
            <a:ext cx="2100974" cy="533025"/>
          </a:xfrm>
          <a:prstGeom prst="rect">
            <a:avLst/>
          </a:prstGeom>
        </p:spPr>
      </p:pic>
    </p:spTree>
    <p:extLst>
      <p:ext uri="{BB962C8B-B14F-4D97-AF65-F5344CB8AC3E}">
        <p14:creationId xmlns:p14="http://schemas.microsoft.com/office/powerpoint/2010/main" val="185770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4" name="Title 1"/>
          <p:cNvSpPr>
            <a:spLocks noGrp="1"/>
          </p:cNvSpPr>
          <p:nvPr>
            <p:ph type="title"/>
          </p:nvPr>
        </p:nvSpPr>
        <p:spPr>
          <a:xfrm>
            <a:off x="406399" y="449730"/>
            <a:ext cx="11374611" cy="365760"/>
          </a:xfrm>
          <a:prstGeom prst="rect">
            <a:avLst/>
          </a:prstGeom>
        </p:spPr>
        <p:txBody>
          <a:bodyPr lIns="0" anchor="b">
            <a:noAutofit/>
          </a:bodyPr>
          <a:lstStyle>
            <a:lvl1pPr algn="l">
              <a:defRPr sz="3200" b="1">
                <a:solidFill>
                  <a:srgbClr val="0070C0"/>
                </a:solidFill>
                <a:latin typeface="Gill Sans MT" panose="020B0502020104020203" pitchFamily="34" charset="77"/>
              </a:defRPr>
            </a:lvl1pPr>
          </a:lstStyle>
          <a:p>
            <a:r>
              <a:rPr lang="en-US"/>
              <a:t>Click to edit Master title style</a:t>
            </a:r>
          </a:p>
        </p:txBody>
      </p:sp>
      <p:sp>
        <p:nvSpPr>
          <p:cNvPr id="22" name="Slide Number Placeholder 3">
            <a:extLst>
              <a:ext uri="{FF2B5EF4-FFF2-40B4-BE49-F238E27FC236}">
                <a16:creationId xmlns:a16="http://schemas.microsoft.com/office/drawing/2014/main" id="{F4E8F01D-54CD-6549-B8A5-00BB40FABF0B}"/>
              </a:ext>
            </a:extLst>
          </p:cNvPr>
          <p:cNvSpPr txBox="1">
            <a:spLocks/>
          </p:cNvSpPr>
          <p:nvPr userDrawn="1"/>
        </p:nvSpPr>
        <p:spPr bwMode="auto">
          <a:xfrm flipH="1">
            <a:off x="401811" y="6459546"/>
            <a:ext cx="474133" cy="320675"/>
          </a:xfrm>
          <a:prstGeom prst="rect">
            <a:avLst/>
          </a:prstGeom>
          <a:noFill/>
          <a:ln w="9525">
            <a:noFill/>
            <a:miter lim="800000"/>
            <a:headEnd/>
            <a:tailEnd/>
          </a:ln>
        </p:spPr>
        <p:txBody>
          <a:bodyPr lIns="0" tIns="0" rIns="0" bIns="0"/>
          <a:lstStyle/>
          <a:p>
            <a:pPr algn="l"/>
            <a:r>
              <a:rPr lang="en-US" sz="800">
                <a:solidFill>
                  <a:srgbClr val="00AEEF"/>
                </a:solidFill>
                <a:latin typeface="Gill Sans MT" panose="020B0502020104020203" pitchFamily="34" charset="77"/>
                <a:cs typeface="Arial" pitchFamily="34" charset="0"/>
              </a:rPr>
              <a:t>Slide </a:t>
            </a:r>
            <a:fld id="{FFF824FF-5FA3-4935-85EA-2B9516965570}" type="slidenum">
              <a:rPr lang="en-US" sz="800" smtClean="0">
                <a:solidFill>
                  <a:srgbClr val="00AEEF"/>
                </a:solidFill>
                <a:latin typeface="Gill Sans MT" panose="020B0502020104020203" pitchFamily="34" charset="77"/>
                <a:cs typeface="Arial" pitchFamily="34" charset="0"/>
              </a:rPr>
              <a:pPr algn="l"/>
              <a:t>‹#›</a:t>
            </a:fld>
            <a:endParaRPr lang="en-US" sz="800">
              <a:solidFill>
                <a:srgbClr val="00AEEF"/>
              </a:solidFill>
              <a:latin typeface="Gill Sans MT" panose="020B0502020104020203" pitchFamily="34" charset="77"/>
              <a:cs typeface="Arial" pitchFamily="34" charset="0"/>
            </a:endParaRPr>
          </a:p>
        </p:txBody>
      </p:sp>
      <p:pic>
        <p:nvPicPr>
          <p:cNvPr id="11" name="Picture 10">
            <a:extLst>
              <a:ext uri="{FF2B5EF4-FFF2-40B4-BE49-F238E27FC236}">
                <a16:creationId xmlns:a16="http://schemas.microsoft.com/office/drawing/2014/main" id="{F17227DF-96FD-46B6-B68B-9CBE70F3602D}"/>
              </a:ext>
            </a:extLst>
          </p:cNvPr>
          <p:cNvPicPr>
            <a:picLocks/>
          </p:cNvPicPr>
          <p:nvPr userDrawn="1"/>
        </p:nvPicPr>
        <p:blipFill rotWithShape="1">
          <a:blip r:embed="rId2" cstate="screen">
            <a:extLst>
              <a:ext uri="{28A0092B-C50C-407E-A947-70E740481C1C}">
                <a14:useLocalDpi xmlns:a14="http://schemas.microsoft.com/office/drawing/2010/main"/>
              </a:ext>
            </a:extLst>
          </a:blip>
          <a:srcRect/>
          <a:stretch/>
        </p:blipFill>
        <p:spPr>
          <a:xfrm>
            <a:off x="2" y="0"/>
            <a:ext cx="12198096" cy="123793"/>
          </a:xfrm>
          <a:prstGeom prst="rect">
            <a:avLst/>
          </a:prstGeom>
          <a:gradFill>
            <a:gsLst>
              <a:gs pos="0">
                <a:srgbClr val="315EAB"/>
              </a:gs>
              <a:gs pos="25000">
                <a:srgbClr val="00AEEF"/>
              </a:gs>
              <a:gs pos="50000">
                <a:srgbClr val="EDF19C"/>
              </a:gs>
              <a:gs pos="75000">
                <a:srgbClr val="D7DF22">
                  <a:lumMod val="45000"/>
                  <a:lumOff val="55000"/>
                </a:srgbClr>
              </a:gs>
              <a:gs pos="100000">
                <a:srgbClr val="D7DF22">
                  <a:lumMod val="30000"/>
                  <a:lumOff val="70000"/>
                </a:srgbClr>
              </a:gs>
            </a:gsLst>
            <a:lin ang="0" scaled="1"/>
          </a:gradFill>
        </p:spPr>
      </p:pic>
      <p:pic>
        <p:nvPicPr>
          <p:cNvPr id="6" name="Picture 5">
            <a:extLst>
              <a:ext uri="{FF2B5EF4-FFF2-40B4-BE49-F238E27FC236}">
                <a16:creationId xmlns:a16="http://schemas.microsoft.com/office/drawing/2014/main" id="{6A86C29A-ADE2-45DC-8732-61B9743DB68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5881" r="8094" b="15826"/>
          <a:stretch/>
        </p:blipFill>
        <p:spPr>
          <a:xfrm>
            <a:off x="9786222" y="6324975"/>
            <a:ext cx="2100974" cy="533025"/>
          </a:xfrm>
          <a:prstGeom prst="rect">
            <a:avLst/>
          </a:prstGeom>
        </p:spPr>
      </p:pic>
    </p:spTree>
    <p:extLst>
      <p:ext uri="{BB962C8B-B14F-4D97-AF65-F5344CB8AC3E}">
        <p14:creationId xmlns:p14="http://schemas.microsoft.com/office/powerpoint/2010/main" val="347083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86834" y="1143027"/>
            <a:ext cx="11218340" cy="5029180"/>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ubtitle 2">
            <a:extLst>
              <a:ext uri="{FF2B5EF4-FFF2-40B4-BE49-F238E27FC236}">
                <a16:creationId xmlns:a16="http://schemas.microsoft.com/office/drawing/2014/main" id="{0D08CCE7-25AB-DA4A-BB7A-BBC23956801E}"/>
              </a:ext>
            </a:extLst>
          </p:cNvPr>
          <p:cNvSpPr>
            <a:spLocks noGrp="1"/>
          </p:cNvSpPr>
          <p:nvPr>
            <p:ph type="subTitle" idx="13" hasCustomPrompt="1"/>
          </p:nvPr>
        </p:nvSpPr>
        <p:spPr>
          <a:xfrm>
            <a:off x="486845" y="639437"/>
            <a:ext cx="8047561" cy="300128"/>
          </a:xfrm>
        </p:spPr>
        <p:txBody>
          <a:bodyPr tIns="9144" bIns="0">
            <a:noAutofit/>
          </a:bodyPr>
          <a:lstStyle>
            <a:lvl1pPr marL="0" indent="0" algn="l">
              <a:lnSpc>
                <a:spcPct val="100000"/>
              </a:lnSpc>
              <a:spcBef>
                <a:spcPts val="0"/>
              </a:spcBef>
              <a:buNone/>
              <a:defRPr sz="1333">
                <a:solidFill>
                  <a:srgbClr val="53565A"/>
                </a:solidFill>
                <a:latin typeface="+mj-lt"/>
              </a:defRPr>
            </a:lvl1pPr>
            <a:lvl2pPr marL="0" indent="0" algn="l">
              <a:lnSpc>
                <a:spcPct val="100000"/>
              </a:lnSpc>
              <a:spcBef>
                <a:spcPts val="0"/>
              </a:spcBef>
              <a:buNone/>
              <a:defRPr sz="1200"/>
            </a:lvl2pPr>
            <a:lvl3pPr marL="0" indent="0" algn="l">
              <a:lnSpc>
                <a:spcPct val="100000"/>
              </a:lnSpc>
              <a:spcBef>
                <a:spcPts val="0"/>
              </a:spcBef>
              <a:buNone/>
              <a:defRPr sz="1200"/>
            </a:lvl3pPr>
            <a:lvl4pPr marL="0" indent="0" algn="l">
              <a:lnSpc>
                <a:spcPct val="100000"/>
              </a:lnSpc>
              <a:spcBef>
                <a:spcPts val="0"/>
              </a:spcBef>
              <a:buNone/>
              <a:defRPr sz="1200"/>
            </a:lvl4pPr>
            <a:lvl5pPr marL="0" indent="0" algn="l">
              <a:lnSpc>
                <a:spcPct val="100000"/>
              </a:lnSpc>
              <a:spcBef>
                <a:spcPts val="0"/>
              </a:spcBef>
              <a:buNone/>
              <a:defRPr sz="1200"/>
            </a:lvl5pPr>
            <a:lvl6pPr marL="0" indent="0" algn="l">
              <a:lnSpc>
                <a:spcPct val="100000"/>
              </a:lnSpc>
              <a:spcBef>
                <a:spcPts val="0"/>
              </a:spcBef>
              <a:buNone/>
              <a:defRPr sz="1200"/>
            </a:lvl6pPr>
            <a:lvl7pPr marL="0" indent="0" algn="l">
              <a:lnSpc>
                <a:spcPct val="100000"/>
              </a:lnSpc>
              <a:spcBef>
                <a:spcPts val="0"/>
              </a:spcBef>
              <a:buNone/>
              <a:defRPr sz="1200"/>
            </a:lvl7pPr>
            <a:lvl8pPr marL="0" indent="0" algn="l">
              <a:lnSpc>
                <a:spcPct val="100000"/>
              </a:lnSpc>
              <a:spcBef>
                <a:spcPts val="0"/>
              </a:spcBef>
              <a:buNone/>
              <a:defRPr sz="1200"/>
            </a:lvl8pPr>
            <a:lvl9pPr marL="0" indent="0" algn="l">
              <a:lnSpc>
                <a:spcPct val="100000"/>
              </a:lnSpc>
              <a:spcBef>
                <a:spcPts val="0"/>
              </a:spcBef>
              <a:buNone/>
              <a:defRPr sz="1200"/>
            </a:lvl9pPr>
          </a:lstStyle>
          <a:p>
            <a:r>
              <a:rPr lang="en-US"/>
              <a:t>Optional subtitle</a:t>
            </a:r>
          </a:p>
        </p:txBody>
      </p:sp>
      <p:sp>
        <p:nvSpPr>
          <p:cNvPr id="2" name="Title 1"/>
          <p:cNvSpPr>
            <a:spLocks noGrp="1"/>
          </p:cNvSpPr>
          <p:nvPr>
            <p:ph type="title" hasCustomPrompt="1"/>
          </p:nvPr>
        </p:nvSpPr>
        <p:spPr/>
        <p:txBody>
          <a:bodyPr/>
          <a:lstStyle>
            <a:lvl1pPr>
              <a:defRPr sz="2400"/>
            </a:lvl1pPr>
          </a:lstStyle>
          <a:p>
            <a:r>
              <a:rPr lang="en-US"/>
              <a:t>Slide title</a:t>
            </a:r>
          </a:p>
        </p:txBody>
      </p:sp>
      <p:sp>
        <p:nvSpPr>
          <p:cNvPr id="5" name="Footer Placeholder 4"/>
          <p:cNvSpPr>
            <a:spLocks noGrp="1"/>
          </p:cNvSpPr>
          <p:nvPr>
            <p:ph type="ftr" sz="quarter" idx="11"/>
          </p:nvPr>
        </p:nvSpPr>
        <p:spPr>
          <a:xfrm>
            <a:off x="3386673" y="6337895"/>
            <a:ext cx="5418663" cy="240483"/>
          </a:xfrm>
        </p:spPr>
        <p:txBody>
          <a:bodyPr/>
          <a:lstStyle/>
          <a:p>
            <a:r>
              <a:rPr lang="en-US"/>
              <a:t>PERATON PROPRIETARY INFORMATION</a:t>
            </a:r>
          </a:p>
        </p:txBody>
      </p:sp>
      <p:sp>
        <p:nvSpPr>
          <p:cNvPr id="6" name="Slide Number Placeholder 5"/>
          <p:cNvSpPr>
            <a:spLocks noGrp="1"/>
          </p:cNvSpPr>
          <p:nvPr>
            <p:ph type="sldNum" sz="quarter" idx="12"/>
          </p:nvPr>
        </p:nvSpPr>
        <p:spPr>
          <a:xfrm>
            <a:off x="11216642" y="6337902"/>
            <a:ext cx="488527" cy="240481"/>
          </a:xfrm>
        </p:spPr>
        <p:txBody>
          <a:bodyPr/>
          <a:lstStyle/>
          <a:p>
            <a:fld id="{146947CA-7B12-495D-B496-9F45B5C2FB61}" type="slidenum">
              <a:rPr lang="en-US" smtClean="0"/>
              <a:t>‹#›</a:t>
            </a:fld>
            <a:endParaRPr lang="en-US"/>
          </a:p>
        </p:txBody>
      </p:sp>
    </p:spTree>
    <p:extLst>
      <p:ext uri="{BB962C8B-B14F-4D97-AF65-F5344CB8AC3E}">
        <p14:creationId xmlns:p14="http://schemas.microsoft.com/office/powerpoint/2010/main" val="23931464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909124"/>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7" r:id="rId3"/>
    <p:sldLayoutId id="2147483828" r:id="rId4"/>
    <p:sldLayoutId id="2147483826" r:id="rId5"/>
    <p:sldLayoutId id="2147483830"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careers.peraton.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microsoft.com/office/2018/10/relationships/comments" Target="../comments/modernComment_A8E_9840DC86.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A90_7E6AA715.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7.jpe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hyperlink" Target="https://react-bootstrap.github.io/" TargetMode="Externa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A70_62D84C6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microsoft.com/office/2018/10/relationships/comments" Target="../comments/modernComment_A72_8C240C7E.xm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hyperlink" Target="https://www.udemy.com/course/react-the-complete-guide-incl-redux/learn/lecture/39837058?start=600#overview" TargetMode="Externa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hyperlink" Target="https://nodejs.org/en/download/"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reactjs.org/docs/hello-world.html" TargetMode="External"/><Relationship Id="rId5" Type="http://schemas.openxmlformats.org/officeDocument/2006/relationships/hyperlink" Target="https://reactjs.org/docs/thinking-in-react.html" TargetMode="External"/><Relationship Id="rId4" Type="http://schemas.openxmlformats.org/officeDocument/2006/relationships/hyperlink" Target="https://react.dev/learn/build-a-react-app-from-scratch"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mui.com/material-ui/getting-started/overview/" TargetMode="External"/><Relationship Id="rId3" Type="http://schemas.openxmlformats.org/officeDocument/2006/relationships/hyperlink" Target="https://github.com/lhudsonPeraton/React" TargetMode="External"/><Relationship Id="rId7" Type="http://schemas.openxmlformats.org/officeDocument/2006/relationships/hyperlink" Target="https://reactjs.org/docs/getting-started.html"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code.visualstudio.com/" TargetMode="External"/><Relationship Id="rId5" Type="http://schemas.openxmlformats.org/officeDocument/2006/relationships/hyperlink" Target="https://git-scm.com/downloads" TargetMode="External"/><Relationship Id="rId4" Type="http://schemas.openxmlformats.org/officeDocument/2006/relationships/hyperlink" Target="https://nodejs.org/en/download/" TargetMode="External"/><Relationship Id="rId9" Type="http://schemas.openxmlformats.org/officeDocument/2006/relationships/hyperlink" Target="https://axios-http.com/docs/intro" TargetMode="External"/></Relationships>
</file>

<file path=ppt/slides/_rels/slide42.xml.rels><?xml version="1.0" encoding="UTF-8" standalone="yes"?>
<Relationships xmlns="http://schemas.openxmlformats.org/package/2006/relationships"><Relationship Id="rId3" Type="http://schemas.openxmlformats.org/officeDocument/2006/relationships/hyperlink" Target="https://www.w3schools.com/css/" TargetMode="External"/><Relationship Id="rId2" Type="http://schemas.openxmlformats.org/officeDocument/2006/relationships/hyperlink" Target="https://www.w3schools.com/html/" TargetMode="External"/><Relationship Id="rId1" Type="http://schemas.openxmlformats.org/officeDocument/2006/relationships/slideLayout" Target="../slideLayouts/slideLayout2.xml"/><Relationship Id="rId5" Type="http://schemas.openxmlformats.org/officeDocument/2006/relationships/hyperlink" Target="https://www.geeksforgeeks.org/linux-commands-cheat-sheet/" TargetMode="External"/><Relationship Id="rId4" Type="http://schemas.openxmlformats.org/officeDocument/2006/relationships/hyperlink" Target="https://www.w3schools.com/j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19DC9A-0435-4EE7-9C59-3594EA55D3ED}"/>
              </a:ext>
            </a:extLst>
          </p:cNvPr>
          <p:cNvSpPr>
            <a:spLocks noGrp="1"/>
          </p:cNvSpPr>
          <p:nvPr>
            <p:ph type="body" sz="quarter" idx="10"/>
          </p:nvPr>
        </p:nvSpPr>
        <p:spPr>
          <a:xfrm>
            <a:off x="837390" y="4473634"/>
            <a:ext cx="11161004" cy="1412372"/>
          </a:xfrm>
        </p:spPr>
        <p:txBody>
          <a:bodyPr lIns="0" tIns="45720" rIns="0" bIns="45720" anchor="t"/>
          <a:lstStyle/>
          <a:p>
            <a:r>
              <a:rPr lang="en-US" sz="3600" dirty="0">
                <a:latin typeface="Gill Sans MT"/>
              </a:rPr>
              <a:t>Rapid Web Application Development With React</a:t>
            </a:r>
            <a:endParaRPr lang="en-US" dirty="0"/>
          </a:p>
          <a:p>
            <a:br>
              <a:rPr lang="en-US" sz="2000" dirty="0">
                <a:latin typeface="Gill Sans MT"/>
              </a:rPr>
            </a:br>
            <a:r>
              <a:rPr lang="en-US" sz="2000" dirty="0">
                <a:latin typeface="Gill Sans MT"/>
              </a:rPr>
              <a:t>Katherine Fogarty and Ryan Stoltz</a:t>
            </a:r>
          </a:p>
          <a:p>
            <a:r>
              <a:rPr lang="en-US" sz="2000" dirty="0">
                <a:latin typeface="Gill Sans MT"/>
              </a:rPr>
              <a:t>April 12, 2025</a:t>
            </a:r>
          </a:p>
        </p:txBody>
      </p:sp>
    </p:spTree>
    <p:extLst>
      <p:ext uri="{BB962C8B-B14F-4D97-AF65-F5344CB8AC3E}">
        <p14:creationId xmlns:p14="http://schemas.microsoft.com/office/powerpoint/2010/main" val="1785631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6399" y="563249"/>
            <a:ext cx="11374611" cy="365760"/>
          </a:xfrm>
        </p:spPr>
        <p:txBody>
          <a:bodyPr/>
          <a:lstStyle/>
          <a:p>
            <a:r>
              <a:rPr lang="en-US"/>
              <a:t>Agenda</a:t>
            </a:r>
          </a:p>
        </p:txBody>
      </p:sp>
      <p:sp>
        <p:nvSpPr>
          <p:cNvPr id="46" name="Content Placeholder 3">
            <a:extLst>
              <a:ext uri="{FF2B5EF4-FFF2-40B4-BE49-F238E27FC236}">
                <a16:creationId xmlns:a16="http://schemas.microsoft.com/office/drawing/2014/main" id="{F6FA5EEE-A6FD-4471-BAFC-75FC5803A9C7}"/>
              </a:ext>
            </a:extLst>
          </p:cNvPr>
          <p:cNvSpPr>
            <a:spLocks noGrp="1"/>
          </p:cNvSpPr>
          <p:nvPr>
            <p:ph idx="1"/>
          </p:nvPr>
        </p:nvSpPr>
        <p:spPr>
          <a:xfrm>
            <a:off x="401811" y="1042539"/>
            <a:ext cx="8098377" cy="5294761"/>
          </a:xfrm>
        </p:spPr>
        <p:txBody>
          <a:bodyPr lIns="91440" tIns="45720" rIns="91440" bIns="45720" anchor="t">
            <a:normAutofit fontScale="92500" lnSpcReduction="10000"/>
          </a:bodyPr>
          <a:lstStyle/>
          <a:p>
            <a:pPr marL="457200" indent="-457200">
              <a:lnSpc>
                <a:spcPct val="150000"/>
              </a:lnSpc>
              <a:buAutoNum type="arabicPeriod"/>
            </a:pPr>
            <a:r>
              <a:rPr lang="en-US">
                <a:latin typeface="Gill Sans MT"/>
              </a:rPr>
              <a:t>About </a:t>
            </a:r>
            <a:r>
              <a:rPr lang="en-US" err="1">
                <a:latin typeface="Gill Sans MT"/>
              </a:rPr>
              <a:t>Peraton</a:t>
            </a:r>
            <a:endParaRPr lang="en-US" err="1"/>
          </a:p>
          <a:p>
            <a:pPr marL="457200" indent="-457200">
              <a:lnSpc>
                <a:spcPct val="150000"/>
              </a:lnSpc>
              <a:buAutoNum type="arabicPeriod"/>
            </a:pPr>
            <a:r>
              <a:rPr lang="en-US">
                <a:latin typeface="Gill Sans MT"/>
              </a:rPr>
              <a:t>Front End Web Dev Intro</a:t>
            </a:r>
          </a:p>
          <a:p>
            <a:pPr marL="457200" indent="-457200">
              <a:lnSpc>
                <a:spcPct val="150000"/>
              </a:lnSpc>
              <a:buAutoNum type="arabicPeriod"/>
            </a:pPr>
            <a:r>
              <a:rPr lang="en-US">
                <a:latin typeface="Gill Sans MT"/>
              </a:rPr>
              <a:t>Introduction to JS Frameworks</a:t>
            </a:r>
          </a:p>
          <a:p>
            <a:pPr marL="457200" indent="-457200">
              <a:lnSpc>
                <a:spcPct val="150000"/>
              </a:lnSpc>
              <a:buAutoNum type="arabicPeriod"/>
            </a:pPr>
            <a:r>
              <a:rPr lang="en-US">
                <a:latin typeface="Gill Sans MT"/>
              </a:rPr>
              <a:t>Configuring for React</a:t>
            </a:r>
          </a:p>
          <a:p>
            <a:pPr marL="457200" indent="-457200">
              <a:lnSpc>
                <a:spcPct val="150000"/>
              </a:lnSpc>
              <a:buAutoNum type="arabicPeriod"/>
            </a:pPr>
            <a:r>
              <a:rPr lang="en-US">
                <a:latin typeface="Gill Sans MT"/>
              </a:rPr>
              <a:t>React Deep Dive</a:t>
            </a:r>
          </a:p>
          <a:p>
            <a:pPr marL="690245" lvl="1" indent="-457200">
              <a:lnSpc>
                <a:spcPct val="150000"/>
              </a:lnSpc>
              <a:buAutoNum type="arabicPeriod"/>
            </a:pPr>
            <a:r>
              <a:rPr lang="en-US">
                <a:latin typeface="Gill Sans MT"/>
              </a:rPr>
              <a:t>Components</a:t>
            </a:r>
          </a:p>
          <a:p>
            <a:pPr marL="690245" lvl="1" indent="-457200">
              <a:lnSpc>
                <a:spcPct val="150000"/>
              </a:lnSpc>
              <a:buAutoNum type="arabicPeriod"/>
            </a:pPr>
            <a:r>
              <a:rPr lang="en-US">
                <a:latin typeface="Gill Sans MT"/>
              </a:rPr>
              <a:t>Lifecycle</a:t>
            </a:r>
          </a:p>
          <a:p>
            <a:pPr marL="690245" lvl="1" indent="-457200">
              <a:lnSpc>
                <a:spcPct val="150000"/>
              </a:lnSpc>
              <a:buAutoNum type="arabicPeriod"/>
            </a:pPr>
            <a:r>
              <a:rPr lang="en-US">
                <a:latin typeface="Gill Sans MT"/>
              </a:rPr>
              <a:t>Syntax</a:t>
            </a:r>
          </a:p>
          <a:p>
            <a:pPr marL="690245" lvl="1" indent="-457200">
              <a:lnSpc>
                <a:spcPct val="150000"/>
              </a:lnSpc>
              <a:buAutoNum type="arabicPeriod"/>
            </a:pPr>
            <a:r>
              <a:rPr lang="en-US">
                <a:latin typeface="Gill Sans MT"/>
              </a:rPr>
              <a:t>Using external data sources</a:t>
            </a:r>
          </a:p>
          <a:p>
            <a:pPr marL="457200" indent="-457200">
              <a:lnSpc>
                <a:spcPct val="150000"/>
              </a:lnSpc>
              <a:buAutoNum type="arabicPeriod"/>
            </a:pPr>
            <a:r>
              <a:rPr lang="en-US">
                <a:latin typeface="Gill Sans MT"/>
              </a:rPr>
              <a:t>Demo React App</a:t>
            </a:r>
          </a:p>
          <a:p>
            <a:pPr marL="233045" lvl="1" indent="0">
              <a:lnSpc>
                <a:spcPct val="150000"/>
              </a:lnSpc>
              <a:buNone/>
            </a:pPr>
            <a:endParaRPr lang="en-US">
              <a:latin typeface="Gill Sans MT"/>
            </a:endParaRPr>
          </a:p>
        </p:txBody>
      </p:sp>
    </p:spTree>
    <p:extLst>
      <p:ext uri="{BB962C8B-B14F-4D97-AF65-F5344CB8AC3E}">
        <p14:creationId xmlns:p14="http://schemas.microsoft.com/office/powerpoint/2010/main" val="1451214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359A90-E9FA-40E5-BB59-CC77CAFEC6B0}"/>
              </a:ext>
            </a:extLst>
          </p:cNvPr>
          <p:cNvSpPr>
            <a:spLocks noGrp="1"/>
          </p:cNvSpPr>
          <p:nvPr>
            <p:ph type="title"/>
          </p:nvPr>
        </p:nvSpPr>
        <p:spPr>
          <a:xfrm>
            <a:off x="406399" y="577532"/>
            <a:ext cx="11374611" cy="365760"/>
          </a:xfrm>
        </p:spPr>
        <p:txBody>
          <a:bodyPr lIns="0" tIns="45720" rIns="91440" bIns="45720" anchor="b">
            <a:noAutofit/>
          </a:bodyPr>
          <a:lstStyle/>
          <a:p>
            <a:r>
              <a:rPr lang="en-US" err="1">
                <a:latin typeface="Gill Sans MT"/>
              </a:rPr>
              <a:t>Peraton</a:t>
            </a:r>
            <a:r>
              <a:rPr lang="en-US">
                <a:latin typeface="Gill Sans MT"/>
              </a:rPr>
              <a:t> at a Glance</a:t>
            </a:r>
            <a:endParaRPr lang="en-US"/>
          </a:p>
        </p:txBody>
      </p:sp>
      <p:pic>
        <p:nvPicPr>
          <p:cNvPr id="7" name="Picture 7">
            <a:extLst>
              <a:ext uri="{FF2B5EF4-FFF2-40B4-BE49-F238E27FC236}">
                <a16:creationId xmlns:a16="http://schemas.microsoft.com/office/drawing/2014/main" id="{65A2CDD3-2387-995F-B163-E995127F6B71}"/>
              </a:ext>
            </a:extLst>
          </p:cNvPr>
          <p:cNvPicPr>
            <a:picLocks noChangeAspect="1"/>
          </p:cNvPicPr>
          <p:nvPr/>
        </p:nvPicPr>
        <p:blipFill>
          <a:blip r:embed="rId3"/>
          <a:stretch>
            <a:fillRect/>
          </a:stretch>
        </p:blipFill>
        <p:spPr>
          <a:xfrm>
            <a:off x="828368" y="1020269"/>
            <a:ext cx="4820263" cy="2709670"/>
          </a:xfrm>
          <a:prstGeom prst="rect">
            <a:avLst/>
          </a:prstGeom>
        </p:spPr>
      </p:pic>
      <p:pic>
        <p:nvPicPr>
          <p:cNvPr id="8" name="Picture 8">
            <a:extLst>
              <a:ext uri="{FF2B5EF4-FFF2-40B4-BE49-F238E27FC236}">
                <a16:creationId xmlns:a16="http://schemas.microsoft.com/office/drawing/2014/main" id="{73F781EB-D7F9-6CB0-0545-30A2226CFB2A}"/>
              </a:ext>
            </a:extLst>
          </p:cNvPr>
          <p:cNvPicPr>
            <a:picLocks noChangeAspect="1"/>
          </p:cNvPicPr>
          <p:nvPr/>
        </p:nvPicPr>
        <p:blipFill>
          <a:blip r:embed="rId4"/>
          <a:stretch>
            <a:fillRect/>
          </a:stretch>
        </p:blipFill>
        <p:spPr>
          <a:xfrm>
            <a:off x="6334433" y="1020267"/>
            <a:ext cx="4918585" cy="2709675"/>
          </a:xfrm>
          <a:prstGeom prst="rect">
            <a:avLst/>
          </a:prstGeom>
        </p:spPr>
      </p:pic>
      <p:pic>
        <p:nvPicPr>
          <p:cNvPr id="2" name="Picture 3">
            <a:extLst>
              <a:ext uri="{FF2B5EF4-FFF2-40B4-BE49-F238E27FC236}">
                <a16:creationId xmlns:a16="http://schemas.microsoft.com/office/drawing/2014/main" id="{3AF92A7D-496C-044C-1B91-CDF413D33A75}"/>
              </a:ext>
            </a:extLst>
          </p:cNvPr>
          <p:cNvPicPr>
            <a:picLocks noChangeAspect="1"/>
          </p:cNvPicPr>
          <p:nvPr/>
        </p:nvPicPr>
        <p:blipFill>
          <a:blip r:embed="rId5"/>
          <a:stretch>
            <a:fillRect/>
          </a:stretch>
        </p:blipFill>
        <p:spPr>
          <a:xfrm>
            <a:off x="828368" y="3818722"/>
            <a:ext cx="10467667" cy="2483638"/>
          </a:xfrm>
          <a:prstGeom prst="rect">
            <a:avLst/>
          </a:prstGeom>
        </p:spPr>
      </p:pic>
    </p:spTree>
    <p:extLst>
      <p:ext uri="{BB962C8B-B14F-4D97-AF65-F5344CB8AC3E}">
        <p14:creationId xmlns:p14="http://schemas.microsoft.com/office/powerpoint/2010/main" val="2170411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C07CA6-DB51-BC3B-1A3A-1488D9F2EAD0}"/>
              </a:ext>
            </a:extLst>
          </p:cNvPr>
          <p:cNvSpPr>
            <a:spLocks noGrp="1"/>
          </p:cNvSpPr>
          <p:nvPr>
            <p:ph idx="1"/>
          </p:nvPr>
        </p:nvSpPr>
        <p:spPr>
          <a:xfrm>
            <a:off x="401811" y="1292375"/>
            <a:ext cx="7619168" cy="5055387"/>
          </a:xfrm>
        </p:spPr>
        <p:txBody>
          <a:bodyPr lIns="91440" tIns="45720" rIns="91440" bIns="45720" anchor="t">
            <a:normAutofit/>
          </a:bodyPr>
          <a:lstStyle/>
          <a:p>
            <a:r>
              <a:rPr lang="en-US">
                <a:latin typeface="Gill Sans MT"/>
              </a:rPr>
              <a:t>Focus on innovation and staying current with leading-edge technologies</a:t>
            </a:r>
          </a:p>
          <a:p>
            <a:r>
              <a:rPr lang="en-US">
                <a:latin typeface="Gill Sans MT"/>
              </a:rPr>
              <a:t>Team-oriented culture that promotes collaboration and successful outcomes for our customers</a:t>
            </a:r>
          </a:p>
          <a:p>
            <a:r>
              <a:rPr lang="en-US">
                <a:latin typeface="Gill Sans MT"/>
              </a:rPr>
              <a:t>Work with highly technical, highly capable developers</a:t>
            </a:r>
          </a:p>
          <a:p>
            <a:r>
              <a:rPr lang="en-US">
                <a:latin typeface="Gill Sans MT"/>
              </a:rPr>
              <a:t>College graduates</a:t>
            </a:r>
          </a:p>
          <a:p>
            <a:pPr marL="452120" lvl="1"/>
            <a:r>
              <a:rPr lang="en-US">
                <a:latin typeface="Gill Sans MT"/>
              </a:rPr>
              <a:t>Grow your career while making an impact on society</a:t>
            </a:r>
          </a:p>
          <a:p>
            <a:pPr marL="452120" lvl="1"/>
            <a:r>
              <a:rPr lang="en-US">
                <a:latin typeface="Gill Sans MT"/>
              </a:rPr>
              <a:t>Excellent benefits program</a:t>
            </a:r>
          </a:p>
          <a:p>
            <a:r>
              <a:rPr lang="en-US">
                <a:latin typeface="Gill Sans MT"/>
              </a:rPr>
              <a:t>Internships &amp; Co-Ops</a:t>
            </a:r>
          </a:p>
          <a:p>
            <a:pPr marL="452120" lvl="1"/>
            <a:r>
              <a:rPr lang="en-US">
                <a:latin typeface="Gill Sans MT"/>
              </a:rPr>
              <a:t>Work on real customer-facing projects (no “intern projects")</a:t>
            </a:r>
          </a:p>
          <a:p>
            <a:pPr marL="452120" lvl="1"/>
            <a:r>
              <a:rPr lang="en-US">
                <a:latin typeface="Gill Sans MT"/>
              </a:rPr>
              <a:t>Prepare for your career – we hire about half of the students who intern or co-op with us</a:t>
            </a:r>
          </a:p>
          <a:p>
            <a:endParaRPr lang="en-US"/>
          </a:p>
        </p:txBody>
      </p:sp>
      <p:sp>
        <p:nvSpPr>
          <p:cNvPr id="3" name="Title 2">
            <a:extLst>
              <a:ext uri="{FF2B5EF4-FFF2-40B4-BE49-F238E27FC236}">
                <a16:creationId xmlns:a16="http://schemas.microsoft.com/office/drawing/2014/main" id="{FF4AD905-6B4F-CB7B-87EC-B00C571F21B2}"/>
              </a:ext>
            </a:extLst>
          </p:cNvPr>
          <p:cNvSpPr>
            <a:spLocks noGrp="1"/>
          </p:cNvSpPr>
          <p:nvPr>
            <p:ph type="title"/>
          </p:nvPr>
        </p:nvSpPr>
        <p:spPr>
          <a:xfrm>
            <a:off x="400154" y="337304"/>
            <a:ext cx="11380856" cy="590612"/>
          </a:xfrm>
        </p:spPr>
        <p:txBody>
          <a:bodyPr lIns="0" tIns="45720" rIns="91440" bIns="45720" anchor="b">
            <a:noAutofit/>
          </a:bodyPr>
          <a:lstStyle/>
          <a:p>
            <a:r>
              <a:rPr lang="en-US" err="1">
                <a:latin typeface="Gill Sans MT"/>
              </a:rPr>
              <a:t>Peraton</a:t>
            </a:r>
            <a:r>
              <a:rPr lang="en-US">
                <a:latin typeface="Gill Sans MT"/>
              </a:rPr>
              <a:t> Culture</a:t>
            </a:r>
          </a:p>
        </p:txBody>
      </p:sp>
      <p:pic>
        <p:nvPicPr>
          <p:cNvPr id="4" name="Picture 4">
            <a:extLst>
              <a:ext uri="{FF2B5EF4-FFF2-40B4-BE49-F238E27FC236}">
                <a16:creationId xmlns:a16="http://schemas.microsoft.com/office/drawing/2014/main" id="{4ABAC6EF-8E55-669D-43B8-417DEA12C93E}"/>
              </a:ext>
            </a:extLst>
          </p:cNvPr>
          <p:cNvPicPr>
            <a:picLocks noChangeAspect="1"/>
          </p:cNvPicPr>
          <p:nvPr/>
        </p:nvPicPr>
        <p:blipFill>
          <a:blip r:embed="rId3"/>
          <a:stretch>
            <a:fillRect/>
          </a:stretch>
        </p:blipFill>
        <p:spPr>
          <a:xfrm>
            <a:off x="8553529" y="871928"/>
            <a:ext cx="3110925" cy="5157865"/>
          </a:xfrm>
          <a:prstGeom prst="rect">
            <a:avLst/>
          </a:prstGeom>
        </p:spPr>
      </p:pic>
      <p:sp>
        <p:nvSpPr>
          <p:cNvPr id="5" name="TextBox 4">
            <a:extLst>
              <a:ext uri="{FF2B5EF4-FFF2-40B4-BE49-F238E27FC236}">
                <a16:creationId xmlns:a16="http://schemas.microsoft.com/office/drawing/2014/main" id="{3E40E4B3-24BB-CF42-CBBE-723A99528CE3}"/>
              </a:ext>
            </a:extLst>
          </p:cNvPr>
          <p:cNvSpPr txBox="1"/>
          <p:nvPr/>
        </p:nvSpPr>
        <p:spPr>
          <a:xfrm>
            <a:off x="327285" y="833203"/>
            <a:ext cx="736516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70C0"/>
                </a:solidFill>
                <a:latin typeface="Gill Sans MT"/>
              </a:rPr>
              <a:t>Teamwork, innovation, and personal growth</a:t>
            </a:r>
            <a:r>
              <a:rPr lang="en-US">
                <a:latin typeface="Gill Sans MT"/>
              </a:rPr>
              <a:t>​</a:t>
            </a:r>
            <a:endParaRPr lang="en-US"/>
          </a:p>
        </p:txBody>
      </p:sp>
    </p:spTree>
    <p:extLst>
      <p:ext uri="{BB962C8B-B14F-4D97-AF65-F5344CB8AC3E}">
        <p14:creationId xmlns:p14="http://schemas.microsoft.com/office/powerpoint/2010/main" val="3217112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A1727E-D268-6B02-15A0-AF0CC4E93F7D}"/>
              </a:ext>
            </a:extLst>
          </p:cNvPr>
          <p:cNvSpPr>
            <a:spLocks noGrp="1"/>
          </p:cNvSpPr>
          <p:nvPr>
            <p:ph idx="1"/>
          </p:nvPr>
        </p:nvSpPr>
        <p:spPr>
          <a:xfrm>
            <a:off x="408056" y="1129981"/>
            <a:ext cx="7431792" cy="5055387"/>
          </a:xfrm>
        </p:spPr>
        <p:txBody>
          <a:bodyPr lIns="91440" tIns="45720" rIns="91440" bIns="45720" anchor="t">
            <a:normAutofit/>
          </a:bodyPr>
          <a:lstStyle/>
          <a:p>
            <a:r>
              <a:rPr lang="en-US">
                <a:latin typeface="Gill Sans MT"/>
              </a:rPr>
              <a:t>Stop by our Sponsor table today to meet with a Recruiter</a:t>
            </a:r>
          </a:p>
          <a:p>
            <a:endParaRPr lang="en-US"/>
          </a:p>
          <a:p>
            <a:r>
              <a:rPr lang="en-US">
                <a:latin typeface="Gill Sans MT"/>
              </a:rPr>
              <a:t>Apply online at </a:t>
            </a:r>
            <a:r>
              <a:rPr lang="en-US">
                <a:latin typeface="Gill Sans MT"/>
                <a:hlinkClick r:id="rId3"/>
              </a:rPr>
              <a:t>https://careers.peraton.com</a:t>
            </a:r>
            <a:r>
              <a:rPr lang="en-US">
                <a:latin typeface="Gill Sans MT"/>
              </a:rPr>
              <a:t> for future opportunities with </a:t>
            </a:r>
            <a:r>
              <a:rPr lang="en-US" err="1">
                <a:latin typeface="Gill Sans MT"/>
              </a:rPr>
              <a:t>Peraton</a:t>
            </a:r>
            <a:endParaRPr lang="en-US">
              <a:latin typeface="Gill Sans MT"/>
            </a:endParaRPr>
          </a:p>
          <a:p>
            <a:pPr marL="452120" lvl="1"/>
            <a:r>
              <a:rPr lang="en-US">
                <a:latin typeface="Gill Sans MT"/>
              </a:rPr>
              <a:t>Entry-Level Positions as a Software Engineer, Systems Engineer, Data Scientist, or Cybersecurity Engineer</a:t>
            </a:r>
          </a:p>
          <a:p>
            <a:pPr marL="452120" lvl="1"/>
            <a:r>
              <a:rPr lang="en-US">
                <a:latin typeface="Gill Sans MT"/>
              </a:rPr>
              <a:t>Internship &amp; Co-Op Opportunities</a:t>
            </a:r>
          </a:p>
          <a:p>
            <a:endParaRPr lang="en-US">
              <a:latin typeface="Gill Sans MT"/>
            </a:endParaRPr>
          </a:p>
          <a:p>
            <a:r>
              <a:rPr lang="en-US">
                <a:latin typeface="Gill Sans MT"/>
              </a:rPr>
              <a:t>US citizenship required for all positions</a:t>
            </a:r>
          </a:p>
          <a:p>
            <a:endParaRPr lang="en-US"/>
          </a:p>
        </p:txBody>
      </p:sp>
      <p:sp>
        <p:nvSpPr>
          <p:cNvPr id="3" name="Title 2">
            <a:extLst>
              <a:ext uri="{FF2B5EF4-FFF2-40B4-BE49-F238E27FC236}">
                <a16:creationId xmlns:a16="http://schemas.microsoft.com/office/drawing/2014/main" id="{23DB7E41-D002-9193-DF2D-BD8ADA171C3C}"/>
              </a:ext>
            </a:extLst>
          </p:cNvPr>
          <p:cNvSpPr>
            <a:spLocks noGrp="1"/>
          </p:cNvSpPr>
          <p:nvPr>
            <p:ph type="title"/>
          </p:nvPr>
        </p:nvSpPr>
        <p:spPr>
          <a:xfrm>
            <a:off x="406399" y="549664"/>
            <a:ext cx="11374611" cy="365760"/>
          </a:xfrm>
        </p:spPr>
        <p:txBody>
          <a:bodyPr lIns="0" tIns="45720" rIns="91440" bIns="45720" anchor="b">
            <a:noAutofit/>
          </a:bodyPr>
          <a:lstStyle/>
          <a:p>
            <a:r>
              <a:rPr lang="en-US">
                <a:latin typeface="Gill Sans MT"/>
              </a:rPr>
              <a:t>Ways to Engage with Peraton</a:t>
            </a:r>
          </a:p>
        </p:txBody>
      </p:sp>
      <p:pic>
        <p:nvPicPr>
          <p:cNvPr id="4" name="Picture 4">
            <a:extLst>
              <a:ext uri="{FF2B5EF4-FFF2-40B4-BE49-F238E27FC236}">
                <a16:creationId xmlns:a16="http://schemas.microsoft.com/office/drawing/2014/main" id="{54FF923E-FC9D-A2BA-195C-72DB2CC0F3CA}"/>
              </a:ext>
            </a:extLst>
          </p:cNvPr>
          <p:cNvPicPr>
            <a:picLocks noChangeAspect="1"/>
          </p:cNvPicPr>
          <p:nvPr/>
        </p:nvPicPr>
        <p:blipFill>
          <a:blip r:embed="rId4"/>
          <a:stretch>
            <a:fillRect/>
          </a:stretch>
        </p:blipFill>
        <p:spPr>
          <a:xfrm>
            <a:off x="8078449" y="221078"/>
            <a:ext cx="3811249" cy="2287301"/>
          </a:xfrm>
          <a:prstGeom prst="rect">
            <a:avLst/>
          </a:prstGeom>
        </p:spPr>
      </p:pic>
      <p:pic>
        <p:nvPicPr>
          <p:cNvPr id="5" name="Picture 5">
            <a:extLst>
              <a:ext uri="{FF2B5EF4-FFF2-40B4-BE49-F238E27FC236}">
                <a16:creationId xmlns:a16="http://schemas.microsoft.com/office/drawing/2014/main" id="{09089F57-41A5-9DB1-8778-AA06EEBF7282}"/>
              </a:ext>
            </a:extLst>
          </p:cNvPr>
          <p:cNvPicPr>
            <a:picLocks noChangeAspect="1"/>
          </p:cNvPicPr>
          <p:nvPr/>
        </p:nvPicPr>
        <p:blipFill>
          <a:blip r:embed="rId5"/>
          <a:stretch>
            <a:fillRect/>
          </a:stretch>
        </p:blipFill>
        <p:spPr>
          <a:xfrm>
            <a:off x="8496925" y="2165917"/>
            <a:ext cx="3224134" cy="3219461"/>
          </a:xfrm>
          <a:prstGeom prst="rect">
            <a:avLst/>
          </a:prstGeom>
        </p:spPr>
      </p:pic>
    </p:spTree>
    <p:extLst>
      <p:ext uri="{BB962C8B-B14F-4D97-AF65-F5344CB8AC3E}">
        <p14:creationId xmlns:p14="http://schemas.microsoft.com/office/powerpoint/2010/main" val="59988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A56BF-919E-27C1-761F-C362125252E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611E81A1-29DD-579A-13CA-15437F1A3682}"/>
              </a:ext>
            </a:extLst>
          </p:cNvPr>
          <p:cNvSpPr>
            <a:spLocks noGrp="1"/>
          </p:cNvSpPr>
          <p:nvPr>
            <p:ph type="body" sz="quarter" idx="10"/>
          </p:nvPr>
        </p:nvSpPr>
        <p:spPr/>
        <p:txBody>
          <a:bodyPr lIns="0" tIns="45720" rIns="0" bIns="45720" anchor="t"/>
          <a:lstStyle/>
          <a:p>
            <a:r>
              <a:rPr lang="en-US">
                <a:latin typeface="Gill Sans MT"/>
              </a:rPr>
              <a:t>Front End Web Dev Intro</a:t>
            </a:r>
            <a:endParaRPr lang="en-US"/>
          </a:p>
        </p:txBody>
      </p:sp>
    </p:spTree>
    <p:extLst>
      <p:ext uri="{BB962C8B-B14F-4D97-AF65-F5344CB8AC3E}">
        <p14:creationId xmlns:p14="http://schemas.microsoft.com/office/powerpoint/2010/main" val="3696343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D31BF0A-FD28-D546-A033-1B1EC73A1510}"/>
              </a:ext>
            </a:extLst>
          </p:cNvPr>
          <p:cNvSpPr>
            <a:spLocks noGrp="1"/>
          </p:cNvSpPr>
          <p:nvPr>
            <p:ph idx="1"/>
          </p:nvPr>
        </p:nvSpPr>
        <p:spPr/>
        <p:txBody>
          <a:bodyPr/>
          <a:lstStyle/>
          <a:p>
            <a:r>
              <a:rPr lang="en-US"/>
              <a:t>General knowledge of classic web development languages</a:t>
            </a:r>
          </a:p>
          <a:p>
            <a:pPr lvl="1"/>
            <a:r>
              <a:rPr lang="en-US"/>
              <a:t>HTML</a:t>
            </a:r>
          </a:p>
          <a:p>
            <a:pPr lvl="1"/>
            <a:r>
              <a:rPr lang="en-US"/>
              <a:t>CSS</a:t>
            </a:r>
          </a:p>
          <a:p>
            <a:pPr lvl="1"/>
            <a:r>
              <a:rPr lang="en-US"/>
              <a:t>JS</a:t>
            </a:r>
          </a:p>
          <a:p>
            <a:pPr marL="233363" lvl="1" indent="0">
              <a:buNone/>
            </a:pPr>
            <a:endParaRPr lang="en-US"/>
          </a:p>
          <a:p>
            <a:r>
              <a:rPr lang="en-US"/>
              <a:t>General familiarity with the command line interface (CLI) </a:t>
            </a:r>
          </a:p>
        </p:txBody>
      </p:sp>
      <p:sp>
        <p:nvSpPr>
          <p:cNvPr id="3" name="Title 2">
            <a:extLst>
              <a:ext uri="{FF2B5EF4-FFF2-40B4-BE49-F238E27FC236}">
                <a16:creationId xmlns:a16="http://schemas.microsoft.com/office/drawing/2014/main" id="{6754B95F-519E-702A-1F89-7099E578E2A2}"/>
              </a:ext>
            </a:extLst>
          </p:cNvPr>
          <p:cNvSpPr>
            <a:spLocks noGrp="1"/>
          </p:cNvSpPr>
          <p:nvPr>
            <p:ph type="title"/>
          </p:nvPr>
        </p:nvSpPr>
        <p:spPr/>
        <p:txBody>
          <a:bodyPr/>
          <a:lstStyle/>
          <a:p>
            <a:r>
              <a:rPr lang="en-US"/>
              <a:t>“Prerequisites”</a:t>
            </a:r>
          </a:p>
        </p:txBody>
      </p:sp>
      <p:sp>
        <p:nvSpPr>
          <p:cNvPr id="5" name="Rectangle 4">
            <a:extLst>
              <a:ext uri="{FF2B5EF4-FFF2-40B4-BE49-F238E27FC236}">
                <a16:creationId xmlns:a16="http://schemas.microsoft.com/office/drawing/2014/main" id="{781134C3-D049-8896-4029-905DC25A1836}"/>
              </a:ext>
            </a:extLst>
          </p:cNvPr>
          <p:cNvSpPr/>
          <p:nvPr/>
        </p:nvSpPr>
        <p:spPr>
          <a:xfrm>
            <a:off x="0" y="5539563"/>
            <a:ext cx="12192000" cy="558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Additional Resources on “Prerequisites” Included at End of Presentation</a:t>
            </a:r>
          </a:p>
        </p:txBody>
      </p:sp>
    </p:spTree>
    <p:extLst>
      <p:ext uri="{BB962C8B-B14F-4D97-AF65-F5344CB8AC3E}">
        <p14:creationId xmlns:p14="http://schemas.microsoft.com/office/powerpoint/2010/main" val="3618248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61682E-B675-70ED-42FD-58E035C1B508}"/>
              </a:ext>
            </a:extLst>
          </p:cNvPr>
          <p:cNvSpPr>
            <a:spLocks noGrp="1"/>
          </p:cNvSpPr>
          <p:nvPr>
            <p:ph idx="1"/>
          </p:nvPr>
        </p:nvSpPr>
        <p:spPr>
          <a:xfrm>
            <a:off x="401811" y="1042539"/>
            <a:ext cx="5690296" cy="4543908"/>
          </a:xfrm>
          <a:ln w="6350">
            <a:solidFill>
              <a:schemeClr val="accent1"/>
            </a:solidFill>
          </a:ln>
        </p:spPr>
        <p:txBody>
          <a:bodyPr lIns="91440" tIns="45720" rIns="91440" bIns="45720" anchor="t">
            <a:normAutofit/>
          </a:bodyPr>
          <a:lstStyle/>
          <a:p>
            <a:pPr marL="0" indent="0" algn="ctr">
              <a:lnSpc>
                <a:spcPct val="120000"/>
              </a:lnSpc>
              <a:spcBef>
                <a:spcPts val="600"/>
              </a:spcBef>
              <a:buNone/>
            </a:pPr>
            <a:r>
              <a:rPr lang="en-US">
                <a:latin typeface="Gill Sans MT"/>
              </a:rPr>
              <a:t>Frontend</a:t>
            </a:r>
            <a:endParaRPr lang="en-US"/>
          </a:p>
          <a:p>
            <a:pPr marL="0" indent="0" algn="ctr">
              <a:buNone/>
            </a:pPr>
            <a:endParaRPr lang="en-US">
              <a:latin typeface="Gill Sans MT"/>
            </a:endParaRPr>
          </a:p>
          <a:p>
            <a:pPr marL="342900" indent="-342900"/>
            <a:r>
              <a:rPr lang="en-US">
                <a:latin typeface="Gill Sans MT"/>
              </a:rPr>
              <a:t>HTML and CSS code make visual structures on the website</a:t>
            </a:r>
          </a:p>
          <a:p>
            <a:pPr marL="452120" lvl="1"/>
            <a:r>
              <a:rPr lang="en-US">
                <a:latin typeface="Gill Sans MT"/>
              </a:rPr>
              <a:t>Each structure is called an element</a:t>
            </a:r>
          </a:p>
          <a:p>
            <a:pPr marL="452120" lvl="1"/>
            <a:r>
              <a:rPr lang="en-US">
                <a:latin typeface="Gill Sans MT"/>
              </a:rPr>
              <a:t>Ex. - text boxes, buttons, images, cards, navigation bar</a:t>
            </a:r>
          </a:p>
          <a:p>
            <a:r>
              <a:rPr lang="en-US">
                <a:latin typeface="Gill Sans MT"/>
              </a:rPr>
              <a:t>JS and other code give functionality to the website</a:t>
            </a:r>
          </a:p>
          <a:p>
            <a:pPr marL="452120" lvl="1"/>
            <a:r>
              <a:rPr lang="en-US">
                <a:latin typeface="Gill Sans MT"/>
              </a:rPr>
              <a:t>Ex. - buttons do something when clicked</a:t>
            </a:r>
          </a:p>
          <a:p>
            <a:pPr marL="452120" lvl="1"/>
            <a:r>
              <a:rPr lang="en-US">
                <a:latin typeface="Gill Sans MT"/>
              </a:rPr>
              <a:t>Ex. - info from the backend can be pulled and shown </a:t>
            </a:r>
          </a:p>
        </p:txBody>
      </p:sp>
      <p:sp>
        <p:nvSpPr>
          <p:cNvPr id="9" name="Content Placeholder 1">
            <a:extLst>
              <a:ext uri="{FF2B5EF4-FFF2-40B4-BE49-F238E27FC236}">
                <a16:creationId xmlns:a16="http://schemas.microsoft.com/office/drawing/2014/main" id="{EA5544B0-836C-0CC6-49BE-A028E5F85A7B}"/>
              </a:ext>
            </a:extLst>
          </p:cNvPr>
          <p:cNvSpPr txBox="1">
            <a:spLocks/>
          </p:cNvSpPr>
          <p:nvPr/>
        </p:nvSpPr>
        <p:spPr>
          <a:xfrm>
            <a:off x="6096961" y="1051911"/>
            <a:ext cx="5688587" cy="4533470"/>
          </a:xfrm>
          <a:prstGeom prst="rect">
            <a:avLst/>
          </a:prstGeom>
          <a:ln w="6350">
            <a:solidFill>
              <a:schemeClr val="accent1"/>
            </a:solidFill>
          </a:ln>
        </p:spPr>
        <p:txBody>
          <a:bodyPr lIns="91440" tIns="45720" rIns="91440" bIns="45720" anchor="t">
            <a:normAutofit/>
          </a:bodyPr>
          <a:lstStyle>
            <a:lvl1pPr marL="231775" indent="-231775" algn="l" defTabSz="914400" rtl="0" eaLnBrk="1" latinLnBrk="0" hangingPunct="1">
              <a:lnSpc>
                <a:spcPct val="90000"/>
              </a:lnSpc>
              <a:spcBef>
                <a:spcPts val="200"/>
              </a:spcBef>
              <a:spcAft>
                <a:spcPts val="400"/>
              </a:spcAft>
              <a:buClr>
                <a:srgbClr val="00AEEF"/>
              </a:buClr>
              <a:buSzPct val="90000"/>
              <a:buFont typeface="Wingdings" pitchFamily="2" charset="2"/>
              <a:buChar char="§"/>
              <a:defRPr sz="2400" kern="1200" baseline="0">
                <a:solidFill>
                  <a:srgbClr val="315EAB"/>
                </a:solidFill>
                <a:latin typeface="Gill Sans MT" panose="020B0502020104020203" pitchFamily="34" charset="77"/>
                <a:ea typeface="+mn-ea"/>
                <a:cs typeface="+mn-cs"/>
              </a:defRPr>
            </a:lvl1pPr>
            <a:lvl2pPr marL="452438" indent="-219075"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2000" kern="1200" baseline="0">
                <a:solidFill>
                  <a:schemeClr val="bg1">
                    <a:lumMod val="65000"/>
                  </a:schemeClr>
                </a:solidFill>
                <a:latin typeface="Gill Sans MT" panose="020B0502020104020203" pitchFamily="34" charset="77"/>
                <a:ea typeface="+mn-ea"/>
                <a:cs typeface="+mn-cs"/>
              </a:defRPr>
            </a:lvl2pPr>
            <a:lvl3pPr marL="690563" indent="-228600"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1800" kern="1200" baseline="0">
                <a:solidFill>
                  <a:schemeClr val="bg1">
                    <a:lumMod val="65000"/>
                  </a:schemeClr>
                </a:solidFill>
                <a:latin typeface="Gill Sans MT" panose="020B0502020104020203" pitchFamily="34" charset="77"/>
                <a:ea typeface="+mn-ea"/>
                <a:cs typeface="+mn-cs"/>
              </a:defRPr>
            </a:lvl3pPr>
            <a:lvl4pPr marL="914400" indent="-223838" algn="l" defTabSz="914400" rtl="0" eaLnBrk="1" latinLnBrk="0" hangingPunct="1">
              <a:lnSpc>
                <a:spcPct val="90000"/>
              </a:lnSpc>
              <a:spcBef>
                <a:spcPts val="200"/>
              </a:spcBef>
              <a:spcAft>
                <a:spcPts val="400"/>
              </a:spcAft>
              <a:buClr>
                <a:srgbClr val="00AEEF"/>
              </a:buClr>
              <a:buSzPct val="90000"/>
              <a:buFont typeface="Calibri" pitchFamily="34" charset="0"/>
              <a:buChar char="‐"/>
              <a:defRPr sz="1600" kern="1200" baseline="0">
                <a:solidFill>
                  <a:schemeClr val="bg1">
                    <a:lumMod val="65000"/>
                  </a:schemeClr>
                </a:solidFill>
                <a:latin typeface="Gill Sans MT" panose="020B0502020104020203" pitchFamily="34" charset="77"/>
                <a:ea typeface="+mn-ea"/>
                <a:cs typeface="+mn-cs"/>
              </a:defRPr>
            </a:lvl4pPr>
            <a:lvl5pPr marL="1146175" indent="-231775" algn="l" defTabSz="914400" rtl="0" eaLnBrk="1" latinLnBrk="0" hangingPunct="1">
              <a:lnSpc>
                <a:spcPct val="90000"/>
              </a:lnSpc>
              <a:spcBef>
                <a:spcPts val="200"/>
              </a:spcBef>
              <a:spcAft>
                <a:spcPts val="400"/>
              </a:spcAft>
              <a:buClr>
                <a:srgbClr val="00AEEF"/>
              </a:buClr>
              <a:buSzPct val="90000"/>
              <a:buFont typeface="Calibri" pitchFamily="34" charset="0"/>
              <a:buChar char="‐"/>
              <a:defRPr sz="1400" kern="1200" baseline="0">
                <a:solidFill>
                  <a:schemeClr val="bg1">
                    <a:lumMod val="65000"/>
                  </a:schemeClr>
                </a:solidFill>
                <a:latin typeface="Gill Sans MT" panose="020B050202010402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ts val="600"/>
              </a:spcBef>
              <a:buNone/>
            </a:pPr>
            <a:r>
              <a:rPr lang="en-US">
                <a:latin typeface="Gill Sans MT"/>
              </a:rPr>
              <a:t>Backend</a:t>
            </a:r>
          </a:p>
          <a:p>
            <a:endParaRPr lang="en-US"/>
          </a:p>
          <a:p>
            <a:r>
              <a:rPr lang="en-US">
                <a:latin typeface="Gill Sans MT"/>
              </a:rPr>
              <a:t>The data and services that support your website</a:t>
            </a:r>
          </a:p>
          <a:p>
            <a:r>
              <a:rPr lang="en-US">
                <a:latin typeface="Gill Sans MT"/>
              </a:rPr>
              <a:t>Could include Python, Java, or other code</a:t>
            </a:r>
          </a:p>
          <a:p>
            <a:endParaRPr lang="en-US">
              <a:latin typeface="Gill Sans MT"/>
            </a:endParaRPr>
          </a:p>
          <a:p>
            <a:r>
              <a:rPr lang="en-US">
                <a:latin typeface="Gill Sans MT"/>
              </a:rPr>
              <a:t>Ex. Databases and  API calls</a:t>
            </a:r>
            <a:endParaRPr lang="en-US"/>
          </a:p>
        </p:txBody>
      </p:sp>
      <p:sp>
        <p:nvSpPr>
          <p:cNvPr id="3" name="Title 2">
            <a:extLst>
              <a:ext uri="{FF2B5EF4-FFF2-40B4-BE49-F238E27FC236}">
                <a16:creationId xmlns:a16="http://schemas.microsoft.com/office/drawing/2014/main" id="{6D1098D9-ABF8-ED88-3F6F-65A056A93EAB}"/>
              </a:ext>
            </a:extLst>
          </p:cNvPr>
          <p:cNvSpPr>
            <a:spLocks noGrp="1"/>
          </p:cNvSpPr>
          <p:nvPr>
            <p:ph type="title"/>
          </p:nvPr>
        </p:nvSpPr>
        <p:spPr/>
        <p:txBody>
          <a:bodyPr lIns="0" tIns="45720" rIns="91440" bIns="45720" anchor="b">
            <a:noAutofit/>
          </a:bodyPr>
          <a:lstStyle/>
          <a:p>
            <a:r>
              <a:rPr lang="en-US">
                <a:latin typeface="Gill Sans MT"/>
              </a:rPr>
              <a:t>What makes a website?</a:t>
            </a:r>
            <a:endParaRPr lang="en-US"/>
          </a:p>
        </p:txBody>
      </p:sp>
      <p:sp>
        <p:nvSpPr>
          <p:cNvPr id="10" name="Rectangle 9">
            <a:extLst>
              <a:ext uri="{FF2B5EF4-FFF2-40B4-BE49-F238E27FC236}">
                <a16:creationId xmlns:a16="http://schemas.microsoft.com/office/drawing/2014/main" id="{B3A1C299-8E90-09F6-6301-A1078D0025E1}"/>
              </a:ext>
            </a:extLst>
          </p:cNvPr>
          <p:cNvSpPr/>
          <p:nvPr/>
        </p:nvSpPr>
        <p:spPr>
          <a:xfrm>
            <a:off x="0" y="5869172"/>
            <a:ext cx="12192000" cy="446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Frontend + Backend Work Together to Build a Functional Website</a:t>
            </a:r>
          </a:p>
        </p:txBody>
      </p:sp>
    </p:spTree>
    <p:extLst>
      <p:ext uri="{BB962C8B-B14F-4D97-AF65-F5344CB8AC3E}">
        <p14:creationId xmlns:p14="http://schemas.microsoft.com/office/powerpoint/2010/main" val="3216629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D2C54E-4912-9654-F7BF-CA9C4181B38B}"/>
              </a:ext>
            </a:extLst>
          </p:cNvPr>
          <p:cNvSpPr>
            <a:spLocks noGrp="1"/>
          </p:cNvSpPr>
          <p:nvPr>
            <p:ph idx="1"/>
          </p:nvPr>
        </p:nvSpPr>
        <p:spPr/>
        <p:txBody>
          <a:bodyPr lIns="91440" tIns="45720" rIns="91440" bIns="45720" anchor="t">
            <a:normAutofit/>
          </a:bodyPr>
          <a:lstStyle/>
          <a:p>
            <a:r>
              <a:rPr lang="en-US">
                <a:latin typeface="Gill Sans MT"/>
              </a:rPr>
              <a:t>Framework: </a:t>
            </a:r>
          </a:p>
          <a:p>
            <a:pPr lvl="1"/>
            <a:r>
              <a:rPr lang="en-US">
                <a:latin typeface="Gill Sans MT"/>
              </a:rPr>
              <a:t>A way of structuring your frontend files and code to support a fast and responsive website across multiple pages and complex functionality</a:t>
            </a:r>
          </a:p>
          <a:p>
            <a:pPr lvl="1"/>
            <a:r>
              <a:rPr lang="en-US">
                <a:latin typeface="Gill Sans MT"/>
              </a:rPr>
              <a:t>Provides tools, libraries, and other resources to speed development</a:t>
            </a:r>
            <a:endParaRPr lang="en-US"/>
          </a:p>
          <a:p>
            <a:pPr lvl="1"/>
            <a:r>
              <a:rPr lang="en-US">
                <a:latin typeface="Gill Sans MT"/>
              </a:rPr>
              <a:t>Still uses classic HTML, CSS, and JavaScript</a:t>
            </a:r>
          </a:p>
          <a:p>
            <a:r>
              <a:rPr lang="en-US">
                <a:latin typeface="Gill Sans MT"/>
              </a:rPr>
              <a:t>Library</a:t>
            </a:r>
          </a:p>
          <a:p>
            <a:pPr lvl="1"/>
            <a:r>
              <a:rPr lang="en-US">
                <a:latin typeface="Gill Sans MT"/>
              </a:rPr>
              <a:t>Target specific functionality</a:t>
            </a:r>
          </a:p>
          <a:p>
            <a:pPr lvl="1"/>
            <a:endParaRPr lang="en-US"/>
          </a:p>
        </p:txBody>
      </p:sp>
      <p:sp>
        <p:nvSpPr>
          <p:cNvPr id="3" name="Title 2">
            <a:extLst>
              <a:ext uri="{FF2B5EF4-FFF2-40B4-BE49-F238E27FC236}">
                <a16:creationId xmlns:a16="http://schemas.microsoft.com/office/drawing/2014/main" id="{7C2CD9C4-EDF9-6EA4-7FBE-A62D6A1759D8}"/>
              </a:ext>
            </a:extLst>
          </p:cNvPr>
          <p:cNvSpPr>
            <a:spLocks noGrp="1"/>
          </p:cNvSpPr>
          <p:nvPr>
            <p:ph type="title"/>
          </p:nvPr>
        </p:nvSpPr>
        <p:spPr/>
        <p:txBody>
          <a:bodyPr lIns="0" tIns="45720" rIns="91440" bIns="45720" anchor="b">
            <a:noAutofit/>
          </a:bodyPr>
          <a:lstStyle/>
          <a:p>
            <a:r>
              <a:rPr lang="en-US">
                <a:latin typeface="Gill Sans MT"/>
              </a:rPr>
              <a:t>What is a Framework? What is a Library?</a:t>
            </a:r>
            <a:endParaRPr lang="en-US"/>
          </a:p>
        </p:txBody>
      </p:sp>
      <p:pic>
        <p:nvPicPr>
          <p:cNvPr id="4" name="Picture 3" descr="Angular — Basic to Advance — Every Concept Explained! — part 1 | by Rushabh  Dabhade | Medium">
            <a:extLst>
              <a:ext uri="{FF2B5EF4-FFF2-40B4-BE49-F238E27FC236}">
                <a16:creationId xmlns:a16="http://schemas.microsoft.com/office/drawing/2014/main" id="{FB937315-3257-48EE-70FD-F29305B1C2A4}"/>
              </a:ext>
            </a:extLst>
          </p:cNvPr>
          <p:cNvPicPr>
            <a:picLocks noChangeAspect="1"/>
          </p:cNvPicPr>
          <p:nvPr/>
        </p:nvPicPr>
        <p:blipFill>
          <a:blip r:embed="rId3"/>
          <a:stretch>
            <a:fillRect/>
          </a:stretch>
        </p:blipFill>
        <p:spPr>
          <a:xfrm>
            <a:off x="559496" y="3568706"/>
            <a:ext cx="2743200" cy="1369848"/>
          </a:xfrm>
          <a:prstGeom prst="rect">
            <a:avLst/>
          </a:prstGeom>
        </p:spPr>
      </p:pic>
      <p:pic>
        <p:nvPicPr>
          <p:cNvPr id="5" name="Picture 4" descr="react-native-web · GitHub Topics · GitHub">
            <a:extLst>
              <a:ext uri="{FF2B5EF4-FFF2-40B4-BE49-F238E27FC236}">
                <a16:creationId xmlns:a16="http://schemas.microsoft.com/office/drawing/2014/main" id="{BDE60B84-5BBC-38B4-741D-8137EFF776B8}"/>
              </a:ext>
            </a:extLst>
          </p:cNvPr>
          <p:cNvPicPr>
            <a:picLocks noChangeAspect="1"/>
          </p:cNvPicPr>
          <p:nvPr/>
        </p:nvPicPr>
        <p:blipFill>
          <a:blip r:embed="rId4"/>
          <a:stretch>
            <a:fillRect/>
          </a:stretch>
        </p:blipFill>
        <p:spPr>
          <a:xfrm>
            <a:off x="2313140" y="4579124"/>
            <a:ext cx="2743200" cy="1520190"/>
          </a:xfrm>
          <a:prstGeom prst="rect">
            <a:avLst/>
          </a:prstGeom>
        </p:spPr>
      </p:pic>
      <p:pic>
        <p:nvPicPr>
          <p:cNvPr id="7" name="Picture 6" descr="Trying out Svelte: Framework without a framework">
            <a:extLst>
              <a:ext uri="{FF2B5EF4-FFF2-40B4-BE49-F238E27FC236}">
                <a16:creationId xmlns:a16="http://schemas.microsoft.com/office/drawing/2014/main" id="{FD94ED4E-9513-FF39-6021-71E8765398B4}"/>
              </a:ext>
            </a:extLst>
          </p:cNvPr>
          <p:cNvPicPr>
            <a:picLocks noChangeAspect="1"/>
          </p:cNvPicPr>
          <p:nvPr/>
        </p:nvPicPr>
        <p:blipFill>
          <a:blip r:embed="rId5"/>
          <a:stretch>
            <a:fillRect/>
          </a:stretch>
        </p:blipFill>
        <p:spPr>
          <a:xfrm>
            <a:off x="6540675" y="4533152"/>
            <a:ext cx="2931088" cy="1434683"/>
          </a:xfrm>
          <a:prstGeom prst="rect">
            <a:avLst/>
          </a:prstGeom>
        </p:spPr>
      </p:pic>
      <p:pic>
        <p:nvPicPr>
          <p:cNvPr id="8" name="Picture 7" descr="VueJS | | UK based Software Engineering, App Development | NorthLink Digital">
            <a:extLst>
              <a:ext uri="{FF2B5EF4-FFF2-40B4-BE49-F238E27FC236}">
                <a16:creationId xmlns:a16="http://schemas.microsoft.com/office/drawing/2014/main" id="{B5782275-F1BF-A1C4-BFBE-FCC4E8F4E1BD}"/>
              </a:ext>
            </a:extLst>
          </p:cNvPr>
          <p:cNvPicPr>
            <a:picLocks noChangeAspect="1"/>
          </p:cNvPicPr>
          <p:nvPr/>
        </p:nvPicPr>
        <p:blipFill>
          <a:blip r:embed="rId6"/>
          <a:stretch>
            <a:fillRect/>
          </a:stretch>
        </p:blipFill>
        <p:spPr>
          <a:xfrm>
            <a:off x="8492645" y="3472423"/>
            <a:ext cx="2450927" cy="1468469"/>
          </a:xfrm>
          <a:prstGeom prst="rect">
            <a:avLst/>
          </a:prstGeom>
        </p:spPr>
      </p:pic>
      <p:pic>
        <p:nvPicPr>
          <p:cNvPr id="9" name="Picture 8" descr="Preact | Fandom Developers Wiki | Fandom">
            <a:extLst>
              <a:ext uri="{FF2B5EF4-FFF2-40B4-BE49-F238E27FC236}">
                <a16:creationId xmlns:a16="http://schemas.microsoft.com/office/drawing/2014/main" id="{5E1B77AD-7D97-9398-8E91-5525C8162C22}"/>
              </a:ext>
            </a:extLst>
          </p:cNvPr>
          <p:cNvPicPr>
            <a:picLocks noChangeAspect="1"/>
          </p:cNvPicPr>
          <p:nvPr/>
        </p:nvPicPr>
        <p:blipFill>
          <a:blip r:embed="rId7"/>
          <a:stretch>
            <a:fillRect/>
          </a:stretch>
        </p:blipFill>
        <p:spPr>
          <a:xfrm>
            <a:off x="4636169" y="3842244"/>
            <a:ext cx="2743198" cy="825847"/>
          </a:xfrm>
          <a:prstGeom prst="rect">
            <a:avLst/>
          </a:prstGeom>
        </p:spPr>
      </p:pic>
      <p:sp>
        <p:nvSpPr>
          <p:cNvPr id="6" name="Rectangle 5">
            <a:extLst>
              <a:ext uri="{FF2B5EF4-FFF2-40B4-BE49-F238E27FC236}">
                <a16:creationId xmlns:a16="http://schemas.microsoft.com/office/drawing/2014/main" id="{63A60860-B265-6C4C-A72A-D324504F21A7}"/>
              </a:ext>
            </a:extLst>
          </p:cNvPr>
          <p:cNvSpPr/>
          <p:nvPr/>
        </p:nvSpPr>
        <p:spPr>
          <a:xfrm>
            <a:off x="2158773" y="4748910"/>
            <a:ext cx="3107814" cy="1218925"/>
          </a:xfrm>
          <a:prstGeom prst="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2205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2413A8-6E98-D329-EA96-3668A653FE35}"/>
              </a:ext>
            </a:extLst>
          </p:cNvPr>
          <p:cNvSpPr>
            <a:spLocks noGrp="1"/>
          </p:cNvSpPr>
          <p:nvPr>
            <p:ph idx="1"/>
          </p:nvPr>
        </p:nvSpPr>
        <p:spPr/>
        <p:txBody>
          <a:bodyPr lIns="91440" tIns="45720" rIns="91440" bIns="45720" anchor="t">
            <a:normAutofit/>
          </a:bodyPr>
          <a:lstStyle/>
          <a:p>
            <a:r>
              <a:rPr lang="en-US">
                <a:latin typeface="Gill Sans MT"/>
              </a:rPr>
              <a:t>Document Object Model (DOM) </a:t>
            </a:r>
          </a:p>
          <a:p>
            <a:pPr lvl="1"/>
            <a:r>
              <a:rPr lang="en-US">
                <a:latin typeface="Gill Sans MT"/>
              </a:rPr>
              <a:t>Document: contains the entire web page displayed in browser window</a:t>
            </a:r>
          </a:p>
          <a:p>
            <a:pPr marL="233363" lvl="1" indent="0">
              <a:buNone/>
            </a:pPr>
            <a:endParaRPr lang="en-US">
              <a:latin typeface="Gill Sans MT"/>
            </a:endParaRPr>
          </a:p>
          <a:p>
            <a:r>
              <a:rPr lang="en-US">
                <a:latin typeface="Gill Sans MT"/>
              </a:rPr>
              <a:t>A tree representation of all elements on the website page</a:t>
            </a:r>
          </a:p>
          <a:p>
            <a:endParaRPr lang="en-US"/>
          </a:p>
          <a:p>
            <a:pPr marL="0" indent="0">
              <a:buNone/>
            </a:pPr>
            <a:r>
              <a:rPr lang="en-US">
                <a:latin typeface="Gill Sans MT"/>
              </a:rPr>
              <a:t>Helps us:</a:t>
            </a:r>
          </a:p>
          <a:p>
            <a:r>
              <a:rPr lang="en-US">
                <a:latin typeface="Gill Sans MT"/>
              </a:rPr>
              <a:t>Visualize the parent-child relationship</a:t>
            </a:r>
            <a:br>
              <a:rPr lang="en-US">
                <a:latin typeface="Gill Sans MT"/>
              </a:rPr>
            </a:br>
            <a:r>
              <a:rPr lang="en-US">
                <a:latin typeface="Gill Sans MT"/>
              </a:rPr>
              <a:t>between elements</a:t>
            </a:r>
          </a:p>
          <a:p>
            <a:r>
              <a:rPr lang="en-US">
                <a:latin typeface="Gill Sans MT"/>
              </a:rPr>
              <a:t>Understand how to modify and switch out</a:t>
            </a:r>
            <a:br>
              <a:rPr lang="en-US">
                <a:latin typeface="Gill Sans MT"/>
              </a:rPr>
            </a:br>
            <a:r>
              <a:rPr lang="en-US">
                <a:latin typeface="Gill Sans MT"/>
              </a:rPr>
              <a:t>certain chunks of the page</a:t>
            </a:r>
            <a:endParaRPr lang="en-US"/>
          </a:p>
          <a:p>
            <a:endParaRPr lang="en-US">
              <a:latin typeface="Gill Sans MT"/>
            </a:endParaRPr>
          </a:p>
          <a:p>
            <a:endParaRPr lang="en-US">
              <a:latin typeface="Gill Sans MT"/>
            </a:endParaRPr>
          </a:p>
        </p:txBody>
      </p:sp>
      <p:pic>
        <p:nvPicPr>
          <p:cNvPr id="4" name="Picture 3" descr="JavaScript, the Browser, and the DOM">
            <a:extLst>
              <a:ext uri="{FF2B5EF4-FFF2-40B4-BE49-F238E27FC236}">
                <a16:creationId xmlns:a16="http://schemas.microsoft.com/office/drawing/2014/main" id="{0300BBA1-FC19-9345-943D-FD830AE9D587}"/>
              </a:ext>
            </a:extLst>
          </p:cNvPr>
          <p:cNvPicPr>
            <a:picLocks noChangeAspect="1"/>
          </p:cNvPicPr>
          <p:nvPr/>
        </p:nvPicPr>
        <p:blipFill>
          <a:blip r:embed="rId4"/>
          <a:stretch>
            <a:fillRect/>
          </a:stretch>
        </p:blipFill>
        <p:spPr>
          <a:xfrm>
            <a:off x="6151412" y="1635012"/>
            <a:ext cx="5415417" cy="3900199"/>
          </a:xfrm>
          <a:prstGeom prst="rect">
            <a:avLst/>
          </a:prstGeom>
        </p:spPr>
      </p:pic>
      <p:sp>
        <p:nvSpPr>
          <p:cNvPr id="6" name="Title 5">
            <a:extLst>
              <a:ext uri="{FF2B5EF4-FFF2-40B4-BE49-F238E27FC236}">
                <a16:creationId xmlns:a16="http://schemas.microsoft.com/office/drawing/2014/main" id="{EBF53328-354B-38F9-CF04-B548527C2777}"/>
              </a:ext>
            </a:extLst>
          </p:cNvPr>
          <p:cNvSpPr>
            <a:spLocks noGrp="1"/>
          </p:cNvSpPr>
          <p:nvPr>
            <p:ph type="title"/>
          </p:nvPr>
        </p:nvSpPr>
        <p:spPr/>
        <p:txBody>
          <a:bodyPr lIns="0" tIns="45720" rIns="91440" bIns="45720" anchor="b">
            <a:noAutofit/>
          </a:bodyPr>
          <a:lstStyle/>
          <a:p>
            <a:r>
              <a:rPr lang="en-US"/>
              <a:t>How Can We Visualize + Represent Websites?</a:t>
            </a:r>
          </a:p>
        </p:txBody>
      </p:sp>
      <p:sp>
        <p:nvSpPr>
          <p:cNvPr id="3" name="Rectangle 2">
            <a:extLst>
              <a:ext uri="{FF2B5EF4-FFF2-40B4-BE49-F238E27FC236}">
                <a16:creationId xmlns:a16="http://schemas.microsoft.com/office/drawing/2014/main" id="{AE8670D5-364E-04D1-0670-3279FDEC42E9}"/>
              </a:ext>
            </a:extLst>
          </p:cNvPr>
          <p:cNvSpPr/>
          <p:nvPr/>
        </p:nvSpPr>
        <p:spPr>
          <a:xfrm>
            <a:off x="0" y="5869172"/>
            <a:ext cx="12192000" cy="446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This is a Way For Humans and Browsers to Represent and Understand the Different Elements in a Web Page</a:t>
            </a:r>
          </a:p>
        </p:txBody>
      </p:sp>
    </p:spTree>
    <p:extLst>
      <p:ext uri="{BB962C8B-B14F-4D97-AF65-F5344CB8AC3E}">
        <p14:creationId xmlns:p14="http://schemas.microsoft.com/office/powerpoint/2010/main" val="2554387590"/>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212869-620D-105B-946A-09F865558245}"/>
              </a:ext>
            </a:extLst>
          </p:cNvPr>
          <p:cNvSpPr>
            <a:spLocks noGrp="1"/>
          </p:cNvSpPr>
          <p:nvPr>
            <p:ph type="title"/>
          </p:nvPr>
        </p:nvSpPr>
        <p:spPr>
          <a:xfrm>
            <a:off x="406399" y="449730"/>
            <a:ext cx="11374611" cy="365760"/>
          </a:xfrm>
        </p:spPr>
        <p:txBody>
          <a:bodyPr lIns="0" tIns="45720" rIns="91440" bIns="45720" anchor="b">
            <a:noAutofit/>
          </a:bodyPr>
          <a:lstStyle/>
          <a:p>
            <a:r>
              <a:rPr lang="en-US"/>
              <a:t>Representing Elements on a Page Using the DOM</a:t>
            </a:r>
          </a:p>
        </p:txBody>
      </p:sp>
      <p:pic>
        <p:nvPicPr>
          <p:cNvPr id="5" name="Picture 4" descr="JavaScript, the Browser, and the DOM">
            <a:extLst>
              <a:ext uri="{FF2B5EF4-FFF2-40B4-BE49-F238E27FC236}">
                <a16:creationId xmlns:a16="http://schemas.microsoft.com/office/drawing/2014/main" id="{AE832403-7A3A-8B73-EDAC-FA7102581BE9}"/>
              </a:ext>
            </a:extLst>
          </p:cNvPr>
          <p:cNvPicPr>
            <a:picLocks noChangeAspect="1"/>
          </p:cNvPicPr>
          <p:nvPr/>
        </p:nvPicPr>
        <p:blipFill>
          <a:blip r:embed="rId4"/>
          <a:stretch>
            <a:fillRect/>
          </a:stretch>
        </p:blipFill>
        <p:spPr>
          <a:xfrm>
            <a:off x="444676" y="1126160"/>
            <a:ext cx="4716048" cy="3388720"/>
          </a:xfrm>
          <a:prstGeom prst="rect">
            <a:avLst/>
          </a:prstGeom>
        </p:spPr>
      </p:pic>
      <p:pic>
        <p:nvPicPr>
          <p:cNvPr id="10" name="Picture 9">
            <a:extLst>
              <a:ext uri="{FF2B5EF4-FFF2-40B4-BE49-F238E27FC236}">
                <a16:creationId xmlns:a16="http://schemas.microsoft.com/office/drawing/2014/main" id="{F54582E8-1C29-A032-5443-31EF601BB46F}"/>
              </a:ext>
            </a:extLst>
          </p:cNvPr>
          <p:cNvPicPr>
            <a:picLocks noChangeAspect="1"/>
          </p:cNvPicPr>
          <p:nvPr/>
        </p:nvPicPr>
        <p:blipFill>
          <a:blip r:embed="rId5"/>
          <a:stretch>
            <a:fillRect/>
          </a:stretch>
        </p:blipFill>
        <p:spPr>
          <a:xfrm>
            <a:off x="5522151" y="2051965"/>
            <a:ext cx="6408629" cy="3922735"/>
          </a:xfrm>
          <a:prstGeom prst="rect">
            <a:avLst/>
          </a:prstGeom>
        </p:spPr>
      </p:pic>
      <p:cxnSp>
        <p:nvCxnSpPr>
          <p:cNvPr id="11" name="Straight Arrow Connector 10">
            <a:extLst>
              <a:ext uri="{FF2B5EF4-FFF2-40B4-BE49-F238E27FC236}">
                <a16:creationId xmlns:a16="http://schemas.microsoft.com/office/drawing/2014/main" id="{22C06B59-23E5-F490-E89B-3073CB07EDA5}"/>
              </a:ext>
            </a:extLst>
          </p:cNvPr>
          <p:cNvCxnSpPr>
            <a:cxnSpLocks/>
          </p:cNvCxnSpPr>
          <p:nvPr/>
        </p:nvCxnSpPr>
        <p:spPr>
          <a:xfrm flipV="1">
            <a:off x="4334005" y="2137144"/>
            <a:ext cx="1373687" cy="987055"/>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997383C-3933-CEA0-6E76-5BF5E84E8FAD}"/>
              </a:ext>
            </a:extLst>
          </p:cNvPr>
          <p:cNvCxnSpPr>
            <a:cxnSpLocks/>
          </p:cNvCxnSpPr>
          <p:nvPr/>
        </p:nvCxnSpPr>
        <p:spPr>
          <a:xfrm flipV="1">
            <a:off x="3817088" y="2594344"/>
            <a:ext cx="2030819" cy="1063256"/>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7E71ABA-18F4-BF3A-9C19-0D4AF74D7EB2}"/>
              </a:ext>
            </a:extLst>
          </p:cNvPr>
          <p:cNvCxnSpPr>
            <a:cxnSpLocks/>
          </p:cNvCxnSpPr>
          <p:nvPr/>
        </p:nvCxnSpPr>
        <p:spPr>
          <a:xfrm flipV="1">
            <a:off x="3615070" y="2849526"/>
            <a:ext cx="2092622" cy="149919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4190E87-3D5A-7D8D-956B-BF9FC1EEC4D9}"/>
              </a:ext>
            </a:extLst>
          </p:cNvPr>
          <p:cNvCxnSpPr>
            <a:cxnSpLocks/>
          </p:cNvCxnSpPr>
          <p:nvPr/>
        </p:nvCxnSpPr>
        <p:spPr>
          <a:xfrm flipV="1">
            <a:off x="4312086" y="3870251"/>
            <a:ext cx="1395606" cy="467295"/>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0915853-B5D0-1E39-972B-DCB32A25170A}"/>
              </a:ext>
            </a:extLst>
          </p:cNvPr>
          <p:cNvSpPr txBox="1"/>
          <p:nvPr/>
        </p:nvSpPr>
        <p:spPr>
          <a:xfrm>
            <a:off x="5517715" y="893524"/>
            <a:ext cx="573900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315EAB"/>
                </a:solidFill>
                <a:latin typeface="Gill Sans MT"/>
              </a:rPr>
              <a:t>&lt;h1&gt; is inside a &lt;div&gt; which is inside the &lt;body&gt; inside the &lt;html&gt; page</a:t>
            </a:r>
            <a:endParaRPr lang="en-US" sz="2000">
              <a:cs typeface="Calibri" panose="020F0502020204030204"/>
            </a:endParaRPr>
          </a:p>
        </p:txBody>
      </p:sp>
    </p:spTree>
    <p:extLst>
      <p:ext uri="{BB962C8B-B14F-4D97-AF65-F5344CB8AC3E}">
        <p14:creationId xmlns:p14="http://schemas.microsoft.com/office/powerpoint/2010/main" val="2120918805"/>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88986-1EA7-FC17-F473-7CE259E3F7C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BBB1EC6-F859-08D8-D4FA-2651259EEE87}"/>
              </a:ext>
            </a:extLst>
          </p:cNvPr>
          <p:cNvSpPr>
            <a:spLocks noGrp="1"/>
          </p:cNvSpPr>
          <p:nvPr>
            <p:ph idx="1"/>
          </p:nvPr>
        </p:nvSpPr>
        <p:spPr>
          <a:xfrm>
            <a:off x="408056" y="1067393"/>
            <a:ext cx="7397410" cy="5415411"/>
          </a:xfrm>
        </p:spPr>
        <p:txBody>
          <a:bodyPr lIns="91440" tIns="45720" rIns="91440" bIns="45720" anchor="t">
            <a:normAutofit/>
          </a:bodyPr>
          <a:lstStyle/>
          <a:p>
            <a:pPr>
              <a:spcAft>
                <a:spcPts val="1200"/>
              </a:spcAft>
            </a:pPr>
            <a:r>
              <a:rPr lang="en-US">
                <a:latin typeface="Gill Sans MT"/>
              </a:rPr>
              <a:t>Real DOM</a:t>
            </a:r>
          </a:p>
          <a:p>
            <a:pPr lvl="1">
              <a:spcAft>
                <a:spcPts val="1200"/>
              </a:spcAft>
            </a:pPr>
            <a:r>
              <a:rPr lang="en-US">
                <a:latin typeface="Gill Sans MT"/>
              </a:rPr>
              <a:t>What we see on our browser screens</a:t>
            </a:r>
          </a:p>
          <a:p>
            <a:pPr lvl="1">
              <a:spcAft>
                <a:spcPts val="1200"/>
              </a:spcAft>
            </a:pPr>
            <a:r>
              <a:rPr lang="en-US">
                <a:latin typeface="Gill Sans MT"/>
              </a:rPr>
              <a:t>Actual DOM in the browser</a:t>
            </a:r>
          </a:p>
          <a:p>
            <a:pPr>
              <a:spcAft>
                <a:spcPts val="1200"/>
              </a:spcAft>
            </a:pPr>
            <a:r>
              <a:rPr lang="en-US">
                <a:latin typeface="Gill Sans MT"/>
              </a:rPr>
              <a:t>Virtual DOM</a:t>
            </a:r>
          </a:p>
          <a:p>
            <a:pPr lvl="1">
              <a:spcAft>
                <a:spcPts val="1200"/>
              </a:spcAft>
            </a:pPr>
            <a:r>
              <a:rPr lang="en-US">
                <a:latin typeface="Gill Sans MT"/>
              </a:rPr>
              <a:t>Programming Concept – Copy of real DOM</a:t>
            </a:r>
          </a:p>
          <a:p>
            <a:pPr lvl="1">
              <a:spcAft>
                <a:spcPts val="1200"/>
              </a:spcAft>
            </a:pPr>
            <a:r>
              <a:rPr lang="en-US">
                <a:latin typeface="Gill Sans MT"/>
              </a:rPr>
              <a:t>Changes cause recalculation and comparison between current and prior DOM</a:t>
            </a:r>
          </a:p>
          <a:p>
            <a:pPr marL="233363" lvl="1" indent="0">
              <a:spcAft>
                <a:spcPts val="1200"/>
              </a:spcAft>
              <a:buNone/>
            </a:pPr>
            <a:endParaRPr lang="en-US">
              <a:latin typeface="Gill Sans MT"/>
            </a:endParaRPr>
          </a:p>
          <a:p>
            <a:pPr>
              <a:spcAft>
                <a:spcPts val="1200"/>
              </a:spcAft>
            </a:pPr>
            <a:r>
              <a:rPr lang="en-US">
                <a:latin typeface="Gill Sans MT"/>
              </a:rPr>
              <a:t>Angular manipulates the real DOM – quick</a:t>
            </a:r>
          </a:p>
          <a:p>
            <a:pPr>
              <a:spcAft>
                <a:spcPts val="1200"/>
              </a:spcAft>
            </a:pPr>
            <a:endParaRPr lang="en-US">
              <a:latin typeface="Gill Sans MT"/>
            </a:endParaRPr>
          </a:p>
          <a:p>
            <a:pPr>
              <a:spcAft>
                <a:spcPts val="1200"/>
              </a:spcAft>
            </a:pPr>
            <a:r>
              <a:rPr lang="en-US">
                <a:latin typeface="Gill Sans MT"/>
              </a:rPr>
              <a:t>React uses a virtual DOM made with JSX – quicker</a:t>
            </a:r>
          </a:p>
          <a:p>
            <a:pPr lvl="1">
              <a:spcAft>
                <a:spcPts val="1200"/>
              </a:spcAft>
            </a:pPr>
            <a:endParaRPr lang="en-US">
              <a:latin typeface="Gill Sans MT"/>
            </a:endParaRPr>
          </a:p>
          <a:p>
            <a:pPr>
              <a:spcAft>
                <a:spcPts val="1200"/>
              </a:spcAft>
            </a:pPr>
            <a:endParaRPr lang="en-US"/>
          </a:p>
          <a:p>
            <a:pPr>
              <a:spcAft>
                <a:spcPts val="1200"/>
              </a:spcAft>
            </a:pPr>
            <a:endParaRPr lang="en-US"/>
          </a:p>
          <a:p>
            <a:pPr marL="452120" lvl="1"/>
            <a:endParaRPr lang="en-US">
              <a:solidFill>
                <a:srgbClr val="A6A6A6"/>
              </a:solidFill>
            </a:endParaRPr>
          </a:p>
        </p:txBody>
      </p:sp>
      <p:sp>
        <p:nvSpPr>
          <p:cNvPr id="5" name="Title 4">
            <a:extLst>
              <a:ext uri="{FF2B5EF4-FFF2-40B4-BE49-F238E27FC236}">
                <a16:creationId xmlns:a16="http://schemas.microsoft.com/office/drawing/2014/main" id="{E6940D9D-D84B-DC6D-BC4A-3D15F6886BA6}"/>
              </a:ext>
            </a:extLst>
          </p:cNvPr>
          <p:cNvSpPr>
            <a:spLocks noGrp="1"/>
          </p:cNvSpPr>
          <p:nvPr>
            <p:ph type="title"/>
          </p:nvPr>
        </p:nvSpPr>
        <p:spPr>
          <a:xfrm>
            <a:off x="406399" y="557092"/>
            <a:ext cx="11374611" cy="365760"/>
          </a:xfrm>
        </p:spPr>
        <p:txBody>
          <a:bodyPr lIns="0" tIns="45720" rIns="91440" bIns="45720" anchor="b">
            <a:noAutofit/>
          </a:bodyPr>
          <a:lstStyle/>
          <a:p>
            <a:r>
              <a:rPr lang="en-US">
                <a:latin typeface="Gill Sans MT"/>
              </a:rPr>
              <a:t>How do Frameworks use the DOM?</a:t>
            </a:r>
          </a:p>
        </p:txBody>
      </p:sp>
      <p:pic>
        <p:nvPicPr>
          <p:cNvPr id="2" name="Graphic 1" descr="Run with solid fill">
            <a:extLst>
              <a:ext uri="{FF2B5EF4-FFF2-40B4-BE49-F238E27FC236}">
                <a16:creationId xmlns:a16="http://schemas.microsoft.com/office/drawing/2014/main" id="{0062A7C7-3F59-5951-B47E-3B285A89D5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87176" y="5477948"/>
            <a:ext cx="914400" cy="914400"/>
          </a:xfrm>
          <a:prstGeom prst="rect">
            <a:avLst/>
          </a:prstGeom>
        </p:spPr>
      </p:pic>
      <p:pic>
        <p:nvPicPr>
          <p:cNvPr id="3" name="Graphic 2" descr="Walk with solid fill">
            <a:extLst>
              <a:ext uri="{FF2B5EF4-FFF2-40B4-BE49-F238E27FC236}">
                <a16:creationId xmlns:a16="http://schemas.microsoft.com/office/drawing/2014/main" id="{576644D5-DD7D-CA45-C828-CB7E2D4D5C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9828" y="4423633"/>
            <a:ext cx="914400" cy="914400"/>
          </a:xfrm>
          <a:prstGeom prst="rect">
            <a:avLst/>
          </a:prstGeom>
        </p:spPr>
      </p:pic>
    </p:spTree>
    <p:extLst>
      <p:ext uri="{BB962C8B-B14F-4D97-AF65-F5344CB8AC3E}">
        <p14:creationId xmlns:p14="http://schemas.microsoft.com/office/powerpoint/2010/main" val="2520688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F3291A-7D98-77D4-7CBA-884E14FFFCFC}"/>
              </a:ext>
            </a:extLst>
          </p:cNvPr>
          <p:cNvSpPr>
            <a:spLocks noGrp="1"/>
          </p:cNvSpPr>
          <p:nvPr>
            <p:ph idx="25"/>
          </p:nvPr>
        </p:nvSpPr>
        <p:spPr>
          <a:xfrm>
            <a:off x="412895" y="973152"/>
            <a:ext cx="5681472" cy="4599432"/>
          </a:xfrm>
        </p:spPr>
        <p:txBody>
          <a:bodyPr/>
          <a:lstStyle/>
          <a:p>
            <a:pPr marL="231457">
              <a:spcAft>
                <a:spcPts val="1200"/>
              </a:spcAft>
            </a:pPr>
            <a:r>
              <a:rPr lang="en-US" sz="2400">
                <a:solidFill>
                  <a:srgbClr val="315EAB"/>
                </a:solidFill>
                <a:latin typeface="Gill Sans MT"/>
              </a:rPr>
              <a:t>Pieces of the DOM are updated and switched out to show different "pages" or information on a single page</a:t>
            </a:r>
          </a:p>
          <a:p>
            <a:pPr marL="231457">
              <a:spcAft>
                <a:spcPts val="1200"/>
              </a:spcAft>
            </a:pPr>
            <a:r>
              <a:rPr lang="en-US" sz="2400">
                <a:solidFill>
                  <a:srgbClr val="315EAB"/>
                </a:solidFill>
                <a:latin typeface="Gill Sans MT"/>
              </a:rPr>
              <a:t>Elements that exist across all pages may not have to change </a:t>
            </a:r>
          </a:p>
          <a:p>
            <a:pPr marL="231457">
              <a:spcAft>
                <a:spcPts val="1200"/>
              </a:spcAft>
            </a:pPr>
            <a:r>
              <a:rPr lang="en-US" sz="2400">
                <a:solidFill>
                  <a:srgbClr val="315EAB"/>
                </a:solidFill>
                <a:latin typeface="Gill Sans MT"/>
              </a:rPr>
              <a:t>Quicker and more lightweight than traditional websites</a:t>
            </a:r>
            <a:endParaRPr lang="en-US" sz="2400"/>
          </a:p>
          <a:p>
            <a:pPr marL="0" indent="0">
              <a:buNone/>
            </a:pPr>
            <a:endParaRPr lang="en-US"/>
          </a:p>
        </p:txBody>
      </p:sp>
      <p:sp>
        <p:nvSpPr>
          <p:cNvPr id="5" name="Content Placeholder 4">
            <a:extLst>
              <a:ext uri="{FF2B5EF4-FFF2-40B4-BE49-F238E27FC236}">
                <a16:creationId xmlns:a16="http://schemas.microsoft.com/office/drawing/2014/main" id="{76674F2B-F95F-9975-CA00-D8A15BFE9416}"/>
              </a:ext>
            </a:extLst>
          </p:cNvPr>
          <p:cNvSpPr>
            <a:spLocks noGrp="1"/>
          </p:cNvSpPr>
          <p:nvPr>
            <p:ph idx="26"/>
          </p:nvPr>
        </p:nvSpPr>
        <p:spPr>
          <a:xfrm>
            <a:off x="6115364" y="973152"/>
            <a:ext cx="5681472" cy="4599432"/>
          </a:xfrm>
        </p:spPr>
        <p:txBody>
          <a:bodyPr/>
          <a:lstStyle/>
          <a:p>
            <a:r>
              <a:rPr lang="en-US" sz="2400"/>
              <a:t>New pages are loaded each time a piece of the DOM is updated, updating and/or changing all elements</a:t>
            </a:r>
          </a:p>
          <a:p>
            <a:r>
              <a:rPr lang="en-US" sz="2400"/>
              <a:t>Slower and more complicated than SPAs</a:t>
            </a:r>
          </a:p>
          <a:p>
            <a:pPr marL="0" indent="0">
              <a:buNone/>
            </a:pPr>
            <a:endParaRPr lang="en-US" sz="2400"/>
          </a:p>
          <a:p>
            <a:r>
              <a:rPr lang="en-US" sz="2400"/>
              <a:t>Still used for content-heavy websites</a:t>
            </a:r>
          </a:p>
          <a:p>
            <a:endParaRPr lang="en-US"/>
          </a:p>
        </p:txBody>
      </p:sp>
      <p:sp>
        <p:nvSpPr>
          <p:cNvPr id="6" name="Title 5">
            <a:extLst>
              <a:ext uri="{FF2B5EF4-FFF2-40B4-BE49-F238E27FC236}">
                <a16:creationId xmlns:a16="http://schemas.microsoft.com/office/drawing/2014/main" id="{E1E29F58-F1AC-F169-3EA6-E36B83BE540E}"/>
              </a:ext>
            </a:extLst>
          </p:cNvPr>
          <p:cNvSpPr>
            <a:spLocks noGrp="1"/>
          </p:cNvSpPr>
          <p:nvPr>
            <p:ph type="title"/>
          </p:nvPr>
        </p:nvSpPr>
        <p:spPr/>
        <p:txBody>
          <a:bodyPr/>
          <a:lstStyle/>
          <a:p>
            <a:r>
              <a:rPr lang="en-US" sz="3200"/>
              <a:t>  Single-Page Applications     vs     Multi-Page Applications</a:t>
            </a:r>
            <a:endParaRPr lang="en-US"/>
          </a:p>
        </p:txBody>
      </p:sp>
      <p:pic>
        <p:nvPicPr>
          <p:cNvPr id="7" name="Picture 6" descr="What is a Single Page Application? Pros &amp; Cons With Examples">
            <a:extLst>
              <a:ext uri="{FF2B5EF4-FFF2-40B4-BE49-F238E27FC236}">
                <a16:creationId xmlns:a16="http://schemas.microsoft.com/office/drawing/2014/main" id="{2C54E887-70B5-6473-4D32-7604006307B7}"/>
              </a:ext>
            </a:extLst>
          </p:cNvPr>
          <p:cNvPicPr>
            <a:picLocks noChangeAspect="1"/>
          </p:cNvPicPr>
          <p:nvPr/>
        </p:nvPicPr>
        <p:blipFill>
          <a:blip r:embed="rId2"/>
          <a:stretch>
            <a:fillRect/>
          </a:stretch>
        </p:blipFill>
        <p:spPr>
          <a:xfrm>
            <a:off x="3878781" y="3492798"/>
            <a:ext cx="4003192" cy="2236197"/>
          </a:xfrm>
          <a:prstGeom prst="rect">
            <a:avLst/>
          </a:prstGeom>
        </p:spPr>
      </p:pic>
      <p:sp>
        <p:nvSpPr>
          <p:cNvPr id="8" name="Rectangle 7">
            <a:extLst>
              <a:ext uri="{FF2B5EF4-FFF2-40B4-BE49-F238E27FC236}">
                <a16:creationId xmlns:a16="http://schemas.microsoft.com/office/drawing/2014/main" id="{7DFA83AA-2AEB-103A-3DEE-1BCC0AAA610B}"/>
              </a:ext>
            </a:extLst>
          </p:cNvPr>
          <p:cNvSpPr/>
          <p:nvPr/>
        </p:nvSpPr>
        <p:spPr>
          <a:xfrm>
            <a:off x="19364" y="5846037"/>
            <a:ext cx="12192000" cy="4860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One Approach Isn’t Inherently Better Than the Other!</a:t>
            </a:r>
          </a:p>
        </p:txBody>
      </p:sp>
    </p:spTree>
    <p:extLst>
      <p:ext uri="{BB962C8B-B14F-4D97-AF65-F5344CB8AC3E}">
        <p14:creationId xmlns:p14="http://schemas.microsoft.com/office/powerpoint/2010/main" val="770789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B83E1CB-EA8F-47A4-ABDD-88AA08245F6A}"/>
              </a:ext>
            </a:extLst>
          </p:cNvPr>
          <p:cNvSpPr>
            <a:spLocks noGrp="1"/>
          </p:cNvSpPr>
          <p:nvPr>
            <p:ph type="body" sz="quarter" idx="10"/>
          </p:nvPr>
        </p:nvSpPr>
        <p:spPr/>
        <p:txBody>
          <a:bodyPr lIns="0" tIns="45720" rIns="0" bIns="45720" anchor="t"/>
          <a:lstStyle/>
          <a:p>
            <a:r>
              <a:rPr lang="en-US">
                <a:latin typeface="Gill Sans MT"/>
              </a:rPr>
              <a:t>Introduction to JS Frameworks</a:t>
            </a:r>
            <a:endParaRPr lang="en-US"/>
          </a:p>
        </p:txBody>
      </p:sp>
    </p:spTree>
    <p:extLst>
      <p:ext uri="{BB962C8B-B14F-4D97-AF65-F5344CB8AC3E}">
        <p14:creationId xmlns:p14="http://schemas.microsoft.com/office/powerpoint/2010/main" val="3783623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10094" y="1042539"/>
            <a:ext cx="4241487" cy="5294761"/>
          </a:xfrm>
        </p:spPr>
        <p:txBody>
          <a:bodyPr lIns="91440" tIns="45720" rIns="91440" bIns="45720" anchor="t">
            <a:normAutofit/>
          </a:bodyPr>
          <a:lstStyle/>
          <a:p>
            <a:pPr>
              <a:spcAft>
                <a:spcPts val="1200"/>
              </a:spcAft>
            </a:pPr>
            <a:r>
              <a:rPr lang="en-US">
                <a:latin typeface="Gill Sans MT"/>
              </a:rPr>
              <a:t>JavaScript library for building user interfaces</a:t>
            </a:r>
          </a:p>
          <a:p>
            <a:pPr marL="452120" lvl="1">
              <a:spcAft>
                <a:spcPts val="1200"/>
              </a:spcAft>
            </a:pPr>
            <a:r>
              <a:rPr lang="en-US">
                <a:solidFill>
                  <a:srgbClr val="A6A6A6"/>
                </a:solidFill>
                <a:latin typeface="Gill Sans MT"/>
              </a:rPr>
              <a:t>Is the foundation for React Native: a framework used for building mobile apps</a:t>
            </a:r>
          </a:p>
          <a:p>
            <a:pPr>
              <a:spcAft>
                <a:spcPts val="1200"/>
              </a:spcAft>
            </a:pPr>
            <a:r>
              <a:rPr lang="en-US">
                <a:latin typeface="Gill Sans MT"/>
              </a:rPr>
              <a:t>Developed by Facebook</a:t>
            </a:r>
          </a:p>
          <a:p>
            <a:pPr>
              <a:spcAft>
                <a:spcPts val="1200"/>
              </a:spcAft>
            </a:pPr>
            <a:r>
              <a:rPr lang="en-US">
                <a:latin typeface="Gill Sans MT"/>
              </a:rPr>
              <a:t>Allows for a clean and interactive designs that can display changing data</a:t>
            </a:r>
          </a:p>
          <a:p>
            <a:pPr>
              <a:spcAft>
                <a:spcPts val="1200"/>
              </a:spcAft>
            </a:pPr>
            <a:r>
              <a:rPr lang="en-US">
                <a:latin typeface="Gill Sans MT"/>
              </a:rPr>
              <a:t>Used to create complex UIs from small, isolated components </a:t>
            </a:r>
            <a:endParaRPr lang="en-US"/>
          </a:p>
        </p:txBody>
      </p:sp>
      <p:sp>
        <p:nvSpPr>
          <p:cNvPr id="5" name="Title 4"/>
          <p:cNvSpPr>
            <a:spLocks noGrp="1"/>
          </p:cNvSpPr>
          <p:nvPr>
            <p:ph type="title"/>
          </p:nvPr>
        </p:nvSpPr>
        <p:spPr>
          <a:xfrm>
            <a:off x="406399" y="545151"/>
            <a:ext cx="11374611" cy="426360"/>
          </a:xfrm>
        </p:spPr>
        <p:txBody>
          <a:bodyPr lIns="0" tIns="45720" rIns="91440" bIns="45720" anchor="b">
            <a:normAutofit fontScale="90000"/>
          </a:bodyPr>
          <a:lstStyle/>
          <a:p>
            <a:r>
              <a:rPr lang="en-US" sz="3600">
                <a:latin typeface="Gill Sans MT"/>
              </a:rPr>
              <a:t>React (ReactJS)</a:t>
            </a:r>
            <a:endParaRPr lang="en-US">
              <a:latin typeface="Gill Sans MT"/>
            </a:endParaRPr>
          </a:p>
        </p:txBody>
      </p:sp>
      <p:pic>
        <p:nvPicPr>
          <p:cNvPr id="6" name="Picture 6" descr="AFPS_Case_Page (2).png">
            <a:extLst>
              <a:ext uri="{FF2B5EF4-FFF2-40B4-BE49-F238E27FC236}">
                <a16:creationId xmlns:a16="http://schemas.microsoft.com/office/drawing/2014/main" id="{4E24D50C-4E32-E22D-E62C-E8CFB09C6D9C}"/>
              </a:ext>
            </a:extLst>
          </p:cNvPr>
          <p:cNvPicPr>
            <a:picLocks noChangeAspect="1"/>
          </p:cNvPicPr>
          <p:nvPr/>
        </p:nvPicPr>
        <p:blipFill>
          <a:blip r:embed="rId3"/>
          <a:stretch>
            <a:fillRect/>
          </a:stretch>
        </p:blipFill>
        <p:spPr>
          <a:xfrm>
            <a:off x="4980656" y="1205943"/>
            <a:ext cx="6931944" cy="4350649"/>
          </a:xfrm>
          <a:prstGeom prst="rect">
            <a:avLst/>
          </a:prstGeom>
          <a:ln>
            <a:noFill/>
          </a:ln>
          <a:effectLst>
            <a:outerShdw blurRad="190500" algn="tl" rotWithShape="0">
              <a:srgbClr val="000000">
                <a:alpha val="70000"/>
              </a:srgbClr>
            </a:outerShdw>
          </a:effectLst>
        </p:spPr>
      </p:pic>
      <p:sp>
        <p:nvSpPr>
          <p:cNvPr id="2" name="Rectangle: Rounded Corners 1">
            <a:extLst>
              <a:ext uri="{FF2B5EF4-FFF2-40B4-BE49-F238E27FC236}">
                <a16:creationId xmlns:a16="http://schemas.microsoft.com/office/drawing/2014/main" id="{0D75AC7F-0A94-675B-9AD1-EF682725ED67}"/>
              </a:ext>
            </a:extLst>
          </p:cNvPr>
          <p:cNvSpPr/>
          <p:nvPr/>
        </p:nvSpPr>
        <p:spPr>
          <a:xfrm>
            <a:off x="7210425" y="6140450"/>
            <a:ext cx="2628899" cy="469900"/>
          </a:xfrm>
          <a:prstGeom prst="roundRect">
            <a:avLst/>
          </a:prstGeom>
          <a:solidFill>
            <a:schemeClr val="accent1">
              <a:lumMod val="60000"/>
              <a:lumOff val="40000"/>
            </a:schemeClr>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a:rPr>
              <a:t>Real app developed at Peraton!</a:t>
            </a:r>
            <a:endParaRPr lang="en-US"/>
          </a:p>
        </p:txBody>
      </p:sp>
      <p:cxnSp>
        <p:nvCxnSpPr>
          <p:cNvPr id="3" name="Straight Arrow Connector 2">
            <a:extLst>
              <a:ext uri="{FF2B5EF4-FFF2-40B4-BE49-F238E27FC236}">
                <a16:creationId xmlns:a16="http://schemas.microsoft.com/office/drawing/2014/main" id="{8E355D4A-CCF8-A308-1A7C-32301612821B}"/>
              </a:ext>
            </a:extLst>
          </p:cNvPr>
          <p:cNvCxnSpPr/>
          <p:nvPr/>
        </p:nvCxnSpPr>
        <p:spPr>
          <a:xfrm flipH="1" flipV="1">
            <a:off x="8674100" y="5651500"/>
            <a:ext cx="0" cy="482600"/>
          </a:xfrm>
          <a:prstGeom prst="straightConnector1">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8267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8056" y="1067393"/>
            <a:ext cx="6651976" cy="5415411"/>
          </a:xfrm>
        </p:spPr>
        <p:txBody>
          <a:bodyPr lIns="91440" tIns="45720" rIns="91440" bIns="45720" anchor="t">
            <a:normAutofit/>
          </a:bodyPr>
          <a:lstStyle/>
          <a:p>
            <a:r>
              <a:rPr lang="en-US">
                <a:latin typeface="Gill Sans MT"/>
              </a:rPr>
              <a:t>Open source </a:t>
            </a:r>
          </a:p>
          <a:p>
            <a:pPr marL="452120" lvl="1">
              <a:buFont typeface="Arial" pitchFamily="2" charset="2"/>
            </a:pPr>
            <a:r>
              <a:rPr lang="en-US">
                <a:latin typeface="Gill Sans MT"/>
              </a:rPr>
              <a:t>Strong community support with many examples and existing components available</a:t>
            </a:r>
            <a:endParaRPr lang="en-US"/>
          </a:p>
          <a:p>
            <a:pPr>
              <a:spcAft>
                <a:spcPts val="1200"/>
              </a:spcAft>
            </a:pPr>
            <a:r>
              <a:rPr lang="en-US">
                <a:latin typeface="Gill Sans MT"/>
              </a:rPr>
              <a:t>Frequently used in industry</a:t>
            </a:r>
          </a:p>
          <a:p>
            <a:pPr>
              <a:spcAft>
                <a:spcPts val="1200"/>
              </a:spcAft>
            </a:pPr>
            <a:r>
              <a:rPr lang="en-US">
                <a:latin typeface="Gill Sans MT"/>
              </a:rPr>
              <a:t>Create accessible web app in minutes</a:t>
            </a:r>
            <a:endParaRPr lang="en-US"/>
          </a:p>
          <a:p>
            <a:pPr>
              <a:spcAft>
                <a:spcPts val="1200"/>
              </a:spcAft>
            </a:pPr>
            <a:r>
              <a:rPr lang="en-US">
                <a:latin typeface="Gill Sans MT"/>
              </a:rPr>
              <a:t>Facilitates reusable components</a:t>
            </a:r>
          </a:p>
          <a:p>
            <a:pPr>
              <a:spcAft>
                <a:spcPts val="1200"/>
              </a:spcAft>
            </a:pPr>
            <a:r>
              <a:rPr lang="en-US">
                <a:latin typeface="Gill Sans MT"/>
              </a:rPr>
              <a:t>Why does Peraton use React?</a:t>
            </a:r>
            <a:endParaRPr lang="en-US"/>
          </a:p>
          <a:p>
            <a:pPr marL="452120" lvl="1">
              <a:spcAft>
                <a:spcPts val="1200"/>
              </a:spcAft>
            </a:pPr>
            <a:r>
              <a:rPr lang="en-US">
                <a:solidFill>
                  <a:srgbClr val="315EAB"/>
                </a:solidFill>
                <a:latin typeface="Gill Sans MT"/>
              </a:rPr>
              <a:t>Easy to learn</a:t>
            </a:r>
            <a:endParaRPr lang="en-US"/>
          </a:p>
          <a:p>
            <a:pPr marL="452120" lvl="1">
              <a:spcAft>
                <a:spcPts val="1200"/>
              </a:spcAft>
            </a:pPr>
            <a:r>
              <a:rPr lang="en-US">
                <a:solidFill>
                  <a:srgbClr val="315EAB"/>
                </a:solidFill>
                <a:latin typeface="Gill Sans MT"/>
              </a:rPr>
              <a:t>Quickly build high-quality applications</a:t>
            </a:r>
          </a:p>
          <a:p>
            <a:pPr marL="452120" lvl="1"/>
            <a:endParaRPr lang="en-US"/>
          </a:p>
        </p:txBody>
      </p:sp>
      <p:sp>
        <p:nvSpPr>
          <p:cNvPr id="5" name="Title 4"/>
          <p:cNvSpPr>
            <a:spLocks noGrp="1"/>
          </p:cNvSpPr>
          <p:nvPr>
            <p:ph type="title"/>
          </p:nvPr>
        </p:nvSpPr>
        <p:spPr>
          <a:xfrm>
            <a:off x="406399" y="557092"/>
            <a:ext cx="11374611" cy="365760"/>
          </a:xfrm>
        </p:spPr>
        <p:txBody>
          <a:bodyPr lIns="0" tIns="45720" rIns="91440" bIns="45720" anchor="b">
            <a:noAutofit/>
          </a:bodyPr>
          <a:lstStyle/>
          <a:p>
            <a:r>
              <a:rPr lang="en-US">
                <a:latin typeface="Gill Sans MT"/>
              </a:rPr>
              <a:t>Advantages of React</a:t>
            </a:r>
          </a:p>
        </p:txBody>
      </p:sp>
      <p:pic>
        <p:nvPicPr>
          <p:cNvPr id="2" name="Picture 1">
            <a:extLst>
              <a:ext uri="{FF2B5EF4-FFF2-40B4-BE49-F238E27FC236}">
                <a16:creationId xmlns:a16="http://schemas.microsoft.com/office/drawing/2014/main" id="{F169B4EB-8EE8-B03D-7E77-D2E1E06D3DEE}"/>
              </a:ext>
            </a:extLst>
          </p:cNvPr>
          <p:cNvPicPr>
            <a:picLocks noChangeAspect="1"/>
          </p:cNvPicPr>
          <p:nvPr/>
        </p:nvPicPr>
        <p:blipFill>
          <a:blip r:embed="rId3"/>
          <a:stretch>
            <a:fillRect/>
          </a:stretch>
        </p:blipFill>
        <p:spPr>
          <a:xfrm>
            <a:off x="7448287" y="1621783"/>
            <a:ext cx="3971664" cy="3614433"/>
          </a:xfrm>
          <a:prstGeom prst="rect">
            <a:avLst/>
          </a:prstGeom>
        </p:spPr>
      </p:pic>
    </p:spTree>
    <p:extLst>
      <p:ext uri="{BB962C8B-B14F-4D97-AF65-F5344CB8AC3E}">
        <p14:creationId xmlns:p14="http://schemas.microsoft.com/office/powerpoint/2010/main" val="1206361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a:t>React in the Real World</a:t>
            </a:r>
          </a:p>
        </p:txBody>
      </p:sp>
      <p:sp>
        <p:nvSpPr>
          <p:cNvPr id="6" name="Content Placeholder 1">
            <a:extLst>
              <a:ext uri="{FF2B5EF4-FFF2-40B4-BE49-F238E27FC236}">
                <a16:creationId xmlns:a16="http://schemas.microsoft.com/office/drawing/2014/main" id="{826C5400-1853-4001-81F5-3EA83A306CD2}"/>
              </a:ext>
            </a:extLst>
          </p:cNvPr>
          <p:cNvSpPr>
            <a:spLocks noGrp="1"/>
          </p:cNvSpPr>
          <p:nvPr>
            <p:ph idx="1"/>
          </p:nvPr>
        </p:nvSpPr>
        <p:spPr>
          <a:xfrm>
            <a:off x="1800929" y="817397"/>
            <a:ext cx="2454275" cy="451743"/>
          </a:xfrm>
        </p:spPr>
        <p:txBody>
          <a:bodyPr/>
          <a:lstStyle/>
          <a:p>
            <a:pPr marL="0" indent="0" algn="ctr">
              <a:buNone/>
            </a:pPr>
            <a:r>
              <a:rPr lang="en-US" sz="1800" b="1"/>
              <a:t>Netflix</a:t>
            </a:r>
          </a:p>
          <a:p>
            <a:pPr marL="0" indent="0" algn="ctr">
              <a:buNone/>
            </a:pPr>
            <a:endParaRPr lang="en-US"/>
          </a:p>
          <a:p>
            <a:pPr marL="0" indent="0" algn="ctr">
              <a:buNone/>
            </a:pPr>
            <a:endParaRPr lang="en-US"/>
          </a:p>
        </p:txBody>
      </p:sp>
      <p:pic>
        <p:nvPicPr>
          <p:cNvPr id="8" name="Picture 4" descr="What can we learn about design from Netflix? | by Monica Galvan | UX Planet">
            <a:extLst>
              <a:ext uri="{FF2B5EF4-FFF2-40B4-BE49-F238E27FC236}">
                <a16:creationId xmlns:a16="http://schemas.microsoft.com/office/drawing/2014/main" id="{44F01417-B880-4E05-9B94-8B30A466DC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159" y="1154449"/>
            <a:ext cx="4505642" cy="234645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9" name="Picture 6" descr="Facebook déploie sa nouvelle interface et adopte le dark mode">
            <a:extLst>
              <a:ext uri="{FF2B5EF4-FFF2-40B4-BE49-F238E27FC236}">
                <a16:creationId xmlns:a16="http://schemas.microsoft.com/office/drawing/2014/main" id="{E3EBBCBA-1F2C-457A-BF12-41F64A36B65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3991" y="1150253"/>
            <a:ext cx="4499933" cy="23506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0" name="Content Placeholder 1">
            <a:extLst>
              <a:ext uri="{FF2B5EF4-FFF2-40B4-BE49-F238E27FC236}">
                <a16:creationId xmlns:a16="http://schemas.microsoft.com/office/drawing/2014/main" id="{CD597BEA-8437-4F71-9ECC-7DB4DDCA2FC2}"/>
              </a:ext>
            </a:extLst>
          </p:cNvPr>
          <p:cNvSpPr txBox="1">
            <a:spLocks/>
          </p:cNvSpPr>
          <p:nvPr/>
        </p:nvSpPr>
        <p:spPr>
          <a:xfrm>
            <a:off x="7619760" y="792493"/>
            <a:ext cx="2454275" cy="506171"/>
          </a:xfrm>
          <a:prstGeom prst="rect">
            <a:avLst/>
          </a:prstGeom>
        </p:spPr>
        <p:txBody>
          <a:bodyPr>
            <a:normAutofit/>
          </a:bodyPr>
          <a:lstStyle>
            <a:lvl1pPr marL="231775" indent="-231775" algn="l" defTabSz="914400" rtl="0" eaLnBrk="1" latinLnBrk="0" hangingPunct="1">
              <a:lnSpc>
                <a:spcPct val="90000"/>
              </a:lnSpc>
              <a:spcBef>
                <a:spcPts val="200"/>
              </a:spcBef>
              <a:spcAft>
                <a:spcPts val="400"/>
              </a:spcAft>
              <a:buClr>
                <a:srgbClr val="00AEEF"/>
              </a:buClr>
              <a:buSzPct val="90000"/>
              <a:buFont typeface="Wingdings" pitchFamily="2" charset="2"/>
              <a:buChar char="§"/>
              <a:defRPr sz="2400" kern="1200" baseline="0">
                <a:solidFill>
                  <a:srgbClr val="315EAB"/>
                </a:solidFill>
                <a:latin typeface="Gill Sans MT" panose="020B0502020104020203" pitchFamily="34" charset="77"/>
                <a:ea typeface="+mn-ea"/>
                <a:cs typeface="+mn-cs"/>
              </a:defRPr>
            </a:lvl1pPr>
            <a:lvl2pPr marL="452438" indent="-219075"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2000" kern="1200" baseline="0">
                <a:solidFill>
                  <a:schemeClr val="bg1">
                    <a:lumMod val="65000"/>
                  </a:schemeClr>
                </a:solidFill>
                <a:latin typeface="Gill Sans MT" panose="020B0502020104020203" pitchFamily="34" charset="77"/>
                <a:ea typeface="+mn-ea"/>
                <a:cs typeface="+mn-cs"/>
              </a:defRPr>
            </a:lvl2pPr>
            <a:lvl3pPr marL="690563" indent="-228600"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1800" kern="1200" baseline="0">
                <a:solidFill>
                  <a:schemeClr val="bg1">
                    <a:lumMod val="65000"/>
                  </a:schemeClr>
                </a:solidFill>
                <a:latin typeface="Gill Sans MT" panose="020B0502020104020203" pitchFamily="34" charset="77"/>
                <a:ea typeface="+mn-ea"/>
                <a:cs typeface="+mn-cs"/>
              </a:defRPr>
            </a:lvl3pPr>
            <a:lvl4pPr marL="914400" indent="-223838" algn="l" defTabSz="914400" rtl="0" eaLnBrk="1" latinLnBrk="0" hangingPunct="1">
              <a:lnSpc>
                <a:spcPct val="90000"/>
              </a:lnSpc>
              <a:spcBef>
                <a:spcPts val="200"/>
              </a:spcBef>
              <a:spcAft>
                <a:spcPts val="400"/>
              </a:spcAft>
              <a:buClr>
                <a:srgbClr val="00AEEF"/>
              </a:buClr>
              <a:buSzPct val="90000"/>
              <a:buFont typeface="Calibri" pitchFamily="34" charset="0"/>
              <a:buChar char="‐"/>
              <a:defRPr sz="1600" kern="1200" baseline="0">
                <a:solidFill>
                  <a:schemeClr val="bg1">
                    <a:lumMod val="65000"/>
                  </a:schemeClr>
                </a:solidFill>
                <a:latin typeface="Gill Sans MT" panose="020B0502020104020203" pitchFamily="34" charset="77"/>
                <a:ea typeface="+mn-ea"/>
                <a:cs typeface="+mn-cs"/>
              </a:defRPr>
            </a:lvl4pPr>
            <a:lvl5pPr marL="1146175" indent="-231775" algn="l" defTabSz="914400" rtl="0" eaLnBrk="1" latinLnBrk="0" hangingPunct="1">
              <a:lnSpc>
                <a:spcPct val="90000"/>
              </a:lnSpc>
              <a:spcBef>
                <a:spcPts val="200"/>
              </a:spcBef>
              <a:spcAft>
                <a:spcPts val="400"/>
              </a:spcAft>
              <a:buClr>
                <a:srgbClr val="00AEEF"/>
              </a:buClr>
              <a:buSzPct val="90000"/>
              <a:buFont typeface="Calibri" pitchFamily="34" charset="0"/>
              <a:buChar char="‐"/>
              <a:defRPr sz="1400" kern="1200" baseline="0">
                <a:solidFill>
                  <a:schemeClr val="bg1">
                    <a:lumMod val="65000"/>
                  </a:schemeClr>
                </a:solidFill>
                <a:latin typeface="Gill Sans MT" panose="020B050202010402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itchFamily="2" charset="2"/>
              <a:buNone/>
            </a:pPr>
            <a:r>
              <a:rPr lang="en-US" sz="1800" b="1"/>
              <a:t>Facebook</a:t>
            </a:r>
          </a:p>
          <a:p>
            <a:pPr marL="0" indent="0" algn="ctr">
              <a:buFont typeface="Wingdings" pitchFamily="2" charset="2"/>
              <a:buNone/>
            </a:pPr>
            <a:endParaRPr lang="en-US"/>
          </a:p>
          <a:p>
            <a:pPr marL="0" indent="0" algn="ctr">
              <a:buFont typeface="Wingdings" pitchFamily="2" charset="2"/>
              <a:buNone/>
            </a:pPr>
            <a:endParaRPr lang="en-US"/>
          </a:p>
        </p:txBody>
      </p:sp>
      <p:pic>
        <p:nvPicPr>
          <p:cNvPr id="2" name="Picture 2" descr="Scenario_builder.png">
            <a:extLst>
              <a:ext uri="{FF2B5EF4-FFF2-40B4-BE49-F238E27FC236}">
                <a16:creationId xmlns:a16="http://schemas.microsoft.com/office/drawing/2014/main" id="{C3657EDB-AAD2-EFFD-C914-318A980B40C5}"/>
              </a:ext>
            </a:extLst>
          </p:cNvPr>
          <p:cNvPicPr>
            <a:picLocks noChangeAspect="1"/>
          </p:cNvPicPr>
          <p:nvPr/>
        </p:nvPicPr>
        <p:blipFill>
          <a:blip r:embed="rId5"/>
          <a:stretch>
            <a:fillRect/>
          </a:stretch>
        </p:blipFill>
        <p:spPr>
          <a:xfrm>
            <a:off x="775159" y="3972835"/>
            <a:ext cx="4508640" cy="23420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1">
            <a:extLst>
              <a:ext uri="{FF2B5EF4-FFF2-40B4-BE49-F238E27FC236}">
                <a16:creationId xmlns:a16="http://schemas.microsoft.com/office/drawing/2014/main" id="{B1603A95-37FF-D7D2-A158-30F40A83155B}"/>
              </a:ext>
            </a:extLst>
          </p:cNvPr>
          <p:cNvSpPr txBox="1">
            <a:spLocks/>
          </p:cNvSpPr>
          <p:nvPr/>
        </p:nvSpPr>
        <p:spPr>
          <a:xfrm>
            <a:off x="1800929" y="3573297"/>
            <a:ext cx="2454275" cy="451743"/>
          </a:xfrm>
          <a:prstGeom prst="rect">
            <a:avLst/>
          </a:prstGeom>
        </p:spPr>
        <p:txBody>
          <a:bodyPr lIns="91440" tIns="45720" rIns="91440" bIns="45720" anchor="t">
            <a:normAutofit/>
          </a:bodyPr>
          <a:lstStyle>
            <a:lvl1pPr marL="231775" indent="-231775" algn="l" defTabSz="914400" rtl="0" eaLnBrk="1" latinLnBrk="0" hangingPunct="1">
              <a:lnSpc>
                <a:spcPct val="90000"/>
              </a:lnSpc>
              <a:spcBef>
                <a:spcPts val="200"/>
              </a:spcBef>
              <a:spcAft>
                <a:spcPts val="400"/>
              </a:spcAft>
              <a:buClr>
                <a:srgbClr val="00AEEF"/>
              </a:buClr>
              <a:buSzPct val="90000"/>
              <a:buFont typeface="Wingdings" pitchFamily="2" charset="2"/>
              <a:buChar char="§"/>
              <a:defRPr sz="2400" kern="1200" baseline="0">
                <a:solidFill>
                  <a:srgbClr val="315EAB"/>
                </a:solidFill>
                <a:latin typeface="Gill Sans MT" panose="020B0502020104020203" pitchFamily="34" charset="77"/>
                <a:ea typeface="+mn-ea"/>
                <a:cs typeface="+mn-cs"/>
              </a:defRPr>
            </a:lvl1pPr>
            <a:lvl2pPr marL="452438" indent="-219075"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2000" kern="1200" baseline="0">
                <a:solidFill>
                  <a:schemeClr val="bg1">
                    <a:lumMod val="65000"/>
                  </a:schemeClr>
                </a:solidFill>
                <a:latin typeface="Gill Sans MT" panose="020B0502020104020203" pitchFamily="34" charset="77"/>
                <a:ea typeface="+mn-ea"/>
                <a:cs typeface="+mn-cs"/>
              </a:defRPr>
            </a:lvl2pPr>
            <a:lvl3pPr marL="690563" indent="-228600"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1800" kern="1200" baseline="0">
                <a:solidFill>
                  <a:schemeClr val="bg1">
                    <a:lumMod val="65000"/>
                  </a:schemeClr>
                </a:solidFill>
                <a:latin typeface="Gill Sans MT" panose="020B0502020104020203" pitchFamily="34" charset="77"/>
                <a:ea typeface="+mn-ea"/>
                <a:cs typeface="+mn-cs"/>
              </a:defRPr>
            </a:lvl3pPr>
            <a:lvl4pPr marL="914400" indent="-223838" algn="l" defTabSz="914400" rtl="0" eaLnBrk="1" latinLnBrk="0" hangingPunct="1">
              <a:lnSpc>
                <a:spcPct val="90000"/>
              </a:lnSpc>
              <a:spcBef>
                <a:spcPts val="200"/>
              </a:spcBef>
              <a:spcAft>
                <a:spcPts val="400"/>
              </a:spcAft>
              <a:buClr>
                <a:srgbClr val="00AEEF"/>
              </a:buClr>
              <a:buSzPct val="90000"/>
              <a:buFont typeface="Calibri" pitchFamily="34" charset="0"/>
              <a:buChar char="‐"/>
              <a:defRPr sz="1600" kern="1200" baseline="0">
                <a:solidFill>
                  <a:schemeClr val="bg1">
                    <a:lumMod val="65000"/>
                  </a:schemeClr>
                </a:solidFill>
                <a:latin typeface="Gill Sans MT" panose="020B0502020104020203" pitchFamily="34" charset="77"/>
                <a:ea typeface="+mn-ea"/>
                <a:cs typeface="+mn-cs"/>
              </a:defRPr>
            </a:lvl4pPr>
            <a:lvl5pPr marL="1146175" indent="-231775" algn="l" defTabSz="914400" rtl="0" eaLnBrk="1" latinLnBrk="0" hangingPunct="1">
              <a:lnSpc>
                <a:spcPct val="90000"/>
              </a:lnSpc>
              <a:spcBef>
                <a:spcPts val="200"/>
              </a:spcBef>
              <a:spcAft>
                <a:spcPts val="400"/>
              </a:spcAft>
              <a:buClr>
                <a:srgbClr val="00AEEF"/>
              </a:buClr>
              <a:buSzPct val="90000"/>
              <a:buFont typeface="Calibri" pitchFamily="34" charset="0"/>
              <a:buChar char="‐"/>
              <a:defRPr sz="1400" kern="1200" baseline="0">
                <a:solidFill>
                  <a:schemeClr val="bg1">
                    <a:lumMod val="65000"/>
                  </a:schemeClr>
                </a:solidFill>
                <a:latin typeface="Gill Sans MT" panose="020B050202010402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b="1" err="1">
                <a:latin typeface="Gill Sans MT"/>
              </a:rPr>
              <a:t>Peraton</a:t>
            </a:r>
            <a:endParaRPr lang="en-US" err="1"/>
          </a:p>
          <a:p>
            <a:pPr marL="0" indent="0" algn="ctr">
              <a:buFont typeface="Wingdings" pitchFamily="2" charset="2"/>
              <a:buNone/>
            </a:pPr>
            <a:endParaRPr lang="en-US"/>
          </a:p>
          <a:p>
            <a:pPr marL="0" indent="0" algn="ctr">
              <a:buFont typeface="Wingdings" pitchFamily="2" charset="2"/>
              <a:buNone/>
            </a:pPr>
            <a:endParaRPr lang="en-US"/>
          </a:p>
        </p:txBody>
      </p:sp>
      <p:sp>
        <p:nvSpPr>
          <p:cNvPr id="7" name="Content Placeholder 1">
            <a:extLst>
              <a:ext uri="{FF2B5EF4-FFF2-40B4-BE49-F238E27FC236}">
                <a16:creationId xmlns:a16="http://schemas.microsoft.com/office/drawing/2014/main" id="{55A346E5-941E-5A70-AF3C-DAED0022618C}"/>
              </a:ext>
            </a:extLst>
          </p:cNvPr>
          <p:cNvSpPr txBox="1">
            <a:spLocks/>
          </p:cNvSpPr>
          <p:nvPr/>
        </p:nvSpPr>
        <p:spPr>
          <a:xfrm>
            <a:off x="7619760" y="3573296"/>
            <a:ext cx="2454275" cy="451743"/>
          </a:xfrm>
          <a:prstGeom prst="rect">
            <a:avLst/>
          </a:prstGeom>
        </p:spPr>
        <p:txBody>
          <a:bodyPr lIns="91440" tIns="45720" rIns="91440" bIns="45720" anchor="t">
            <a:normAutofit/>
          </a:bodyPr>
          <a:lstStyle>
            <a:lvl1pPr marL="231775" indent="-231775" algn="l" defTabSz="914400" rtl="0" eaLnBrk="1" latinLnBrk="0" hangingPunct="1">
              <a:lnSpc>
                <a:spcPct val="90000"/>
              </a:lnSpc>
              <a:spcBef>
                <a:spcPts val="200"/>
              </a:spcBef>
              <a:spcAft>
                <a:spcPts val="400"/>
              </a:spcAft>
              <a:buClr>
                <a:srgbClr val="00AEEF"/>
              </a:buClr>
              <a:buSzPct val="90000"/>
              <a:buFont typeface="Wingdings" pitchFamily="2" charset="2"/>
              <a:buChar char="§"/>
              <a:defRPr sz="2400" kern="1200" baseline="0">
                <a:solidFill>
                  <a:srgbClr val="315EAB"/>
                </a:solidFill>
                <a:latin typeface="Gill Sans MT" panose="020B0502020104020203" pitchFamily="34" charset="77"/>
                <a:ea typeface="+mn-ea"/>
                <a:cs typeface="+mn-cs"/>
              </a:defRPr>
            </a:lvl1pPr>
            <a:lvl2pPr marL="452438" indent="-219075"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2000" kern="1200" baseline="0">
                <a:solidFill>
                  <a:schemeClr val="bg1">
                    <a:lumMod val="65000"/>
                  </a:schemeClr>
                </a:solidFill>
                <a:latin typeface="Gill Sans MT" panose="020B0502020104020203" pitchFamily="34" charset="77"/>
                <a:ea typeface="+mn-ea"/>
                <a:cs typeface="+mn-cs"/>
              </a:defRPr>
            </a:lvl2pPr>
            <a:lvl3pPr marL="690563" indent="-228600" algn="l" defTabSz="914400" rtl="0" eaLnBrk="1" latinLnBrk="0" hangingPunct="1">
              <a:lnSpc>
                <a:spcPct val="90000"/>
              </a:lnSpc>
              <a:spcBef>
                <a:spcPts val="200"/>
              </a:spcBef>
              <a:spcAft>
                <a:spcPts val="400"/>
              </a:spcAft>
              <a:buClr>
                <a:srgbClr val="00AEEF"/>
              </a:buClr>
              <a:buSzPct val="90000"/>
              <a:buFont typeface="Arial" panose="020B0604020202020204" pitchFamily="34" charset="0"/>
              <a:buChar char="•"/>
              <a:defRPr sz="1800" kern="1200" baseline="0">
                <a:solidFill>
                  <a:schemeClr val="bg1">
                    <a:lumMod val="65000"/>
                  </a:schemeClr>
                </a:solidFill>
                <a:latin typeface="Gill Sans MT" panose="020B0502020104020203" pitchFamily="34" charset="77"/>
                <a:ea typeface="+mn-ea"/>
                <a:cs typeface="+mn-cs"/>
              </a:defRPr>
            </a:lvl3pPr>
            <a:lvl4pPr marL="914400" indent="-223838" algn="l" defTabSz="914400" rtl="0" eaLnBrk="1" latinLnBrk="0" hangingPunct="1">
              <a:lnSpc>
                <a:spcPct val="90000"/>
              </a:lnSpc>
              <a:spcBef>
                <a:spcPts val="200"/>
              </a:spcBef>
              <a:spcAft>
                <a:spcPts val="400"/>
              </a:spcAft>
              <a:buClr>
                <a:srgbClr val="00AEEF"/>
              </a:buClr>
              <a:buSzPct val="90000"/>
              <a:buFont typeface="Calibri" pitchFamily="34" charset="0"/>
              <a:buChar char="‐"/>
              <a:defRPr sz="1600" kern="1200" baseline="0">
                <a:solidFill>
                  <a:schemeClr val="bg1">
                    <a:lumMod val="65000"/>
                  </a:schemeClr>
                </a:solidFill>
                <a:latin typeface="Gill Sans MT" panose="020B0502020104020203" pitchFamily="34" charset="77"/>
                <a:ea typeface="+mn-ea"/>
                <a:cs typeface="+mn-cs"/>
              </a:defRPr>
            </a:lvl4pPr>
            <a:lvl5pPr marL="1146175" indent="-231775" algn="l" defTabSz="914400" rtl="0" eaLnBrk="1" latinLnBrk="0" hangingPunct="1">
              <a:lnSpc>
                <a:spcPct val="90000"/>
              </a:lnSpc>
              <a:spcBef>
                <a:spcPts val="200"/>
              </a:spcBef>
              <a:spcAft>
                <a:spcPts val="400"/>
              </a:spcAft>
              <a:buClr>
                <a:srgbClr val="00AEEF"/>
              </a:buClr>
              <a:buSzPct val="90000"/>
              <a:buFont typeface="Calibri" pitchFamily="34" charset="0"/>
              <a:buChar char="‐"/>
              <a:defRPr sz="1400" kern="1200" baseline="0">
                <a:solidFill>
                  <a:schemeClr val="bg1">
                    <a:lumMod val="65000"/>
                  </a:schemeClr>
                </a:solidFill>
                <a:latin typeface="Gill Sans MT" panose="020B050202010402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Wingdings" pitchFamily="2" charset="2"/>
              <a:buNone/>
            </a:pPr>
            <a:r>
              <a:rPr lang="en-US" sz="1800" b="1" err="1">
                <a:latin typeface="Gill Sans MT"/>
              </a:rPr>
              <a:t>Peraton</a:t>
            </a:r>
            <a:endParaRPr lang="en-US" sz="1800" b="1" err="1"/>
          </a:p>
          <a:p>
            <a:pPr marL="0" indent="0" algn="ctr">
              <a:buFont typeface="Wingdings" pitchFamily="2" charset="2"/>
              <a:buNone/>
            </a:pPr>
            <a:endParaRPr lang="en-US"/>
          </a:p>
          <a:p>
            <a:pPr marL="0" indent="0" algn="ctr">
              <a:buFont typeface="Wingdings" pitchFamily="2" charset="2"/>
              <a:buNone/>
            </a:pPr>
            <a:endParaRPr lang="en-US"/>
          </a:p>
        </p:txBody>
      </p:sp>
      <p:pic>
        <p:nvPicPr>
          <p:cNvPr id="12" name="Picture 6" descr="AFPS_Case_Page (2).png">
            <a:extLst>
              <a:ext uri="{FF2B5EF4-FFF2-40B4-BE49-F238E27FC236}">
                <a16:creationId xmlns:a16="http://schemas.microsoft.com/office/drawing/2014/main" id="{5B9A2BBE-9385-AA70-4645-A9D75AE72B79}"/>
              </a:ext>
            </a:extLst>
          </p:cNvPr>
          <p:cNvPicPr>
            <a:picLocks noChangeAspect="1"/>
          </p:cNvPicPr>
          <p:nvPr/>
        </p:nvPicPr>
        <p:blipFill rotWithShape="1">
          <a:blip r:embed="rId6"/>
          <a:srcRect l="58" r="-1006" b="17572"/>
          <a:stretch/>
        </p:blipFill>
        <p:spPr>
          <a:xfrm>
            <a:off x="6573057" y="3972730"/>
            <a:ext cx="4545746" cy="23413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78144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56BC4B-4508-4208-8C5A-C39B6C8FDC6E}"/>
              </a:ext>
            </a:extLst>
          </p:cNvPr>
          <p:cNvSpPr>
            <a:spLocks noGrp="1"/>
          </p:cNvSpPr>
          <p:nvPr>
            <p:ph idx="1"/>
          </p:nvPr>
        </p:nvSpPr>
        <p:spPr>
          <a:xfrm>
            <a:off x="401811" y="1201271"/>
            <a:ext cx="5636911" cy="4896655"/>
          </a:xfrm>
        </p:spPr>
        <p:txBody>
          <a:bodyPr lIns="91440" tIns="45720" rIns="91440" bIns="45720" anchor="t">
            <a:normAutofit fontScale="92500" lnSpcReduction="20000"/>
          </a:bodyPr>
          <a:lstStyle/>
          <a:p>
            <a:pPr>
              <a:lnSpc>
                <a:spcPct val="150000"/>
              </a:lnSpc>
            </a:pPr>
            <a:r>
              <a:rPr lang="en-US" sz="1800" b="1">
                <a:latin typeface="Gill Sans MT"/>
              </a:rPr>
              <a:t>Material-UI (MUI)</a:t>
            </a:r>
            <a:r>
              <a:rPr lang="en-US" sz="1800">
                <a:latin typeface="Gill Sans MT"/>
              </a:rPr>
              <a:t>: This UI component library is available for most front-end frameworks and has ready-to-use components. With out-of-the-box components for input, data visualization, navigation, layouts and more, Material-UI allows developers to rapidly construct professional grade user interfaces.</a:t>
            </a:r>
          </a:p>
          <a:p>
            <a:pPr>
              <a:lnSpc>
                <a:spcPct val="150000"/>
              </a:lnSpc>
            </a:pPr>
            <a:r>
              <a:rPr lang="en-US" sz="1800" b="1" err="1">
                <a:latin typeface="Gill Sans MT"/>
              </a:rPr>
              <a:t>Plotly</a:t>
            </a:r>
            <a:r>
              <a:rPr lang="en-US" sz="1800">
                <a:latin typeface="Gill Sans MT"/>
              </a:rPr>
              <a:t>: An open-source graphing library that provides easily customizable plots &amp; charts. </a:t>
            </a:r>
            <a:endParaRPr lang="en-US" sz="1800"/>
          </a:p>
          <a:p>
            <a:pPr>
              <a:lnSpc>
                <a:spcPct val="150000"/>
              </a:lnSpc>
            </a:pPr>
            <a:r>
              <a:rPr lang="en-US" sz="1800" b="1" err="1">
                <a:latin typeface="Gill Sans MT"/>
              </a:rPr>
              <a:t>LeafletJS</a:t>
            </a:r>
            <a:r>
              <a:rPr lang="en-US" sz="1800">
                <a:latin typeface="Gill Sans MT"/>
              </a:rPr>
              <a:t>: Leaflet is a lightweight open-source JavaScript library that offers a wide variety of map functionality. Esri Leaflet is a plug-in that combines Leaflet's functionality with ArcGIS services and maps.</a:t>
            </a:r>
          </a:p>
          <a:p>
            <a:pPr>
              <a:lnSpc>
                <a:spcPct val="150000"/>
              </a:lnSpc>
            </a:pPr>
            <a:r>
              <a:rPr lang="en-US" sz="1800" b="1">
                <a:latin typeface="Gill Sans MT"/>
              </a:rPr>
              <a:t>And Many More!!</a:t>
            </a:r>
            <a:r>
              <a:rPr lang="en-US" sz="1800">
                <a:latin typeface="Gill Sans MT"/>
              </a:rPr>
              <a:t> </a:t>
            </a:r>
          </a:p>
        </p:txBody>
      </p:sp>
      <p:sp>
        <p:nvSpPr>
          <p:cNvPr id="4" name="Title 3">
            <a:extLst>
              <a:ext uri="{FF2B5EF4-FFF2-40B4-BE49-F238E27FC236}">
                <a16:creationId xmlns:a16="http://schemas.microsoft.com/office/drawing/2014/main" id="{BCC8AC61-FC88-42C9-A7A2-8273324214F4}"/>
              </a:ext>
            </a:extLst>
          </p:cNvPr>
          <p:cNvSpPr>
            <a:spLocks noGrp="1"/>
          </p:cNvSpPr>
          <p:nvPr>
            <p:ph type="title"/>
          </p:nvPr>
        </p:nvSpPr>
        <p:spPr/>
        <p:txBody>
          <a:bodyPr/>
          <a:lstStyle/>
          <a:p>
            <a:r>
              <a:rPr lang="en-US"/>
              <a:t>Common Libraries</a:t>
            </a:r>
          </a:p>
        </p:txBody>
      </p:sp>
      <p:pic>
        <p:nvPicPr>
          <p:cNvPr id="6" name="Picture 5" descr="Graphical user interface, application&#10;&#10;Description automatically generated">
            <a:extLst>
              <a:ext uri="{FF2B5EF4-FFF2-40B4-BE49-F238E27FC236}">
                <a16:creationId xmlns:a16="http://schemas.microsoft.com/office/drawing/2014/main" id="{1C67440F-C69A-4A9C-BB90-1E61F4C8EB89}"/>
              </a:ext>
            </a:extLst>
          </p:cNvPr>
          <p:cNvPicPr>
            <a:picLocks noChangeAspect="1"/>
          </p:cNvPicPr>
          <p:nvPr/>
        </p:nvPicPr>
        <p:blipFill>
          <a:blip r:embed="rId3"/>
          <a:stretch>
            <a:fillRect/>
          </a:stretch>
        </p:blipFill>
        <p:spPr>
          <a:xfrm>
            <a:off x="6308358" y="363923"/>
            <a:ext cx="3098863" cy="20570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993ED6A1-EF67-4310-8D64-61205ED548F2}"/>
              </a:ext>
            </a:extLst>
          </p:cNvPr>
          <p:cNvSpPr txBox="1"/>
          <p:nvPr/>
        </p:nvSpPr>
        <p:spPr>
          <a:xfrm>
            <a:off x="9718901" y="998317"/>
            <a:ext cx="791204" cy="533400"/>
          </a:xfrm>
          <a:prstGeom prst="rect">
            <a:avLst/>
          </a:prstGeom>
          <a:noFill/>
        </p:spPr>
        <p:txBody>
          <a:bodyPr wrap="square" lIns="0" tIns="0" rIns="0" bIns="0" rtlCol="0">
            <a:noAutofit/>
          </a:bodyPr>
          <a:lstStyle/>
          <a:p>
            <a:pPr>
              <a:lnSpc>
                <a:spcPct val="100000"/>
              </a:lnSpc>
              <a:spcBef>
                <a:spcPts val="900"/>
              </a:spcBef>
              <a:buClr>
                <a:schemeClr val="tx1"/>
              </a:buClr>
              <a:buSzPct val="100000"/>
            </a:pPr>
            <a:r>
              <a:rPr lang="en-US" sz="1200" b="1"/>
              <a:t>Material-UI</a:t>
            </a:r>
          </a:p>
        </p:txBody>
      </p:sp>
      <p:sp>
        <p:nvSpPr>
          <p:cNvPr id="8" name="TextBox 7">
            <a:extLst>
              <a:ext uri="{FF2B5EF4-FFF2-40B4-BE49-F238E27FC236}">
                <a16:creationId xmlns:a16="http://schemas.microsoft.com/office/drawing/2014/main" id="{4E703B44-D2CE-4436-B734-A598DD9AF235}"/>
              </a:ext>
            </a:extLst>
          </p:cNvPr>
          <p:cNvSpPr txBox="1"/>
          <p:nvPr/>
        </p:nvSpPr>
        <p:spPr>
          <a:xfrm>
            <a:off x="7291943" y="3251734"/>
            <a:ext cx="889001" cy="498985"/>
          </a:xfrm>
          <a:prstGeom prst="rect">
            <a:avLst/>
          </a:prstGeom>
          <a:noFill/>
        </p:spPr>
        <p:txBody>
          <a:bodyPr wrap="square" lIns="0" tIns="0" rIns="0" bIns="0" rtlCol="0" anchor="t">
            <a:noAutofit/>
          </a:bodyPr>
          <a:lstStyle/>
          <a:p>
            <a:pPr>
              <a:lnSpc>
                <a:spcPct val="100000"/>
              </a:lnSpc>
              <a:spcBef>
                <a:spcPts val="900"/>
              </a:spcBef>
            </a:pPr>
            <a:r>
              <a:rPr lang="en-US" sz="1200" b="1"/>
              <a:t>Plotly</a:t>
            </a:r>
            <a:endParaRPr lang="en-US"/>
          </a:p>
        </p:txBody>
      </p:sp>
      <p:sp>
        <p:nvSpPr>
          <p:cNvPr id="10" name="TextBox 9">
            <a:extLst>
              <a:ext uri="{FF2B5EF4-FFF2-40B4-BE49-F238E27FC236}">
                <a16:creationId xmlns:a16="http://schemas.microsoft.com/office/drawing/2014/main" id="{E69B30D2-18C7-4FB8-BE0E-0CFD97E7FA1B}"/>
              </a:ext>
            </a:extLst>
          </p:cNvPr>
          <p:cNvSpPr txBox="1"/>
          <p:nvPr/>
        </p:nvSpPr>
        <p:spPr>
          <a:xfrm>
            <a:off x="10463326" y="5445334"/>
            <a:ext cx="1122544" cy="234880"/>
          </a:xfrm>
          <a:prstGeom prst="rect">
            <a:avLst/>
          </a:prstGeom>
          <a:noFill/>
        </p:spPr>
        <p:txBody>
          <a:bodyPr wrap="square" lIns="0" tIns="0" rIns="0" bIns="0" rtlCol="0" anchor="t">
            <a:noAutofit/>
          </a:bodyPr>
          <a:lstStyle/>
          <a:p>
            <a:pPr>
              <a:spcBef>
                <a:spcPts val="900"/>
              </a:spcBef>
            </a:pPr>
            <a:r>
              <a:rPr lang="en-US" sz="1200" b="1"/>
              <a:t>React Leaflet</a:t>
            </a:r>
            <a:endParaRPr lang="en-US"/>
          </a:p>
        </p:txBody>
      </p:sp>
      <p:pic>
        <p:nvPicPr>
          <p:cNvPr id="3" name="Picture 10" descr="Leaflet.png">
            <a:extLst>
              <a:ext uri="{FF2B5EF4-FFF2-40B4-BE49-F238E27FC236}">
                <a16:creationId xmlns:a16="http://schemas.microsoft.com/office/drawing/2014/main" id="{0369E37B-1F2F-3159-0C6F-43CEA0177F98}"/>
              </a:ext>
            </a:extLst>
          </p:cNvPr>
          <p:cNvPicPr>
            <a:picLocks noChangeAspect="1"/>
          </p:cNvPicPr>
          <p:nvPr/>
        </p:nvPicPr>
        <p:blipFill>
          <a:blip r:embed="rId4"/>
          <a:stretch>
            <a:fillRect/>
          </a:stretch>
        </p:blipFill>
        <p:spPr>
          <a:xfrm>
            <a:off x="6191084" y="4574648"/>
            <a:ext cx="4068040" cy="1727761"/>
          </a:xfrm>
          <a:prstGeom prst="rect">
            <a:avLst/>
          </a:prstGeom>
          <a:ln>
            <a:noFill/>
          </a:ln>
          <a:effectLst>
            <a:outerShdw blurRad="190500" algn="tl" rotWithShape="0">
              <a:srgbClr val="000000">
                <a:alpha val="70000"/>
              </a:srgbClr>
            </a:outerShdw>
          </a:effectLst>
        </p:spPr>
      </p:pic>
      <p:pic>
        <p:nvPicPr>
          <p:cNvPr id="9" name="Picture 10">
            <a:extLst>
              <a:ext uri="{FF2B5EF4-FFF2-40B4-BE49-F238E27FC236}">
                <a16:creationId xmlns:a16="http://schemas.microsoft.com/office/drawing/2014/main" id="{38273128-3460-DCF2-D20A-58DDCC9AF370}"/>
              </a:ext>
            </a:extLst>
          </p:cNvPr>
          <p:cNvPicPr>
            <a:picLocks noChangeAspect="1"/>
          </p:cNvPicPr>
          <p:nvPr/>
        </p:nvPicPr>
        <p:blipFill>
          <a:blip r:embed="rId5"/>
          <a:stretch>
            <a:fillRect/>
          </a:stretch>
        </p:blipFill>
        <p:spPr>
          <a:xfrm>
            <a:off x="8008259" y="2598063"/>
            <a:ext cx="3722913" cy="18160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62487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10093" y="1042539"/>
            <a:ext cx="8042848" cy="5055387"/>
          </a:xfrm>
        </p:spPr>
        <p:txBody>
          <a:bodyPr lIns="91440" tIns="45720" rIns="91440" bIns="45720" anchor="t">
            <a:normAutofit/>
          </a:bodyPr>
          <a:lstStyle/>
          <a:p>
            <a:pPr>
              <a:lnSpc>
                <a:spcPct val="80000"/>
              </a:lnSpc>
              <a:spcAft>
                <a:spcPts val="1200"/>
              </a:spcAft>
            </a:pPr>
            <a:r>
              <a:rPr lang="en-US">
                <a:latin typeface="Gill Sans MT"/>
              </a:rPr>
              <a:t>React-Bootstrap is built for compatibility with an already highly developed UI ecosystem. Out of the box components “just work” with pleasant themes and styles that are easily accessible. </a:t>
            </a:r>
            <a:endParaRPr lang="en-US"/>
          </a:p>
          <a:p>
            <a:pPr>
              <a:lnSpc>
                <a:spcPct val="80000"/>
              </a:lnSpc>
              <a:spcAft>
                <a:spcPts val="1200"/>
              </a:spcAft>
            </a:pPr>
            <a:r>
              <a:rPr lang="en-US">
                <a:latin typeface="Gill Sans MT"/>
              </a:rPr>
              <a:t>Easy-to-use: it offers numerous templates, themes, and tools to jump-start development.</a:t>
            </a:r>
          </a:p>
          <a:p>
            <a:pPr>
              <a:lnSpc>
                <a:spcPct val="80000"/>
              </a:lnSpc>
              <a:spcAft>
                <a:spcPts val="1200"/>
              </a:spcAft>
            </a:pPr>
            <a:r>
              <a:rPr lang="en-US">
                <a:latin typeface="Gill Sans MT"/>
              </a:rPr>
              <a:t>Web pages are responsive, dynamic, and easily customizable.</a:t>
            </a:r>
          </a:p>
          <a:p>
            <a:pPr>
              <a:lnSpc>
                <a:spcPct val="80000"/>
              </a:lnSpc>
              <a:spcAft>
                <a:spcPts val="1200"/>
              </a:spcAft>
            </a:pPr>
            <a:r>
              <a:rPr lang="en-US">
                <a:latin typeface="Gill Sans MT"/>
              </a:rPr>
              <a:t>The </a:t>
            </a:r>
            <a:r>
              <a:rPr lang="en-US">
                <a:latin typeface="Gill Sans MT"/>
                <a:hlinkClick r:id="rId2"/>
              </a:rPr>
              <a:t>official documentation</a:t>
            </a:r>
            <a:r>
              <a:rPr lang="en-US">
                <a:latin typeface="Gill Sans MT"/>
              </a:rPr>
              <a:t> is thorough, and the support community offers solutions to many common development questions.</a:t>
            </a:r>
          </a:p>
        </p:txBody>
      </p:sp>
      <p:sp>
        <p:nvSpPr>
          <p:cNvPr id="5" name="Title 4"/>
          <p:cNvSpPr>
            <a:spLocks noGrp="1"/>
          </p:cNvSpPr>
          <p:nvPr>
            <p:ph type="title"/>
          </p:nvPr>
        </p:nvSpPr>
        <p:spPr/>
        <p:txBody>
          <a:bodyPr>
            <a:normAutofit fontScale="90000"/>
          </a:bodyPr>
          <a:lstStyle/>
          <a:p>
            <a:r>
              <a:rPr lang="en-US"/>
              <a:t>React Bootstrap</a:t>
            </a:r>
          </a:p>
        </p:txBody>
      </p:sp>
      <p:pic>
        <p:nvPicPr>
          <p:cNvPr id="11" name="Picture 10" descr="Icon&#10;&#10;Description automatically generated">
            <a:extLst>
              <a:ext uri="{FF2B5EF4-FFF2-40B4-BE49-F238E27FC236}">
                <a16:creationId xmlns:a16="http://schemas.microsoft.com/office/drawing/2014/main" id="{A6B003A1-A999-45C7-A1FE-6EC1574FE1F8}"/>
              </a:ext>
            </a:extLst>
          </p:cNvPr>
          <p:cNvPicPr>
            <a:picLocks noChangeAspect="1"/>
          </p:cNvPicPr>
          <p:nvPr/>
        </p:nvPicPr>
        <p:blipFill>
          <a:blip r:embed="rId3"/>
          <a:stretch>
            <a:fillRect/>
          </a:stretch>
        </p:blipFill>
        <p:spPr>
          <a:xfrm>
            <a:off x="8854376" y="1684006"/>
            <a:ext cx="1153526" cy="1121889"/>
          </a:xfrm>
          <a:prstGeom prst="rect">
            <a:avLst/>
          </a:prstGeom>
        </p:spPr>
      </p:pic>
      <p:pic>
        <p:nvPicPr>
          <p:cNvPr id="12" name="Picture 11" descr="Logo&#10;&#10;Description automatically generated">
            <a:extLst>
              <a:ext uri="{FF2B5EF4-FFF2-40B4-BE49-F238E27FC236}">
                <a16:creationId xmlns:a16="http://schemas.microsoft.com/office/drawing/2014/main" id="{D5BD61F4-BE52-4B76-BAA5-5866CC002731}"/>
              </a:ext>
            </a:extLst>
          </p:cNvPr>
          <p:cNvPicPr>
            <a:picLocks noChangeAspect="1"/>
          </p:cNvPicPr>
          <p:nvPr/>
        </p:nvPicPr>
        <p:blipFill>
          <a:blip r:embed="rId4"/>
          <a:stretch>
            <a:fillRect/>
          </a:stretch>
        </p:blipFill>
        <p:spPr>
          <a:xfrm>
            <a:off x="10302176" y="2811617"/>
            <a:ext cx="1097744" cy="1019788"/>
          </a:xfrm>
          <a:prstGeom prst="rect">
            <a:avLst/>
          </a:prstGeom>
        </p:spPr>
      </p:pic>
      <p:cxnSp>
        <p:nvCxnSpPr>
          <p:cNvPr id="13" name="Connector: Curved 12">
            <a:extLst>
              <a:ext uri="{FF2B5EF4-FFF2-40B4-BE49-F238E27FC236}">
                <a16:creationId xmlns:a16="http://schemas.microsoft.com/office/drawing/2014/main" id="{92840FC2-D8AF-4DD4-A6B5-BA6E8EA7F90B}"/>
              </a:ext>
            </a:extLst>
          </p:cNvPr>
          <p:cNvCxnSpPr>
            <a:cxnSpLocks/>
          </p:cNvCxnSpPr>
          <p:nvPr/>
        </p:nvCxnSpPr>
        <p:spPr>
          <a:xfrm>
            <a:off x="10007902" y="2244951"/>
            <a:ext cx="843146" cy="566666"/>
          </a:xfrm>
          <a:prstGeom prst="curvedConnector2">
            <a:avLst/>
          </a:prstGeom>
          <a:ln w="12700" cap="sq">
            <a:tailEnd type="triangle"/>
          </a:ln>
        </p:spPr>
        <p:style>
          <a:lnRef idx="1">
            <a:schemeClr val="accent1"/>
          </a:lnRef>
          <a:fillRef idx="0">
            <a:schemeClr val="accent1"/>
          </a:fillRef>
          <a:effectRef idx="0">
            <a:schemeClr val="dk1"/>
          </a:effectRef>
          <a:fontRef idx="minor">
            <a:schemeClr val="lt1"/>
          </a:fontRef>
        </p:style>
      </p:cxnSp>
      <p:pic>
        <p:nvPicPr>
          <p:cNvPr id="14" name="Picture 13" descr="A picture containing logo&#10;&#10;Description automatically generated">
            <a:extLst>
              <a:ext uri="{FF2B5EF4-FFF2-40B4-BE49-F238E27FC236}">
                <a16:creationId xmlns:a16="http://schemas.microsoft.com/office/drawing/2014/main" id="{E9BD6C53-49E6-4273-AC8E-A1AB677B704B}"/>
              </a:ext>
            </a:extLst>
          </p:cNvPr>
          <p:cNvPicPr>
            <a:picLocks noChangeAspect="1"/>
          </p:cNvPicPr>
          <p:nvPr/>
        </p:nvPicPr>
        <p:blipFill>
          <a:blip r:embed="rId5"/>
          <a:stretch>
            <a:fillRect/>
          </a:stretch>
        </p:blipFill>
        <p:spPr>
          <a:xfrm>
            <a:off x="8930580" y="4039545"/>
            <a:ext cx="1167835" cy="978994"/>
          </a:xfrm>
          <a:prstGeom prst="rect">
            <a:avLst/>
          </a:prstGeom>
        </p:spPr>
      </p:pic>
      <p:cxnSp>
        <p:nvCxnSpPr>
          <p:cNvPr id="15" name="Connector: Curved 14">
            <a:extLst>
              <a:ext uri="{FF2B5EF4-FFF2-40B4-BE49-F238E27FC236}">
                <a16:creationId xmlns:a16="http://schemas.microsoft.com/office/drawing/2014/main" id="{556BB153-D185-4784-8F5D-61EEA97B469D}"/>
              </a:ext>
            </a:extLst>
          </p:cNvPr>
          <p:cNvCxnSpPr>
            <a:cxnSpLocks/>
          </p:cNvCxnSpPr>
          <p:nvPr/>
        </p:nvCxnSpPr>
        <p:spPr>
          <a:xfrm rot="5400000">
            <a:off x="10125914" y="3803907"/>
            <a:ext cx="697637" cy="752633"/>
          </a:xfrm>
          <a:prstGeom prst="curvedConnector2">
            <a:avLst/>
          </a:prstGeom>
          <a:ln w="12700" cap="sq">
            <a:tailEnd type="triangle"/>
          </a:ln>
        </p:spPr>
        <p:style>
          <a:lnRef idx="1">
            <a:schemeClr val="accent1"/>
          </a:lnRef>
          <a:fillRef idx="0">
            <a:schemeClr val="accent1"/>
          </a:fillRef>
          <a:effectRef idx="0">
            <a:schemeClr val="dk1"/>
          </a:effectRef>
          <a:fontRef idx="minor">
            <a:schemeClr val="lt1"/>
          </a:fontRef>
        </p:style>
      </p:cxnSp>
    </p:spTree>
    <p:extLst>
      <p:ext uri="{BB962C8B-B14F-4D97-AF65-F5344CB8AC3E}">
        <p14:creationId xmlns:p14="http://schemas.microsoft.com/office/powerpoint/2010/main" val="600235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78C45BB-B2B1-44FC-9F6C-3C1B2F315EC8}"/>
              </a:ext>
            </a:extLst>
          </p:cNvPr>
          <p:cNvSpPr>
            <a:spLocks noGrp="1"/>
          </p:cNvSpPr>
          <p:nvPr>
            <p:ph type="body" sz="quarter" idx="10"/>
          </p:nvPr>
        </p:nvSpPr>
        <p:spPr/>
        <p:txBody>
          <a:bodyPr lIns="0" tIns="45720" rIns="0" bIns="45720" anchor="t"/>
          <a:lstStyle/>
          <a:p>
            <a:r>
              <a:rPr lang="en-US">
                <a:latin typeface="Gill Sans MT"/>
              </a:rPr>
              <a:t>Configuring for React</a:t>
            </a:r>
            <a:endParaRPr lang="en-US"/>
          </a:p>
        </p:txBody>
      </p:sp>
    </p:spTree>
    <p:extLst>
      <p:ext uri="{BB962C8B-B14F-4D97-AF65-F5344CB8AC3E}">
        <p14:creationId xmlns:p14="http://schemas.microsoft.com/office/powerpoint/2010/main" val="986054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10277" y="1042539"/>
            <a:ext cx="8217257" cy="5232755"/>
          </a:xfrm>
        </p:spPr>
        <p:txBody>
          <a:bodyPr lIns="91440" tIns="45720" rIns="91440" bIns="45720" anchor="t">
            <a:normAutofit/>
          </a:bodyPr>
          <a:lstStyle/>
          <a:p>
            <a:pPr>
              <a:lnSpc>
                <a:spcPct val="150000"/>
              </a:lnSpc>
            </a:pPr>
            <a:r>
              <a:rPr lang="en-US" sz="1800">
                <a:latin typeface="Gill Sans MT"/>
              </a:rPr>
              <a:t>Node is a platform built on the event-driven JavaScript runtime. It provides a lightweight and efficient I/O model for real-time applications to run.</a:t>
            </a:r>
          </a:p>
          <a:p>
            <a:pPr>
              <a:lnSpc>
                <a:spcPct val="150000"/>
              </a:lnSpc>
            </a:pPr>
            <a:r>
              <a:rPr lang="en-US" sz="1800">
                <a:latin typeface="Gill Sans MT"/>
              </a:rPr>
              <a:t>NPM is NodeJS’s default package manager that provides access to an online database of public and private packages </a:t>
            </a:r>
          </a:p>
          <a:p>
            <a:pPr marL="452120" lvl="1">
              <a:lnSpc>
                <a:spcPct val="150000"/>
              </a:lnSpc>
            </a:pPr>
            <a:r>
              <a:rPr lang="en-US" sz="1400">
                <a:latin typeface="Gill Sans MT"/>
              </a:rPr>
              <a:t>The command “</a:t>
            </a:r>
            <a:r>
              <a:rPr lang="en-US" sz="1400" err="1">
                <a:latin typeface="Gill Sans MT"/>
              </a:rPr>
              <a:t>npm</a:t>
            </a:r>
            <a:r>
              <a:rPr lang="en-US" sz="1400">
                <a:latin typeface="Gill Sans MT"/>
              </a:rPr>
              <a:t> install &lt;package-name&gt;” will pull down and third party libraries for use in your application within seconds. </a:t>
            </a:r>
          </a:p>
          <a:p>
            <a:pPr>
              <a:lnSpc>
                <a:spcPct val="150000"/>
              </a:lnSpc>
            </a:pPr>
            <a:r>
              <a:rPr lang="en-US" sz="1800">
                <a:latin typeface="Gill Sans MT"/>
              </a:rPr>
              <a:t>Node is often paired with React as it bundles React applications, provides a constant server connection, and can handle large quantities of requests using its server load balancer.</a:t>
            </a:r>
          </a:p>
          <a:p>
            <a:pPr>
              <a:lnSpc>
                <a:spcPct val="150000"/>
              </a:lnSpc>
            </a:pPr>
            <a:r>
              <a:rPr lang="en-US" sz="1800">
                <a:latin typeface="Gill Sans MT"/>
              </a:rPr>
              <a:t>Node hosts the server-side code while React generates the client-side code. </a:t>
            </a:r>
          </a:p>
          <a:p>
            <a:pPr marL="452120" lvl="1">
              <a:lnSpc>
                <a:spcPct val="150000"/>
              </a:lnSpc>
            </a:pPr>
            <a:r>
              <a:rPr lang="en-US" sz="1400">
                <a:latin typeface="Gill Sans MT"/>
              </a:rPr>
              <a:t>With the command “</a:t>
            </a:r>
            <a:r>
              <a:rPr lang="en-US" sz="1400" err="1">
                <a:latin typeface="Gill Sans MT"/>
              </a:rPr>
              <a:t>npm</a:t>
            </a:r>
            <a:r>
              <a:rPr lang="en-US" sz="1400">
                <a:latin typeface="Gill Sans MT"/>
              </a:rPr>
              <a:t> start”, Node will locally host your site and any saved code changes will instantly be reflected on the web page.</a:t>
            </a:r>
          </a:p>
        </p:txBody>
      </p:sp>
      <p:sp>
        <p:nvSpPr>
          <p:cNvPr id="5" name="Title 4"/>
          <p:cNvSpPr>
            <a:spLocks noGrp="1"/>
          </p:cNvSpPr>
          <p:nvPr>
            <p:ph type="title"/>
          </p:nvPr>
        </p:nvSpPr>
        <p:spPr/>
        <p:txBody>
          <a:bodyPr>
            <a:normAutofit fontScale="90000"/>
          </a:bodyPr>
          <a:lstStyle/>
          <a:p>
            <a:r>
              <a:rPr lang="en-US"/>
              <a:t>Node and NPM</a:t>
            </a:r>
          </a:p>
        </p:txBody>
      </p:sp>
      <p:pic>
        <p:nvPicPr>
          <p:cNvPr id="7" name="Picture 6" descr="A picture containing text, clipart, vector graphics&#10;&#10;Description automatically generated">
            <a:extLst>
              <a:ext uri="{FF2B5EF4-FFF2-40B4-BE49-F238E27FC236}">
                <a16:creationId xmlns:a16="http://schemas.microsoft.com/office/drawing/2014/main" id="{42CCBBF0-B156-4A9A-A751-DA1299DBAE51}"/>
              </a:ext>
            </a:extLst>
          </p:cNvPr>
          <p:cNvPicPr>
            <a:picLocks noChangeAspect="1"/>
          </p:cNvPicPr>
          <p:nvPr/>
        </p:nvPicPr>
        <p:blipFill>
          <a:blip r:embed="rId3"/>
          <a:stretch>
            <a:fillRect/>
          </a:stretch>
        </p:blipFill>
        <p:spPr>
          <a:xfrm>
            <a:off x="8860341" y="1658390"/>
            <a:ext cx="2557656" cy="1559786"/>
          </a:xfrm>
          <a:prstGeom prst="rect">
            <a:avLst/>
          </a:prstGeom>
        </p:spPr>
      </p:pic>
      <p:pic>
        <p:nvPicPr>
          <p:cNvPr id="8" name="Picture 7" descr="A red and white flag&#10;&#10;Description automatically generated with medium confidence">
            <a:extLst>
              <a:ext uri="{FF2B5EF4-FFF2-40B4-BE49-F238E27FC236}">
                <a16:creationId xmlns:a16="http://schemas.microsoft.com/office/drawing/2014/main" id="{BCA42DB0-8358-4A20-8948-C01B0F568A9E}"/>
              </a:ext>
            </a:extLst>
          </p:cNvPr>
          <p:cNvPicPr>
            <a:picLocks noChangeAspect="1"/>
          </p:cNvPicPr>
          <p:nvPr/>
        </p:nvPicPr>
        <p:blipFill>
          <a:blip r:embed="rId4"/>
          <a:stretch>
            <a:fillRect/>
          </a:stretch>
        </p:blipFill>
        <p:spPr>
          <a:xfrm>
            <a:off x="9087810" y="4443148"/>
            <a:ext cx="1967442" cy="795955"/>
          </a:xfrm>
          <a:prstGeom prst="rect">
            <a:avLst/>
          </a:prstGeom>
        </p:spPr>
      </p:pic>
    </p:spTree>
    <p:extLst>
      <p:ext uri="{BB962C8B-B14F-4D97-AF65-F5344CB8AC3E}">
        <p14:creationId xmlns:p14="http://schemas.microsoft.com/office/powerpoint/2010/main" val="488931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6727849" cy="4851832"/>
          </a:xfrm>
        </p:spPr>
        <p:txBody>
          <a:bodyPr>
            <a:normAutofit/>
          </a:bodyPr>
          <a:lstStyle/>
          <a:p>
            <a:r>
              <a:rPr lang="en-US"/>
              <a:t>JSX is a </a:t>
            </a:r>
            <a:r>
              <a:rPr lang="en-US" i="1"/>
              <a:t>syntax extension </a:t>
            </a:r>
            <a:r>
              <a:rPr lang="en-US"/>
              <a:t>to JavaScript</a:t>
            </a:r>
          </a:p>
          <a:p>
            <a:r>
              <a:rPr lang="en-US"/>
              <a:t>UI elements and logic are both specified using JSX</a:t>
            </a:r>
          </a:p>
          <a:p>
            <a:pPr lvl="1">
              <a:buFont typeface="Courier New" panose="02070309020205020404" pitchFamily="49" charset="0"/>
              <a:buChar char="o"/>
            </a:pPr>
            <a:r>
              <a:rPr lang="en-US"/>
              <a:t>Components and HTML elements are rendered</a:t>
            </a:r>
          </a:p>
          <a:p>
            <a:r>
              <a:rPr lang="en-US"/>
              <a:t>Allows in-line evaluation of JavaScript expressions using curly braces ‘{ }’</a:t>
            </a:r>
          </a:p>
          <a:p>
            <a:pPr marL="132009" lvl="1" indent="0">
              <a:buNone/>
            </a:pPr>
            <a:r>
              <a:rPr lang="en-US"/>
              <a:t>	</a:t>
            </a:r>
          </a:p>
        </p:txBody>
      </p:sp>
      <p:sp>
        <p:nvSpPr>
          <p:cNvPr id="5" name="Title 4"/>
          <p:cNvSpPr>
            <a:spLocks noGrp="1"/>
          </p:cNvSpPr>
          <p:nvPr>
            <p:ph type="title"/>
          </p:nvPr>
        </p:nvSpPr>
        <p:spPr/>
        <p:txBody>
          <a:bodyPr lIns="0" tIns="45720" rIns="91440" bIns="45720" anchor="b">
            <a:normAutofit fontScale="90000"/>
          </a:bodyPr>
          <a:lstStyle/>
          <a:p>
            <a:r>
              <a:rPr lang="en-US">
                <a:latin typeface="Gill Sans MT"/>
              </a:rPr>
              <a:t>JSX (JavaScript XML)</a:t>
            </a:r>
            <a:br>
              <a:rPr lang="en-US"/>
            </a:br>
            <a:r>
              <a:rPr lang="en-US" sz="1600">
                <a:latin typeface="Gill Sans MT"/>
              </a:rPr>
              <a:t>Introduction and Usage</a:t>
            </a:r>
            <a:endParaRPr lang="en-US">
              <a:latin typeface="Gill Sans MT"/>
            </a:endParaRPr>
          </a:p>
        </p:txBody>
      </p:sp>
      <p:pic>
        <p:nvPicPr>
          <p:cNvPr id="6" name="Picture 5">
            <a:extLst>
              <a:ext uri="{FF2B5EF4-FFF2-40B4-BE49-F238E27FC236}">
                <a16:creationId xmlns:a16="http://schemas.microsoft.com/office/drawing/2014/main" id="{569AFE3A-6482-4312-B701-43F0935761DF}"/>
              </a:ext>
            </a:extLst>
          </p:cNvPr>
          <p:cNvPicPr>
            <a:picLocks noChangeAspect="1"/>
          </p:cNvPicPr>
          <p:nvPr/>
        </p:nvPicPr>
        <p:blipFill>
          <a:blip r:embed="rId3"/>
          <a:stretch>
            <a:fillRect/>
          </a:stretch>
        </p:blipFill>
        <p:spPr>
          <a:xfrm>
            <a:off x="725860" y="3831034"/>
            <a:ext cx="4569750" cy="517125"/>
          </a:xfrm>
          <a:prstGeom prst="rect">
            <a:avLst/>
          </a:prstGeom>
        </p:spPr>
      </p:pic>
      <p:pic>
        <p:nvPicPr>
          <p:cNvPr id="7" name="Picture 6">
            <a:extLst>
              <a:ext uri="{FF2B5EF4-FFF2-40B4-BE49-F238E27FC236}">
                <a16:creationId xmlns:a16="http://schemas.microsoft.com/office/drawing/2014/main" id="{77A5AAF4-C619-4AF4-A638-6CB42DE3FCD7}"/>
              </a:ext>
            </a:extLst>
          </p:cNvPr>
          <p:cNvPicPr>
            <a:picLocks noChangeAspect="1"/>
          </p:cNvPicPr>
          <p:nvPr/>
        </p:nvPicPr>
        <p:blipFill>
          <a:blip r:embed="rId4"/>
          <a:stretch>
            <a:fillRect/>
          </a:stretch>
        </p:blipFill>
        <p:spPr>
          <a:xfrm>
            <a:off x="725860" y="4495174"/>
            <a:ext cx="5782129" cy="396635"/>
          </a:xfrm>
          <a:prstGeom prst="rect">
            <a:avLst/>
          </a:prstGeom>
        </p:spPr>
      </p:pic>
      <p:pic>
        <p:nvPicPr>
          <p:cNvPr id="8" name="Picture 7">
            <a:extLst>
              <a:ext uri="{FF2B5EF4-FFF2-40B4-BE49-F238E27FC236}">
                <a16:creationId xmlns:a16="http://schemas.microsoft.com/office/drawing/2014/main" id="{9B5169B4-68A1-4AE1-9280-338F6C7D635C}"/>
              </a:ext>
            </a:extLst>
          </p:cNvPr>
          <p:cNvPicPr>
            <a:picLocks noChangeAspect="1"/>
          </p:cNvPicPr>
          <p:nvPr/>
        </p:nvPicPr>
        <p:blipFill>
          <a:blip r:embed="rId5"/>
          <a:stretch>
            <a:fillRect/>
          </a:stretch>
        </p:blipFill>
        <p:spPr>
          <a:xfrm>
            <a:off x="725860" y="5038825"/>
            <a:ext cx="5284197" cy="376050"/>
          </a:xfrm>
          <a:prstGeom prst="rect">
            <a:avLst/>
          </a:prstGeom>
        </p:spPr>
      </p:pic>
      <p:pic>
        <p:nvPicPr>
          <p:cNvPr id="9" name="Picture 8">
            <a:extLst>
              <a:ext uri="{FF2B5EF4-FFF2-40B4-BE49-F238E27FC236}">
                <a16:creationId xmlns:a16="http://schemas.microsoft.com/office/drawing/2014/main" id="{F303B4A6-B5F5-4851-8E74-4C983816435B}"/>
              </a:ext>
            </a:extLst>
          </p:cNvPr>
          <p:cNvPicPr>
            <a:picLocks noChangeAspect="1"/>
          </p:cNvPicPr>
          <p:nvPr/>
        </p:nvPicPr>
        <p:blipFill>
          <a:blip r:embed="rId6"/>
          <a:stretch>
            <a:fillRect/>
          </a:stretch>
        </p:blipFill>
        <p:spPr>
          <a:xfrm>
            <a:off x="7714584" y="1681314"/>
            <a:ext cx="3340905" cy="1590389"/>
          </a:xfrm>
          <a:prstGeom prst="rect">
            <a:avLst/>
          </a:prstGeom>
        </p:spPr>
      </p:pic>
      <p:pic>
        <p:nvPicPr>
          <p:cNvPr id="10" name="Picture 9">
            <a:extLst>
              <a:ext uri="{FF2B5EF4-FFF2-40B4-BE49-F238E27FC236}">
                <a16:creationId xmlns:a16="http://schemas.microsoft.com/office/drawing/2014/main" id="{894C561A-2B7A-438C-93A2-E536BC02E655}"/>
              </a:ext>
            </a:extLst>
          </p:cNvPr>
          <p:cNvPicPr>
            <a:picLocks noChangeAspect="1"/>
          </p:cNvPicPr>
          <p:nvPr/>
        </p:nvPicPr>
        <p:blipFill>
          <a:blip r:embed="rId7"/>
          <a:stretch>
            <a:fillRect/>
          </a:stretch>
        </p:blipFill>
        <p:spPr>
          <a:xfrm>
            <a:off x="7338512" y="3802804"/>
            <a:ext cx="4238189" cy="1421780"/>
          </a:xfrm>
          <a:prstGeom prst="rect">
            <a:avLst/>
          </a:prstGeom>
        </p:spPr>
      </p:pic>
      <p:sp>
        <p:nvSpPr>
          <p:cNvPr id="11" name="TextBox 10">
            <a:extLst>
              <a:ext uri="{FF2B5EF4-FFF2-40B4-BE49-F238E27FC236}">
                <a16:creationId xmlns:a16="http://schemas.microsoft.com/office/drawing/2014/main" id="{EE7AF42E-E9C8-4703-9133-C13F609AC9BB}"/>
              </a:ext>
            </a:extLst>
          </p:cNvPr>
          <p:cNvSpPr txBox="1"/>
          <p:nvPr/>
        </p:nvSpPr>
        <p:spPr>
          <a:xfrm>
            <a:off x="8929650" y="1411257"/>
            <a:ext cx="1046842" cy="279127"/>
          </a:xfrm>
          <a:prstGeom prst="rect">
            <a:avLst/>
          </a:prstGeom>
          <a:noFill/>
        </p:spPr>
        <p:txBody>
          <a:bodyPr wrap="none" lIns="0" tIns="0" rIns="0" bIns="0" rtlCol="0" anchor="t">
            <a:noAutofit/>
          </a:bodyPr>
          <a:lstStyle/>
          <a:p>
            <a:pPr algn="ctr">
              <a:lnSpc>
                <a:spcPct val="100000"/>
              </a:lnSpc>
              <a:spcBef>
                <a:spcPts val="900"/>
              </a:spcBef>
              <a:buClr>
                <a:schemeClr val="tx1"/>
              </a:buClr>
              <a:buSzPct val="100000"/>
            </a:pPr>
            <a:r>
              <a:rPr lang="en-US" sz="1200"/>
              <a:t>JSX Syntax</a:t>
            </a:r>
          </a:p>
        </p:txBody>
      </p:sp>
      <p:sp>
        <p:nvSpPr>
          <p:cNvPr id="12" name="TextBox 11">
            <a:extLst>
              <a:ext uri="{FF2B5EF4-FFF2-40B4-BE49-F238E27FC236}">
                <a16:creationId xmlns:a16="http://schemas.microsoft.com/office/drawing/2014/main" id="{B18F8D9E-2FE3-454A-AD73-EF54CCBA5B06}"/>
              </a:ext>
            </a:extLst>
          </p:cNvPr>
          <p:cNvSpPr txBox="1"/>
          <p:nvPr/>
        </p:nvSpPr>
        <p:spPr>
          <a:xfrm>
            <a:off x="8450468" y="3529779"/>
            <a:ext cx="2014276" cy="288199"/>
          </a:xfrm>
          <a:prstGeom prst="rect">
            <a:avLst/>
          </a:prstGeom>
          <a:noFill/>
        </p:spPr>
        <p:txBody>
          <a:bodyPr wrap="none" lIns="0" tIns="0" rIns="0" bIns="0" rtlCol="0" anchor="t">
            <a:noAutofit/>
          </a:bodyPr>
          <a:lstStyle/>
          <a:p>
            <a:pPr algn="ctr">
              <a:lnSpc>
                <a:spcPct val="100000"/>
              </a:lnSpc>
              <a:spcBef>
                <a:spcPts val="900"/>
              </a:spcBef>
              <a:buClr>
                <a:schemeClr val="tx1"/>
              </a:buClr>
              <a:buSzPct val="100000"/>
            </a:pPr>
            <a:r>
              <a:rPr lang="en-US" sz="1200"/>
              <a:t>Plain JavaScript Syntax</a:t>
            </a:r>
          </a:p>
        </p:txBody>
      </p:sp>
    </p:spTree>
    <p:extLst>
      <p:ext uri="{BB962C8B-B14F-4D97-AF65-F5344CB8AC3E}">
        <p14:creationId xmlns:p14="http://schemas.microsoft.com/office/powerpoint/2010/main" val="1952267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D12E89-A4CB-42CC-A808-5FE7234D8020}"/>
              </a:ext>
            </a:extLst>
          </p:cNvPr>
          <p:cNvSpPr>
            <a:spLocks noGrp="1"/>
          </p:cNvSpPr>
          <p:nvPr>
            <p:ph type="body" sz="quarter" idx="10"/>
          </p:nvPr>
        </p:nvSpPr>
        <p:spPr/>
        <p:txBody>
          <a:bodyPr/>
          <a:lstStyle/>
          <a:p>
            <a:r>
              <a:rPr lang="en-US" sz="2800"/>
              <a:t>React Deep Dive</a:t>
            </a:r>
            <a:endParaRPr lang="en-US"/>
          </a:p>
        </p:txBody>
      </p:sp>
    </p:spTree>
    <p:extLst>
      <p:ext uri="{BB962C8B-B14F-4D97-AF65-F5344CB8AC3E}">
        <p14:creationId xmlns:p14="http://schemas.microsoft.com/office/powerpoint/2010/main" val="109986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6727849" cy="4851832"/>
          </a:xfrm>
        </p:spPr>
        <p:txBody>
          <a:bodyPr lIns="91440" tIns="45720" rIns="91440" bIns="45720" anchor="t">
            <a:normAutofit fontScale="85000" lnSpcReduction="10000"/>
          </a:bodyPr>
          <a:lstStyle/>
          <a:p>
            <a:pPr marL="0" indent="0">
              <a:buNone/>
            </a:pPr>
            <a:r>
              <a:rPr lang="en-US">
                <a:latin typeface="Gill Sans MT"/>
              </a:rPr>
              <a:t>Components are...</a:t>
            </a:r>
            <a:endParaRPr lang="en-US"/>
          </a:p>
          <a:p>
            <a:pPr marL="0" indent="0">
              <a:buNone/>
            </a:pPr>
            <a:endParaRPr lang="en-US">
              <a:latin typeface="Gill Sans MT"/>
            </a:endParaRPr>
          </a:p>
          <a:p>
            <a:pPr marL="452120" lvl="1">
              <a:buFont typeface="Courier New" panose="02070309020205020404" pitchFamily="49" charset="0"/>
              <a:buChar char="o"/>
            </a:pPr>
            <a:r>
              <a:rPr lang="en-US">
                <a:solidFill>
                  <a:srgbClr val="315EAB"/>
                </a:solidFill>
                <a:latin typeface="Gill Sans MT"/>
              </a:rPr>
              <a:t>The </a:t>
            </a:r>
            <a:r>
              <a:rPr lang="en-US" b="1">
                <a:solidFill>
                  <a:srgbClr val="315EAB"/>
                </a:solidFill>
                <a:latin typeface="Gill Sans MT"/>
              </a:rPr>
              <a:t>Building Blocks</a:t>
            </a:r>
            <a:r>
              <a:rPr lang="en-US">
                <a:solidFill>
                  <a:srgbClr val="315EAB"/>
                </a:solidFill>
                <a:latin typeface="Gill Sans MT"/>
              </a:rPr>
              <a:t> of React</a:t>
            </a:r>
            <a:endParaRPr lang="en-US">
              <a:solidFill>
                <a:srgbClr val="A6A6A6"/>
              </a:solidFill>
            </a:endParaRPr>
          </a:p>
          <a:p>
            <a:pPr marL="690245" lvl="2">
              <a:buFont typeface="Courier New" panose="02070309020205020404" pitchFamily="49" charset="0"/>
              <a:buChar char="o"/>
            </a:pPr>
            <a:r>
              <a:rPr lang="en-US">
                <a:solidFill>
                  <a:srgbClr val="A6A6A6"/>
                </a:solidFill>
                <a:latin typeface="Gill Sans MT"/>
              </a:rPr>
              <a:t>Developers</a:t>
            </a:r>
            <a:r>
              <a:rPr lang="en-US">
                <a:latin typeface="Gill Sans MT"/>
              </a:rPr>
              <a:t> can use components from external libraries and build their own</a:t>
            </a:r>
            <a:endParaRPr lang="en-US"/>
          </a:p>
          <a:p>
            <a:pPr marL="452120" lvl="1">
              <a:buFont typeface="Courier New" panose="02070309020205020404" pitchFamily="49" charset="0"/>
              <a:buChar char="o"/>
            </a:pPr>
            <a:r>
              <a:rPr lang="en-US" b="1">
                <a:solidFill>
                  <a:srgbClr val="315EAB"/>
                </a:solidFill>
                <a:latin typeface="Gill Sans MT"/>
              </a:rPr>
              <a:t>Reusable</a:t>
            </a:r>
          </a:p>
          <a:p>
            <a:pPr marL="690245" lvl="2"/>
            <a:r>
              <a:rPr lang="en-US">
                <a:latin typeface="Gill Sans MT"/>
              </a:rPr>
              <a:t>Components be used multiple times in the application and can look and behave differently based on props given to the component</a:t>
            </a:r>
          </a:p>
          <a:p>
            <a:pPr marL="452120" lvl="1">
              <a:buFont typeface="Courier New" panose="02070309020205020404" pitchFamily="49" charset="0"/>
              <a:buChar char="o"/>
            </a:pPr>
            <a:r>
              <a:rPr lang="en-US" b="1">
                <a:solidFill>
                  <a:srgbClr val="315EAB"/>
                </a:solidFill>
                <a:latin typeface="Gill Sans MT"/>
              </a:rPr>
              <a:t>Hierarchical</a:t>
            </a:r>
            <a:r>
              <a:rPr lang="en-US">
                <a:solidFill>
                  <a:srgbClr val="315EAB"/>
                </a:solidFill>
                <a:latin typeface="Gill Sans MT"/>
              </a:rPr>
              <a:t> </a:t>
            </a:r>
            <a:endParaRPr lang="en-US">
              <a:solidFill>
                <a:srgbClr val="315EAB"/>
              </a:solidFill>
            </a:endParaRPr>
          </a:p>
          <a:p>
            <a:pPr marL="690245" lvl="2"/>
            <a:r>
              <a:rPr lang="en-US">
                <a:latin typeface="Gill Sans MT"/>
              </a:rPr>
              <a:t>Components can contain other components</a:t>
            </a:r>
          </a:p>
          <a:p>
            <a:pPr marL="452120" lvl="1">
              <a:buFont typeface="Courier New" panose="02070309020205020404" pitchFamily="49" charset="0"/>
              <a:buChar char="o"/>
            </a:pPr>
            <a:r>
              <a:rPr lang="en-US" b="1">
                <a:solidFill>
                  <a:srgbClr val="315EAB"/>
                </a:solidFill>
                <a:latin typeface="Gill Sans MT"/>
              </a:rPr>
              <a:t>Stateful</a:t>
            </a:r>
          </a:p>
          <a:p>
            <a:pPr marL="690245" lvl="2"/>
            <a:r>
              <a:rPr lang="en-US">
                <a:latin typeface="Gill Sans MT"/>
              </a:rPr>
              <a:t>An internal state object is maintained by the component</a:t>
            </a:r>
          </a:p>
          <a:p>
            <a:pPr lvl="3" indent="-223520"/>
            <a:r>
              <a:rPr lang="en-US">
                <a:latin typeface="Gill Sans MT"/>
              </a:rPr>
              <a:t>#2: check box contains "checked" state</a:t>
            </a:r>
          </a:p>
          <a:p>
            <a:pPr marL="690245" lvl="2"/>
            <a:r>
              <a:rPr lang="en-US">
                <a:latin typeface="Gill Sans MT"/>
              </a:rPr>
              <a:t>Stateless components also exist</a:t>
            </a:r>
          </a:p>
          <a:p>
            <a:pPr lvl="3" indent="-223520"/>
            <a:r>
              <a:rPr lang="en-US">
                <a:solidFill>
                  <a:srgbClr val="A6A6A6"/>
                </a:solidFill>
                <a:latin typeface="Gill Sans MT"/>
              </a:rPr>
              <a:t>#5: item name and price do not change</a:t>
            </a:r>
          </a:p>
          <a:p>
            <a:pPr marL="452120" lvl="1">
              <a:buFont typeface="Courier New" panose="02070309020205020404" pitchFamily="49" charset="0"/>
              <a:buChar char="o"/>
            </a:pPr>
            <a:r>
              <a:rPr lang="en-US" b="1">
                <a:solidFill>
                  <a:srgbClr val="315EAB"/>
                </a:solidFill>
                <a:latin typeface="Gill Sans MT"/>
              </a:rPr>
              <a:t>Can be “Class” or “Function” type</a:t>
            </a:r>
          </a:p>
          <a:p>
            <a:pPr marL="690245" lvl="2"/>
            <a:r>
              <a:rPr lang="en-US">
                <a:latin typeface="Gill Sans MT"/>
              </a:rPr>
              <a:t>Components are contained within an ES6 class or a JavaScript function</a:t>
            </a:r>
          </a:p>
          <a:p>
            <a:pPr marL="131445" lvl="1" indent="0">
              <a:buNone/>
            </a:pPr>
            <a:r>
              <a:rPr lang="en-US">
                <a:latin typeface="Gill Sans MT"/>
              </a:rPr>
              <a:t>	</a:t>
            </a:r>
          </a:p>
        </p:txBody>
      </p:sp>
      <p:sp>
        <p:nvSpPr>
          <p:cNvPr id="5" name="Title 4"/>
          <p:cNvSpPr>
            <a:spLocks noGrp="1"/>
          </p:cNvSpPr>
          <p:nvPr>
            <p:ph type="title"/>
          </p:nvPr>
        </p:nvSpPr>
        <p:spPr/>
        <p:txBody>
          <a:bodyPr>
            <a:normAutofit fontScale="90000"/>
          </a:bodyPr>
          <a:lstStyle/>
          <a:p>
            <a:r>
              <a:rPr lang="en-US"/>
              <a:t>React Components</a:t>
            </a:r>
            <a:br>
              <a:rPr lang="en-US"/>
            </a:br>
            <a:r>
              <a:rPr lang="en-US" sz="1600"/>
              <a:t>Introduction</a:t>
            </a:r>
            <a:endParaRPr lang="en-US"/>
          </a:p>
        </p:txBody>
      </p:sp>
      <p:pic>
        <p:nvPicPr>
          <p:cNvPr id="13" name="Picture 12">
            <a:extLst>
              <a:ext uri="{FF2B5EF4-FFF2-40B4-BE49-F238E27FC236}">
                <a16:creationId xmlns:a16="http://schemas.microsoft.com/office/drawing/2014/main" id="{BD3C53CD-F8EB-4285-B72A-1335B88AF223}"/>
              </a:ext>
            </a:extLst>
          </p:cNvPr>
          <p:cNvPicPr>
            <a:picLocks noChangeAspect="1"/>
          </p:cNvPicPr>
          <p:nvPr/>
        </p:nvPicPr>
        <p:blipFill>
          <a:blip r:embed="rId3"/>
          <a:stretch>
            <a:fillRect/>
          </a:stretch>
        </p:blipFill>
        <p:spPr>
          <a:xfrm>
            <a:off x="7070638" y="1520170"/>
            <a:ext cx="5046847" cy="3280819"/>
          </a:xfrm>
          <a:prstGeom prst="rect">
            <a:avLst/>
          </a:prstGeom>
        </p:spPr>
      </p:pic>
    </p:spTree>
    <p:extLst>
      <p:ext uri="{BB962C8B-B14F-4D97-AF65-F5344CB8AC3E}">
        <p14:creationId xmlns:p14="http://schemas.microsoft.com/office/powerpoint/2010/main" val="322060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10277" y="1246094"/>
            <a:ext cx="4753303" cy="4851832"/>
          </a:xfrm>
        </p:spPr>
        <p:txBody>
          <a:bodyPr lIns="91440" tIns="45720" rIns="91440" bIns="45720" anchor="t">
            <a:normAutofit lnSpcReduction="10000"/>
          </a:bodyPr>
          <a:lstStyle/>
          <a:p>
            <a:pPr marL="0" indent="0">
              <a:buNone/>
            </a:pPr>
            <a:r>
              <a:rPr lang="en-US" dirty="0">
                <a:latin typeface="Gill Sans MT"/>
              </a:rPr>
              <a:t>Components have...</a:t>
            </a:r>
            <a:endParaRPr lang="en-US" dirty="0"/>
          </a:p>
          <a:p>
            <a:pPr marL="452120" lvl="1">
              <a:buFont typeface="Courier New" panose="02070309020205020404" pitchFamily="49" charset="0"/>
              <a:buChar char="o"/>
            </a:pPr>
            <a:r>
              <a:rPr lang="en-US" dirty="0">
                <a:solidFill>
                  <a:srgbClr val="315EAB"/>
                </a:solidFill>
                <a:latin typeface="Gill Sans MT"/>
              </a:rPr>
              <a:t>Props</a:t>
            </a:r>
          </a:p>
          <a:p>
            <a:pPr marL="690245" lvl="2"/>
            <a:r>
              <a:rPr lang="en-US" dirty="0">
                <a:latin typeface="Gill Sans MT"/>
              </a:rPr>
              <a:t>Passed from the parent to the child component</a:t>
            </a:r>
          </a:p>
          <a:p>
            <a:pPr marL="690245" lvl="2"/>
            <a:r>
              <a:rPr lang="en-US" dirty="0">
                <a:latin typeface="Gill Sans MT"/>
              </a:rPr>
              <a:t>Component cannot change its own props (read-only)</a:t>
            </a:r>
          </a:p>
          <a:p>
            <a:pPr marL="690245" lvl="2"/>
            <a:r>
              <a:rPr lang="en-US" dirty="0">
                <a:latin typeface="Gill Sans MT"/>
              </a:rPr>
              <a:t>Changing props triggers a re-render</a:t>
            </a:r>
          </a:p>
          <a:p>
            <a:pPr marL="131445" lvl="1" indent="0">
              <a:buNone/>
            </a:pPr>
            <a:endParaRPr lang="en-US" dirty="0"/>
          </a:p>
          <a:p>
            <a:pPr marL="452120" lvl="1">
              <a:buFont typeface="Courier New" panose="02070309020205020404" pitchFamily="49" charset="0"/>
              <a:buChar char="o"/>
            </a:pPr>
            <a:r>
              <a:rPr lang="en-US" dirty="0">
                <a:solidFill>
                  <a:srgbClr val="315EAB"/>
                </a:solidFill>
                <a:latin typeface="Gill Sans MT"/>
              </a:rPr>
              <a:t>State</a:t>
            </a:r>
          </a:p>
          <a:p>
            <a:pPr marL="690245" lvl="2"/>
            <a:r>
              <a:rPr lang="en-US" dirty="0">
                <a:latin typeface="Gill Sans MT"/>
              </a:rPr>
              <a:t>Initial state is determined by the component</a:t>
            </a:r>
          </a:p>
          <a:p>
            <a:pPr marL="690245" lvl="2"/>
            <a:r>
              <a:rPr lang="en-US" dirty="0">
                <a:latin typeface="Gill Sans MT"/>
              </a:rPr>
              <a:t>State object is immutable, instead updated using lifecycle function</a:t>
            </a:r>
          </a:p>
          <a:p>
            <a:pPr marL="690245" lvl="2"/>
            <a:r>
              <a:rPr lang="en-US" dirty="0">
                <a:latin typeface="Gill Sans MT"/>
              </a:rPr>
              <a:t>Changing state triggers a re-render</a:t>
            </a:r>
          </a:p>
          <a:p>
            <a:pPr marL="914082" lvl="3"/>
            <a:r>
              <a:rPr lang="en-US" dirty="0">
                <a:latin typeface="Gill Sans MT"/>
              </a:rPr>
              <a:t>Otherwise your UI will not update when variables update</a:t>
            </a:r>
          </a:p>
        </p:txBody>
      </p:sp>
      <p:sp>
        <p:nvSpPr>
          <p:cNvPr id="5" name="Title 4"/>
          <p:cNvSpPr>
            <a:spLocks noGrp="1"/>
          </p:cNvSpPr>
          <p:nvPr>
            <p:ph type="title"/>
          </p:nvPr>
        </p:nvSpPr>
        <p:spPr/>
        <p:txBody>
          <a:bodyPr>
            <a:normAutofit fontScale="90000"/>
          </a:bodyPr>
          <a:lstStyle/>
          <a:p>
            <a:r>
              <a:rPr lang="en-US"/>
              <a:t>React Components</a:t>
            </a:r>
            <a:br>
              <a:rPr lang="en-US"/>
            </a:br>
            <a:r>
              <a:rPr lang="en-US" sz="1600"/>
              <a:t>Continued</a:t>
            </a:r>
            <a:endParaRPr lang="en-US"/>
          </a:p>
        </p:txBody>
      </p:sp>
      <p:pic>
        <p:nvPicPr>
          <p:cNvPr id="6" name="Picture 5">
            <a:extLst>
              <a:ext uri="{FF2B5EF4-FFF2-40B4-BE49-F238E27FC236}">
                <a16:creationId xmlns:a16="http://schemas.microsoft.com/office/drawing/2014/main" id="{ACB6B42E-4C85-4E3C-A5A9-B06D4FEC4DB3}"/>
              </a:ext>
            </a:extLst>
          </p:cNvPr>
          <p:cNvPicPr>
            <a:picLocks noChangeAspect="1"/>
          </p:cNvPicPr>
          <p:nvPr/>
        </p:nvPicPr>
        <p:blipFill>
          <a:blip r:embed="rId3"/>
          <a:stretch>
            <a:fillRect/>
          </a:stretch>
        </p:blipFill>
        <p:spPr>
          <a:xfrm>
            <a:off x="5574448" y="1045998"/>
            <a:ext cx="6283524" cy="2551035"/>
          </a:xfrm>
          <a:prstGeom prst="rect">
            <a:avLst/>
          </a:prstGeom>
        </p:spPr>
      </p:pic>
      <p:pic>
        <p:nvPicPr>
          <p:cNvPr id="7" name="Picture 6">
            <a:extLst>
              <a:ext uri="{FF2B5EF4-FFF2-40B4-BE49-F238E27FC236}">
                <a16:creationId xmlns:a16="http://schemas.microsoft.com/office/drawing/2014/main" id="{A5F10D5E-4183-414C-8C63-9D9F0C9474EC}"/>
              </a:ext>
            </a:extLst>
          </p:cNvPr>
          <p:cNvPicPr>
            <a:picLocks noChangeAspect="1"/>
          </p:cNvPicPr>
          <p:nvPr/>
        </p:nvPicPr>
        <p:blipFill>
          <a:blip r:embed="rId4"/>
          <a:stretch>
            <a:fillRect/>
          </a:stretch>
        </p:blipFill>
        <p:spPr>
          <a:xfrm>
            <a:off x="5573811" y="3861067"/>
            <a:ext cx="4203482" cy="2296810"/>
          </a:xfrm>
          <a:prstGeom prst="rect">
            <a:avLst/>
          </a:prstGeom>
        </p:spPr>
      </p:pic>
    </p:spTree>
    <p:extLst>
      <p:ext uri="{BB962C8B-B14F-4D97-AF65-F5344CB8AC3E}">
        <p14:creationId xmlns:p14="http://schemas.microsoft.com/office/powerpoint/2010/main" val="898727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10510634" cy="4851832"/>
          </a:xfrm>
        </p:spPr>
        <p:txBody>
          <a:bodyPr>
            <a:normAutofit/>
          </a:bodyPr>
          <a:lstStyle/>
          <a:p>
            <a:r>
              <a:rPr lang="en-US" dirty="0"/>
              <a:t>JavaScript function named “App” </a:t>
            </a:r>
          </a:p>
          <a:p>
            <a:r>
              <a:rPr lang="en-US" dirty="0"/>
              <a:t>Receives “props” as a function parameter</a:t>
            </a:r>
          </a:p>
          <a:p>
            <a:r>
              <a:rPr lang="en-US" dirty="0"/>
              <a:t>Function returns what will be rendered on webpage (JSX)</a:t>
            </a:r>
          </a:p>
          <a:p>
            <a:r>
              <a:rPr lang="en-US" dirty="0"/>
              <a:t>“</a:t>
            </a:r>
            <a:r>
              <a:rPr lang="en-US" dirty="0" err="1"/>
              <a:t>useState</a:t>
            </a:r>
            <a:r>
              <a:rPr lang="en-US" dirty="0"/>
              <a:t>” used to track variables, any variables you might change in another language</a:t>
            </a:r>
          </a:p>
          <a:p>
            <a:pPr marL="132009" lvl="1" indent="0">
              <a:buNone/>
            </a:pPr>
            <a:endParaRPr lang="en-US" dirty="0"/>
          </a:p>
        </p:txBody>
      </p:sp>
      <p:sp>
        <p:nvSpPr>
          <p:cNvPr id="5" name="Title 4"/>
          <p:cNvSpPr>
            <a:spLocks noGrp="1"/>
          </p:cNvSpPr>
          <p:nvPr>
            <p:ph type="title"/>
          </p:nvPr>
        </p:nvSpPr>
        <p:spPr>
          <a:xfrm>
            <a:off x="401811" y="467837"/>
            <a:ext cx="11374611" cy="365760"/>
          </a:xfrm>
        </p:spPr>
        <p:txBody>
          <a:bodyPr>
            <a:normAutofit fontScale="90000"/>
          </a:bodyPr>
          <a:lstStyle/>
          <a:p>
            <a:r>
              <a:rPr lang="en-US" dirty="0"/>
              <a:t>React Functional Component (*Recommended*)</a:t>
            </a:r>
            <a:br>
              <a:rPr lang="en-US" dirty="0"/>
            </a:br>
            <a:r>
              <a:rPr lang="en-US" sz="1600" dirty="0"/>
              <a:t>Example</a:t>
            </a:r>
            <a:endParaRPr lang="en-US" dirty="0"/>
          </a:p>
        </p:txBody>
      </p:sp>
      <p:pic>
        <p:nvPicPr>
          <p:cNvPr id="6" name="Picture 5">
            <a:extLst>
              <a:ext uri="{FF2B5EF4-FFF2-40B4-BE49-F238E27FC236}">
                <a16:creationId xmlns:a16="http://schemas.microsoft.com/office/drawing/2014/main" id="{BEC29965-8B15-476A-B0BD-9CE66F87E59F}"/>
              </a:ext>
            </a:extLst>
          </p:cNvPr>
          <p:cNvPicPr>
            <a:picLocks noChangeAspect="1"/>
          </p:cNvPicPr>
          <p:nvPr/>
        </p:nvPicPr>
        <p:blipFill>
          <a:blip r:embed="rId3"/>
          <a:stretch>
            <a:fillRect/>
          </a:stretch>
        </p:blipFill>
        <p:spPr>
          <a:xfrm>
            <a:off x="705025" y="3670924"/>
            <a:ext cx="6669926" cy="2200506"/>
          </a:xfrm>
          <a:prstGeom prst="rect">
            <a:avLst/>
          </a:prstGeom>
        </p:spPr>
      </p:pic>
      <p:pic>
        <p:nvPicPr>
          <p:cNvPr id="7" name="Picture 6">
            <a:extLst>
              <a:ext uri="{FF2B5EF4-FFF2-40B4-BE49-F238E27FC236}">
                <a16:creationId xmlns:a16="http://schemas.microsoft.com/office/drawing/2014/main" id="{6F690A4A-F6A4-4B84-9A6F-63837E7F0AA9}"/>
              </a:ext>
            </a:extLst>
          </p:cNvPr>
          <p:cNvPicPr>
            <a:picLocks noChangeAspect="1"/>
          </p:cNvPicPr>
          <p:nvPr/>
        </p:nvPicPr>
        <p:blipFill>
          <a:blip r:embed="rId4"/>
          <a:stretch>
            <a:fillRect/>
          </a:stretch>
        </p:blipFill>
        <p:spPr>
          <a:xfrm>
            <a:off x="8811515" y="3671748"/>
            <a:ext cx="2433005" cy="2206401"/>
          </a:xfrm>
          <a:prstGeom prst="rect">
            <a:avLst/>
          </a:prstGeom>
          <a:ln>
            <a:solidFill>
              <a:schemeClr val="tx1"/>
            </a:solidFill>
          </a:ln>
        </p:spPr>
      </p:pic>
    </p:spTree>
    <p:extLst>
      <p:ext uri="{BB962C8B-B14F-4D97-AF65-F5344CB8AC3E}">
        <p14:creationId xmlns:p14="http://schemas.microsoft.com/office/powerpoint/2010/main" val="865999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11054920" cy="4851832"/>
          </a:xfrm>
        </p:spPr>
        <p:txBody>
          <a:bodyPr>
            <a:normAutofit/>
          </a:bodyPr>
          <a:lstStyle/>
          <a:p>
            <a:r>
              <a:rPr lang="en-US"/>
              <a:t>Class “App” extends </a:t>
            </a:r>
            <a:r>
              <a:rPr lang="en-US" err="1"/>
              <a:t>React.Component</a:t>
            </a:r>
            <a:endParaRPr lang="en-US"/>
          </a:p>
          <a:p>
            <a:r>
              <a:rPr lang="en-US"/>
              <a:t>Receives “props” as parameter to constructor</a:t>
            </a:r>
          </a:p>
          <a:p>
            <a:r>
              <a:rPr lang="en-US"/>
              <a:t>Render() function returns what will be rendered on webpage (JSX)</a:t>
            </a:r>
          </a:p>
          <a:p>
            <a:r>
              <a:rPr lang="en-US"/>
              <a:t>Initial state is specified in constructor</a:t>
            </a:r>
          </a:p>
          <a:p>
            <a:pPr marL="132009" lvl="1" indent="0">
              <a:buNone/>
            </a:pPr>
            <a:endParaRPr lang="en-US"/>
          </a:p>
        </p:txBody>
      </p:sp>
      <p:sp>
        <p:nvSpPr>
          <p:cNvPr id="5" name="Title 4"/>
          <p:cNvSpPr>
            <a:spLocks noGrp="1"/>
          </p:cNvSpPr>
          <p:nvPr>
            <p:ph type="title"/>
          </p:nvPr>
        </p:nvSpPr>
        <p:spPr/>
        <p:txBody>
          <a:bodyPr>
            <a:normAutofit fontScale="90000"/>
          </a:bodyPr>
          <a:lstStyle/>
          <a:p>
            <a:r>
              <a:rPr lang="en-US"/>
              <a:t>React Class Component</a:t>
            </a:r>
            <a:br>
              <a:rPr lang="en-US"/>
            </a:br>
            <a:r>
              <a:rPr lang="en-US" sz="1600"/>
              <a:t>Example</a:t>
            </a:r>
            <a:endParaRPr lang="en-US"/>
          </a:p>
        </p:txBody>
      </p:sp>
      <p:pic>
        <p:nvPicPr>
          <p:cNvPr id="9" name="Picture 8">
            <a:extLst>
              <a:ext uri="{FF2B5EF4-FFF2-40B4-BE49-F238E27FC236}">
                <a16:creationId xmlns:a16="http://schemas.microsoft.com/office/drawing/2014/main" id="{178B3937-E00C-4850-B272-3E184A5EA6CF}"/>
              </a:ext>
            </a:extLst>
          </p:cNvPr>
          <p:cNvPicPr>
            <a:picLocks noChangeAspect="1"/>
          </p:cNvPicPr>
          <p:nvPr/>
        </p:nvPicPr>
        <p:blipFill>
          <a:blip r:embed="rId3"/>
          <a:stretch>
            <a:fillRect/>
          </a:stretch>
        </p:blipFill>
        <p:spPr>
          <a:xfrm>
            <a:off x="556253" y="3066143"/>
            <a:ext cx="7986466" cy="3138276"/>
          </a:xfrm>
          <a:prstGeom prst="rect">
            <a:avLst/>
          </a:prstGeom>
        </p:spPr>
      </p:pic>
      <p:pic>
        <p:nvPicPr>
          <p:cNvPr id="10" name="Picture 9">
            <a:extLst>
              <a:ext uri="{FF2B5EF4-FFF2-40B4-BE49-F238E27FC236}">
                <a16:creationId xmlns:a16="http://schemas.microsoft.com/office/drawing/2014/main" id="{1FF69354-BB57-471C-A6C7-A50C4EB3631E}"/>
              </a:ext>
            </a:extLst>
          </p:cNvPr>
          <p:cNvPicPr>
            <a:picLocks noChangeAspect="1"/>
          </p:cNvPicPr>
          <p:nvPr/>
        </p:nvPicPr>
        <p:blipFill>
          <a:blip r:embed="rId4"/>
          <a:stretch>
            <a:fillRect/>
          </a:stretch>
        </p:blipFill>
        <p:spPr>
          <a:xfrm>
            <a:off x="8890684" y="3770709"/>
            <a:ext cx="2433005" cy="2206401"/>
          </a:xfrm>
          <a:prstGeom prst="rect">
            <a:avLst/>
          </a:prstGeom>
          <a:ln>
            <a:solidFill>
              <a:schemeClr val="tx1"/>
            </a:solidFill>
          </a:ln>
        </p:spPr>
      </p:pic>
    </p:spTree>
    <p:extLst>
      <p:ext uri="{BB962C8B-B14F-4D97-AF65-F5344CB8AC3E}">
        <p14:creationId xmlns:p14="http://schemas.microsoft.com/office/powerpoint/2010/main" val="4003535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7214682" cy="4851832"/>
          </a:xfrm>
        </p:spPr>
        <p:txBody>
          <a:bodyPr lIns="91440" tIns="45720" rIns="91440" bIns="45720" anchor="t">
            <a:normAutofit/>
          </a:bodyPr>
          <a:lstStyle/>
          <a:p>
            <a:pPr marL="17145" lvl="1" indent="0">
              <a:buNone/>
            </a:pPr>
            <a:r>
              <a:rPr lang="en-US">
                <a:solidFill>
                  <a:srgbClr val="315EAB"/>
                </a:solidFill>
              </a:rPr>
              <a:t>The lifecycle of a React component</a:t>
            </a:r>
            <a:r>
              <a:rPr lang="en-US"/>
              <a:t>:</a:t>
            </a:r>
          </a:p>
          <a:p>
            <a:pPr marL="389890" lvl="2">
              <a:buFont typeface="+mj-lt"/>
              <a:buAutoNum type="arabicPeriod"/>
            </a:pPr>
            <a:r>
              <a:rPr lang="en-US"/>
              <a:t>Component </a:t>
            </a:r>
            <a:r>
              <a:rPr lang="en-US" i="1"/>
              <a:t>mount</a:t>
            </a:r>
          </a:p>
          <a:p>
            <a:pPr lvl="3" indent="-223520"/>
            <a:r>
              <a:rPr lang="en-US"/>
              <a:t>First render</a:t>
            </a:r>
          </a:p>
          <a:p>
            <a:pPr lvl="3" indent="-223520"/>
            <a:r>
              <a:rPr lang="en-US"/>
              <a:t>Setup component (API calls, subscriptions, etc.)</a:t>
            </a:r>
          </a:p>
          <a:p>
            <a:pPr marL="389890" lvl="2">
              <a:buFont typeface="+mj-lt"/>
              <a:buAutoNum type="arabicPeriod"/>
            </a:pPr>
            <a:endParaRPr lang="en-US"/>
          </a:p>
          <a:p>
            <a:pPr marL="389890" lvl="2">
              <a:buFont typeface="+mj-lt"/>
              <a:buAutoNum type="arabicPeriod"/>
            </a:pPr>
            <a:r>
              <a:rPr lang="en-US"/>
              <a:t>Component </a:t>
            </a:r>
            <a:r>
              <a:rPr lang="en-US" i="1"/>
              <a:t>updates</a:t>
            </a:r>
            <a:r>
              <a:rPr lang="en-US"/>
              <a:t> repeatedly in response to changes to received props or internal state</a:t>
            </a:r>
          </a:p>
          <a:p>
            <a:pPr lvl="3" indent="-223520"/>
            <a:r>
              <a:rPr lang="en-US"/>
              <a:t>Responsive and dynamic UI</a:t>
            </a:r>
          </a:p>
          <a:p>
            <a:pPr lvl="3" indent="-223520"/>
            <a:r>
              <a:rPr lang="en-US"/>
              <a:t>Updates are asynchronous – scheduled by React</a:t>
            </a:r>
          </a:p>
          <a:p>
            <a:pPr marL="389890" lvl="2">
              <a:buFont typeface="+mj-lt"/>
              <a:buAutoNum type="arabicPeriod"/>
            </a:pPr>
            <a:endParaRPr lang="en-US"/>
          </a:p>
          <a:p>
            <a:pPr marL="389890" lvl="2">
              <a:buFont typeface="+mj-lt"/>
              <a:buAutoNum type="arabicPeriod"/>
            </a:pPr>
            <a:r>
              <a:rPr lang="en-US"/>
              <a:t>Component </a:t>
            </a:r>
            <a:r>
              <a:rPr lang="en-US" i="1"/>
              <a:t>unmount</a:t>
            </a:r>
            <a:endParaRPr lang="en-US"/>
          </a:p>
          <a:p>
            <a:pPr lvl="3" indent="-223520"/>
            <a:r>
              <a:rPr lang="en-US"/>
              <a:t>Occurs when component no longer needs to be rendered</a:t>
            </a:r>
          </a:p>
          <a:p>
            <a:pPr lvl="3" indent="-223520"/>
            <a:r>
              <a:rPr lang="en-US"/>
              <a:t>Cleanup what was setup on mount (cancel API calls, unsubscribe, etc.)</a:t>
            </a:r>
          </a:p>
          <a:p>
            <a:pPr marL="690245" lvl="2"/>
            <a:endParaRPr lang="en-US"/>
          </a:p>
        </p:txBody>
      </p:sp>
      <p:sp>
        <p:nvSpPr>
          <p:cNvPr id="5" name="Title 4"/>
          <p:cNvSpPr>
            <a:spLocks noGrp="1"/>
          </p:cNvSpPr>
          <p:nvPr>
            <p:ph type="title"/>
          </p:nvPr>
        </p:nvSpPr>
        <p:spPr/>
        <p:txBody>
          <a:bodyPr>
            <a:normAutofit fontScale="90000"/>
          </a:bodyPr>
          <a:lstStyle/>
          <a:p>
            <a:r>
              <a:rPr lang="en-US"/>
              <a:t>React Lifecycle</a:t>
            </a:r>
          </a:p>
        </p:txBody>
      </p:sp>
      <p:sp>
        <p:nvSpPr>
          <p:cNvPr id="8" name="Rectangle 7">
            <a:extLst>
              <a:ext uri="{FF2B5EF4-FFF2-40B4-BE49-F238E27FC236}">
                <a16:creationId xmlns:a16="http://schemas.microsoft.com/office/drawing/2014/main" id="{D5F436D5-671C-4FA9-96FA-9A4CDCD5A315}"/>
              </a:ext>
            </a:extLst>
          </p:cNvPr>
          <p:cNvSpPr/>
          <p:nvPr/>
        </p:nvSpPr>
        <p:spPr>
          <a:xfrm>
            <a:off x="8359775" y="1962588"/>
            <a:ext cx="1676400" cy="609600"/>
          </a:xfrm>
          <a:prstGeom prst="rect">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a:t>Component Mount</a:t>
            </a:r>
          </a:p>
        </p:txBody>
      </p:sp>
      <p:sp>
        <p:nvSpPr>
          <p:cNvPr id="9" name="Rectangle 8">
            <a:extLst>
              <a:ext uri="{FF2B5EF4-FFF2-40B4-BE49-F238E27FC236}">
                <a16:creationId xmlns:a16="http://schemas.microsoft.com/office/drawing/2014/main" id="{162623CB-2780-4D57-ACF1-93B4756167D5}"/>
              </a:ext>
            </a:extLst>
          </p:cNvPr>
          <p:cNvSpPr/>
          <p:nvPr/>
        </p:nvSpPr>
        <p:spPr>
          <a:xfrm>
            <a:off x="8359775" y="3032707"/>
            <a:ext cx="1676400" cy="609600"/>
          </a:xfrm>
          <a:prstGeom prst="rect">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a:t>Component Update</a:t>
            </a:r>
          </a:p>
        </p:txBody>
      </p:sp>
      <p:sp>
        <p:nvSpPr>
          <p:cNvPr id="10" name="Rectangle 9">
            <a:extLst>
              <a:ext uri="{FF2B5EF4-FFF2-40B4-BE49-F238E27FC236}">
                <a16:creationId xmlns:a16="http://schemas.microsoft.com/office/drawing/2014/main" id="{C2133E17-2C5B-44CD-B0F1-0499A270FAE6}"/>
              </a:ext>
            </a:extLst>
          </p:cNvPr>
          <p:cNvSpPr/>
          <p:nvPr/>
        </p:nvSpPr>
        <p:spPr>
          <a:xfrm>
            <a:off x="8359775" y="4185687"/>
            <a:ext cx="1676400" cy="609600"/>
          </a:xfrm>
          <a:prstGeom prst="rect">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a:t>Component Unmount</a:t>
            </a:r>
          </a:p>
        </p:txBody>
      </p:sp>
      <p:cxnSp>
        <p:nvCxnSpPr>
          <p:cNvPr id="11" name="Straight Arrow Connector 10">
            <a:extLst>
              <a:ext uri="{FF2B5EF4-FFF2-40B4-BE49-F238E27FC236}">
                <a16:creationId xmlns:a16="http://schemas.microsoft.com/office/drawing/2014/main" id="{5EEA48B2-FAF1-4C7E-A2FC-9A8A4EE8D194}"/>
              </a:ext>
            </a:extLst>
          </p:cNvPr>
          <p:cNvCxnSpPr>
            <a:cxnSpLocks/>
          </p:cNvCxnSpPr>
          <p:nvPr/>
        </p:nvCxnSpPr>
        <p:spPr>
          <a:xfrm>
            <a:off x="9197975" y="2572188"/>
            <a:ext cx="0" cy="460519"/>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12" name="Straight Arrow Connector 11">
            <a:extLst>
              <a:ext uri="{FF2B5EF4-FFF2-40B4-BE49-F238E27FC236}">
                <a16:creationId xmlns:a16="http://schemas.microsoft.com/office/drawing/2014/main" id="{05BA372D-EC04-4EE9-A00A-2DAA5678206E}"/>
              </a:ext>
            </a:extLst>
          </p:cNvPr>
          <p:cNvCxnSpPr>
            <a:cxnSpLocks/>
          </p:cNvCxnSpPr>
          <p:nvPr/>
        </p:nvCxnSpPr>
        <p:spPr>
          <a:xfrm>
            <a:off x="9197975" y="3642307"/>
            <a:ext cx="0" cy="54338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13" name="Connector: Elbow 12">
            <a:extLst>
              <a:ext uri="{FF2B5EF4-FFF2-40B4-BE49-F238E27FC236}">
                <a16:creationId xmlns:a16="http://schemas.microsoft.com/office/drawing/2014/main" id="{A71A8EAC-C0BB-4FDD-BB54-D5A42B89F824}"/>
              </a:ext>
            </a:extLst>
          </p:cNvPr>
          <p:cNvCxnSpPr>
            <a:cxnSpLocks/>
          </p:cNvCxnSpPr>
          <p:nvPr/>
        </p:nvCxnSpPr>
        <p:spPr>
          <a:xfrm rot="5400000" flipH="1" flipV="1">
            <a:off x="9464675" y="3070807"/>
            <a:ext cx="304800" cy="838200"/>
          </a:xfrm>
          <a:prstGeom prst="bentConnector4">
            <a:avLst>
              <a:gd name="adj1" fmla="val -75000"/>
              <a:gd name="adj2" fmla="val 127273"/>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14" name="TextBox 13">
            <a:extLst>
              <a:ext uri="{FF2B5EF4-FFF2-40B4-BE49-F238E27FC236}">
                <a16:creationId xmlns:a16="http://schemas.microsoft.com/office/drawing/2014/main" id="{8708EDA6-6598-4B71-B012-DADE6E16CF5B}"/>
              </a:ext>
            </a:extLst>
          </p:cNvPr>
          <p:cNvSpPr txBox="1"/>
          <p:nvPr/>
        </p:nvSpPr>
        <p:spPr>
          <a:xfrm>
            <a:off x="10340975" y="3356995"/>
            <a:ext cx="1066800" cy="672661"/>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a:t>State or </a:t>
            </a:r>
          </a:p>
          <a:p>
            <a:pPr>
              <a:lnSpc>
                <a:spcPct val="100000"/>
              </a:lnSpc>
              <a:spcBef>
                <a:spcPts val="900"/>
              </a:spcBef>
              <a:buClr>
                <a:schemeClr val="tx1"/>
              </a:buClr>
              <a:buSzPct val="100000"/>
            </a:pPr>
            <a:r>
              <a:rPr lang="en-US" sz="1200"/>
              <a:t>Props change</a:t>
            </a:r>
          </a:p>
        </p:txBody>
      </p:sp>
    </p:spTree>
    <p:extLst>
      <p:ext uri="{BB962C8B-B14F-4D97-AF65-F5344CB8AC3E}">
        <p14:creationId xmlns:p14="http://schemas.microsoft.com/office/powerpoint/2010/main" val="977267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6727849" cy="4851832"/>
          </a:xfrm>
        </p:spPr>
        <p:txBody>
          <a:bodyPr lIns="91440" tIns="45720" rIns="91440" bIns="45720" anchor="t">
            <a:normAutofit lnSpcReduction="10000"/>
          </a:bodyPr>
          <a:lstStyle/>
          <a:p>
            <a:r>
              <a:rPr lang="en-US">
                <a:latin typeface="Gill Sans MT"/>
              </a:rPr>
              <a:t>React data flow is </a:t>
            </a:r>
            <a:r>
              <a:rPr lang="en-US" i="1">
                <a:latin typeface="Gill Sans MT"/>
              </a:rPr>
              <a:t>unidirectional</a:t>
            </a:r>
            <a:endParaRPr lang="en-US">
              <a:latin typeface="Gill Sans MT"/>
            </a:endParaRPr>
          </a:p>
          <a:p>
            <a:pPr marL="452120" lvl="1">
              <a:buFont typeface="Courier New" panose="02070309020205020404" pitchFamily="49" charset="0"/>
              <a:buChar char="o"/>
            </a:pPr>
            <a:r>
              <a:rPr lang="en-US">
                <a:latin typeface="Gill Sans MT"/>
              </a:rPr>
              <a:t>Data is only passed from parent to child component (via props)</a:t>
            </a:r>
          </a:p>
          <a:p>
            <a:pPr marL="452120" lvl="1">
              <a:buFont typeface="Courier New" panose="02070309020205020404" pitchFamily="49" charset="0"/>
              <a:buChar char="o"/>
            </a:pPr>
            <a:r>
              <a:rPr lang="en-US">
                <a:latin typeface="Gill Sans MT"/>
              </a:rPr>
              <a:t>Props are received as read-only</a:t>
            </a:r>
            <a:endParaRPr lang="en-US">
              <a:solidFill>
                <a:srgbClr val="A6A6A6"/>
              </a:solidFill>
              <a:latin typeface="Gill Sans MT"/>
            </a:endParaRPr>
          </a:p>
          <a:p>
            <a:pPr marL="452120" lvl="1">
              <a:buFont typeface="Courier New" panose="02070309020205020404" pitchFamily="49" charset="0"/>
              <a:buChar char="o"/>
            </a:pPr>
            <a:endParaRPr lang="en-US">
              <a:solidFill>
                <a:srgbClr val="A6A6A6"/>
              </a:solidFill>
              <a:latin typeface="Gill Sans MT"/>
            </a:endParaRPr>
          </a:p>
          <a:p>
            <a:r>
              <a:rPr lang="en-US">
                <a:latin typeface="Gill Sans MT"/>
              </a:rPr>
              <a:t>Components may pass a value from their own state as a prop</a:t>
            </a:r>
          </a:p>
          <a:p>
            <a:endParaRPr lang="en-US"/>
          </a:p>
          <a:p>
            <a:r>
              <a:rPr lang="en-US">
                <a:latin typeface="Gill Sans MT"/>
              </a:rPr>
              <a:t>Callback functions may be passed as a prop which allows the child component to call a function within the parent</a:t>
            </a:r>
          </a:p>
          <a:p>
            <a:r>
              <a:rPr lang="en-US">
                <a:latin typeface="Gill Sans MT"/>
              </a:rPr>
              <a:t>Passing props through multiple components is called “prop-drilling” and can make the code harder to read and update </a:t>
            </a:r>
          </a:p>
          <a:p>
            <a:endParaRPr lang="en-US">
              <a:latin typeface="Gill Sans MT"/>
            </a:endParaRPr>
          </a:p>
          <a:p>
            <a:endParaRPr lang="en-US"/>
          </a:p>
          <a:p>
            <a:endParaRPr lang="en-US"/>
          </a:p>
          <a:p>
            <a:endParaRPr lang="en-US"/>
          </a:p>
          <a:p>
            <a:pPr marL="690245" lvl="2"/>
            <a:endParaRPr lang="en-US"/>
          </a:p>
        </p:txBody>
      </p:sp>
      <p:sp>
        <p:nvSpPr>
          <p:cNvPr id="5" name="Title 4"/>
          <p:cNvSpPr>
            <a:spLocks noGrp="1"/>
          </p:cNvSpPr>
          <p:nvPr>
            <p:ph type="title"/>
          </p:nvPr>
        </p:nvSpPr>
        <p:spPr/>
        <p:txBody>
          <a:bodyPr>
            <a:normAutofit fontScale="90000"/>
          </a:bodyPr>
          <a:lstStyle/>
          <a:p>
            <a:r>
              <a:rPr lang="en-US"/>
              <a:t>Data Flow</a:t>
            </a:r>
            <a:br>
              <a:rPr lang="en-US"/>
            </a:br>
            <a:r>
              <a:rPr lang="en-US" sz="1600"/>
              <a:t>Introduction</a:t>
            </a:r>
            <a:endParaRPr lang="en-US"/>
          </a:p>
        </p:txBody>
      </p:sp>
      <p:pic>
        <p:nvPicPr>
          <p:cNvPr id="15" name="Picture 14">
            <a:extLst>
              <a:ext uri="{FF2B5EF4-FFF2-40B4-BE49-F238E27FC236}">
                <a16:creationId xmlns:a16="http://schemas.microsoft.com/office/drawing/2014/main" id="{A2F6AF8A-AF57-49D2-9F13-C4BC1C7E2D5B}"/>
              </a:ext>
            </a:extLst>
          </p:cNvPr>
          <p:cNvPicPr>
            <a:picLocks noChangeAspect="1"/>
          </p:cNvPicPr>
          <p:nvPr/>
        </p:nvPicPr>
        <p:blipFill>
          <a:blip r:embed="rId4"/>
          <a:stretch>
            <a:fillRect/>
          </a:stretch>
        </p:blipFill>
        <p:spPr>
          <a:xfrm>
            <a:off x="8112690" y="909566"/>
            <a:ext cx="3705583" cy="2155850"/>
          </a:xfrm>
          <a:prstGeom prst="rect">
            <a:avLst/>
          </a:prstGeom>
        </p:spPr>
      </p:pic>
      <p:pic>
        <p:nvPicPr>
          <p:cNvPr id="6" name="Picture 6">
            <a:extLst>
              <a:ext uri="{FF2B5EF4-FFF2-40B4-BE49-F238E27FC236}">
                <a16:creationId xmlns:a16="http://schemas.microsoft.com/office/drawing/2014/main" id="{9D08C34E-9A97-101E-DEE1-17FFF6803291}"/>
              </a:ext>
            </a:extLst>
          </p:cNvPr>
          <p:cNvPicPr>
            <a:picLocks noChangeAspect="1"/>
          </p:cNvPicPr>
          <p:nvPr/>
        </p:nvPicPr>
        <p:blipFill>
          <a:blip r:embed="rId5"/>
          <a:stretch>
            <a:fillRect/>
          </a:stretch>
        </p:blipFill>
        <p:spPr>
          <a:xfrm>
            <a:off x="7132553" y="4997452"/>
            <a:ext cx="4752109" cy="1201804"/>
          </a:xfrm>
          <a:prstGeom prst="rect">
            <a:avLst/>
          </a:prstGeom>
        </p:spPr>
      </p:pic>
      <p:pic>
        <p:nvPicPr>
          <p:cNvPr id="3" name="Picture 6">
            <a:extLst>
              <a:ext uri="{FF2B5EF4-FFF2-40B4-BE49-F238E27FC236}">
                <a16:creationId xmlns:a16="http://schemas.microsoft.com/office/drawing/2014/main" id="{341C8939-DCF6-5CD3-29FF-41A21F8B52F1}"/>
              </a:ext>
            </a:extLst>
          </p:cNvPr>
          <p:cNvPicPr>
            <a:picLocks noChangeAspect="1"/>
          </p:cNvPicPr>
          <p:nvPr/>
        </p:nvPicPr>
        <p:blipFill>
          <a:blip r:embed="rId6"/>
          <a:stretch>
            <a:fillRect/>
          </a:stretch>
        </p:blipFill>
        <p:spPr>
          <a:xfrm>
            <a:off x="8112710" y="3342409"/>
            <a:ext cx="3667958" cy="1379067"/>
          </a:xfrm>
          <a:prstGeom prst="rect">
            <a:avLst/>
          </a:prstGeom>
        </p:spPr>
      </p:pic>
    </p:spTree>
    <p:extLst>
      <p:ext uri="{BB962C8B-B14F-4D97-AF65-F5344CB8AC3E}">
        <p14:creationId xmlns:p14="http://schemas.microsoft.com/office/powerpoint/2010/main" val="1658342497"/>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2820B4-895F-FCF8-504D-92964A62C6F9}"/>
              </a:ext>
            </a:extLst>
          </p:cNvPr>
          <p:cNvSpPr>
            <a:spLocks noGrp="1"/>
          </p:cNvSpPr>
          <p:nvPr>
            <p:ph idx="1"/>
          </p:nvPr>
        </p:nvSpPr>
        <p:spPr/>
        <p:txBody>
          <a:bodyPr/>
          <a:lstStyle/>
          <a:p>
            <a:r>
              <a:rPr lang="en-US" dirty="0"/>
              <a:t>How Do we solve the issue of prop drilling?</a:t>
            </a:r>
          </a:p>
          <a:p>
            <a:pPr lvl="1"/>
            <a:r>
              <a:rPr lang="en-US" dirty="0"/>
              <a:t>Through Context!</a:t>
            </a:r>
          </a:p>
          <a:p>
            <a:pPr lvl="1"/>
            <a:r>
              <a:rPr lang="en-US" dirty="0"/>
              <a:t>Creates a way for components to share data without having to pass props through each component</a:t>
            </a:r>
          </a:p>
          <a:p>
            <a:pPr lvl="1"/>
            <a:r>
              <a:rPr lang="en-US" dirty="0"/>
              <a:t>Only for specific use cases where you need to access variables and functions frequently across many components (ex: User Authentication)</a:t>
            </a:r>
          </a:p>
        </p:txBody>
      </p:sp>
      <p:sp>
        <p:nvSpPr>
          <p:cNvPr id="3" name="Title 2">
            <a:extLst>
              <a:ext uri="{FF2B5EF4-FFF2-40B4-BE49-F238E27FC236}">
                <a16:creationId xmlns:a16="http://schemas.microsoft.com/office/drawing/2014/main" id="{DA16532C-92D5-1BC5-9BF4-AE2C10760086}"/>
              </a:ext>
            </a:extLst>
          </p:cNvPr>
          <p:cNvSpPr>
            <a:spLocks noGrp="1"/>
          </p:cNvSpPr>
          <p:nvPr>
            <p:ph type="title"/>
          </p:nvPr>
        </p:nvSpPr>
        <p:spPr/>
        <p:txBody>
          <a:bodyPr/>
          <a:lstStyle/>
          <a:p>
            <a:r>
              <a:rPr lang="en-US"/>
              <a:t>React Context</a:t>
            </a:r>
          </a:p>
        </p:txBody>
      </p:sp>
      <p:pic>
        <p:nvPicPr>
          <p:cNvPr id="9" name="Picture 8">
            <a:extLst>
              <a:ext uri="{FF2B5EF4-FFF2-40B4-BE49-F238E27FC236}">
                <a16:creationId xmlns:a16="http://schemas.microsoft.com/office/drawing/2014/main" id="{AD175408-320A-4570-6ED8-CBB97AEB14EC}"/>
              </a:ext>
            </a:extLst>
          </p:cNvPr>
          <p:cNvPicPr>
            <a:picLocks noChangeAspect="1"/>
          </p:cNvPicPr>
          <p:nvPr/>
        </p:nvPicPr>
        <p:blipFill>
          <a:blip r:embed="rId2"/>
          <a:stretch>
            <a:fillRect/>
          </a:stretch>
        </p:blipFill>
        <p:spPr>
          <a:xfrm>
            <a:off x="2388146" y="2909197"/>
            <a:ext cx="4682576" cy="3557541"/>
          </a:xfrm>
          <a:prstGeom prst="rect">
            <a:avLst/>
          </a:prstGeom>
        </p:spPr>
      </p:pic>
      <p:pic>
        <p:nvPicPr>
          <p:cNvPr id="11" name="Picture 10">
            <a:extLst>
              <a:ext uri="{FF2B5EF4-FFF2-40B4-BE49-F238E27FC236}">
                <a16:creationId xmlns:a16="http://schemas.microsoft.com/office/drawing/2014/main" id="{E71CE8B7-6A43-6352-4D7A-8142A5756809}"/>
              </a:ext>
            </a:extLst>
          </p:cNvPr>
          <p:cNvPicPr>
            <a:picLocks noChangeAspect="1"/>
          </p:cNvPicPr>
          <p:nvPr/>
        </p:nvPicPr>
        <p:blipFill>
          <a:blip r:embed="rId3"/>
          <a:stretch>
            <a:fillRect/>
          </a:stretch>
        </p:blipFill>
        <p:spPr>
          <a:xfrm>
            <a:off x="7705095" y="2844286"/>
            <a:ext cx="3825639" cy="1843681"/>
          </a:xfrm>
          <a:prstGeom prst="rect">
            <a:avLst/>
          </a:prstGeom>
        </p:spPr>
      </p:pic>
      <p:pic>
        <p:nvPicPr>
          <p:cNvPr id="13" name="Picture 12">
            <a:extLst>
              <a:ext uri="{FF2B5EF4-FFF2-40B4-BE49-F238E27FC236}">
                <a16:creationId xmlns:a16="http://schemas.microsoft.com/office/drawing/2014/main" id="{068B5F37-D2C1-7637-9927-82B098E0CF88}"/>
              </a:ext>
            </a:extLst>
          </p:cNvPr>
          <p:cNvPicPr>
            <a:picLocks noChangeAspect="1"/>
          </p:cNvPicPr>
          <p:nvPr/>
        </p:nvPicPr>
        <p:blipFill>
          <a:blip r:embed="rId4"/>
          <a:stretch>
            <a:fillRect/>
          </a:stretch>
        </p:blipFill>
        <p:spPr>
          <a:xfrm>
            <a:off x="7705095" y="4834078"/>
            <a:ext cx="3825640" cy="1632660"/>
          </a:xfrm>
          <a:prstGeom prst="rect">
            <a:avLst/>
          </a:prstGeom>
        </p:spPr>
      </p:pic>
    </p:spTree>
    <p:extLst>
      <p:ext uri="{BB962C8B-B14F-4D97-AF65-F5344CB8AC3E}">
        <p14:creationId xmlns:p14="http://schemas.microsoft.com/office/powerpoint/2010/main" val="1730196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6700635" cy="4851832"/>
          </a:xfrm>
        </p:spPr>
        <p:txBody>
          <a:bodyPr lIns="91440" tIns="45720" rIns="91440" bIns="45720" anchor="t">
            <a:normAutofit/>
          </a:bodyPr>
          <a:lstStyle/>
          <a:p>
            <a:r>
              <a:rPr lang="en-US">
                <a:latin typeface="Gill Sans MT"/>
              </a:rPr>
              <a:t>Component updates its own state via lifecycle functions </a:t>
            </a:r>
            <a:endParaRPr lang="en-US" i="1">
              <a:latin typeface="Gill Sans MT"/>
            </a:endParaRPr>
          </a:p>
          <a:p>
            <a:pPr marL="452120" lvl="1"/>
            <a:r>
              <a:rPr lang="en-US" i="1" err="1">
                <a:latin typeface="Gill Sans MT"/>
              </a:rPr>
              <a:t>useState</a:t>
            </a:r>
            <a:r>
              <a:rPr lang="en-US" i="1">
                <a:latin typeface="Gill Sans MT"/>
              </a:rPr>
              <a:t> – functional components</a:t>
            </a:r>
          </a:p>
          <a:p>
            <a:pPr marL="452120" lvl="1"/>
            <a:r>
              <a:rPr lang="en-US" i="1" err="1">
                <a:latin typeface="Gill Sans MT"/>
              </a:rPr>
              <a:t>setState</a:t>
            </a:r>
            <a:r>
              <a:rPr lang="en-US" i="1">
                <a:latin typeface="Gill Sans MT"/>
              </a:rPr>
              <a:t> – class components</a:t>
            </a:r>
          </a:p>
          <a:p>
            <a:r>
              <a:rPr lang="en-US">
                <a:latin typeface="Gill Sans MT"/>
              </a:rPr>
              <a:t>Events that may update state:</a:t>
            </a:r>
          </a:p>
          <a:p>
            <a:pPr marL="452120" lvl="1">
              <a:buFont typeface="Courier New" panose="02070309020205020404" pitchFamily="49" charset="0"/>
              <a:buChar char="o"/>
            </a:pPr>
            <a:r>
              <a:rPr lang="en-US">
                <a:latin typeface="Gill Sans MT"/>
              </a:rPr>
              <a:t>User interactions with browser: </a:t>
            </a:r>
          </a:p>
          <a:p>
            <a:pPr marL="690245" lvl="2">
              <a:buFont typeface="Courier New" panose="02070309020205020404" pitchFamily="49" charset="0"/>
              <a:buChar char="o"/>
            </a:pPr>
            <a:r>
              <a:rPr lang="en-US">
                <a:latin typeface="Gill Sans MT"/>
              </a:rPr>
              <a:t>Clicking a button</a:t>
            </a:r>
            <a:endParaRPr lang="en-US"/>
          </a:p>
          <a:p>
            <a:pPr marL="690245" lvl="2">
              <a:buFont typeface="Courier New" panose="02070309020205020404" pitchFamily="49" charset="0"/>
              <a:buChar char="o"/>
            </a:pPr>
            <a:r>
              <a:rPr lang="en-US">
                <a:latin typeface="Gill Sans MT"/>
              </a:rPr>
              <a:t>Typing in form field</a:t>
            </a:r>
            <a:endParaRPr lang="en-US"/>
          </a:p>
          <a:p>
            <a:pPr marL="690245" lvl="2">
              <a:buFont typeface="Courier New" panose="02070309020205020404" pitchFamily="49" charset="0"/>
              <a:buChar char="o"/>
            </a:pPr>
            <a:r>
              <a:rPr lang="en-US">
                <a:latin typeface="Gill Sans MT"/>
              </a:rPr>
              <a:t>Other mouse/keyboard events</a:t>
            </a:r>
            <a:endParaRPr lang="en-US"/>
          </a:p>
          <a:p>
            <a:pPr marL="452120" lvl="1">
              <a:buFont typeface="Courier New" panose="02070309020205020404" pitchFamily="49" charset="0"/>
              <a:buChar char="o"/>
            </a:pPr>
            <a:r>
              <a:rPr lang="en-US">
                <a:latin typeface="Gill Sans MT"/>
              </a:rPr>
              <a:t>Asynchronous events from source setup on component mount</a:t>
            </a:r>
          </a:p>
          <a:p>
            <a:pPr marL="690245" lvl="2">
              <a:buFont typeface="Wingdings" panose="05000000000000000000" pitchFamily="2" charset="2"/>
              <a:buChar char="§"/>
            </a:pPr>
            <a:r>
              <a:rPr lang="en-US" err="1">
                <a:latin typeface="Gill Sans MT"/>
              </a:rPr>
              <a:t>Websocket</a:t>
            </a:r>
            <a:r>
              <a:rPr lang="en-US">
                <a:latin typeface="Gill Sans MT"/>
              </a:rPr>
              <a:t> message received</a:t>
            </a:r>
          </a:p>
          <a:p>
            <a:pPr marL="690245" lvl="2">
              <a:buFont typeface="Wingdings" panose="05000000000000000000" pitchFamily="2" charset="2"/>
              <a:buChar char="§"/>
            </a:pPr>
            <a:r>
              <a:rPr lang="en-US">
                <a:latin typeface="Gill Sans MT"/>
              </a:rPr>
              <a:t>Response from API request</a:t>
            </a:r>
          </a:p>
          <a:p>
            <a:pPr marL="690245" lvl="2"/>
            <a:endParaRPr lang="en-US"/>
          </a:p>
        </p:txBody>
      </p:sp>
      <p:sp>
        <p:nvSpPr>
          <p:cNvPr id="5" name="Title 4"/>
          <p:cNvSpPr>
            <a:spLocks noGrp="1"/>
          </p:cNvSpPr>
          <p:nvPr>
            <p:ph type="title"/>
          </p:nvPr>
        </p:nvSpPr>
        <p:spPr/>
        <p:txBody>
          <a:bodyPr>
            <a:normAutofit fontScale="90000"/>
          </a:bodyPr>
          <a:lstStyle/>
          <a:p>
            <a:r>
              <a:rPr lang="en-US"/>
              <a:t>Updating State</a:t>
            </a:r>
            <a:br>
              <a:rPr lang="en-US"/>
            </a:br>
            <a:r>
              <a:rPr lang="en-US" sz="1600"/>
              <a:t>User interaction events and asynchronous events</a:t>
            </a:r>
            <a:endParaRPr lang="en-US"/>
          </a:p>
        </p:txBody>
      </p:sp>
      <p:pic>
        <p:nvPicPr>
          <p:cNvPr id="6" name="Picture 5">
            <a:extLst>
              <a:ext uri="{FF2B5EF4-FFF2-40B4-BE49-F238E27FC236}">
                <a16:creationId xmlns:a16="http://schemas.microsoft.com/office/drawing/2014/main" id="{3299E8E8-97FF-465B-8E3B-4827114D876B}"/>
              </a:ext>
            </a:extLst>
          </p:cNvPr>
          <p:cNvPicPr>
            <a:picLocks noChangeAspect="1"/>
          </p:cNvPicPr>
          <p:nvPr/>
        </p:nvPicPr>
        <p:blipFill>
          <a:blip r:embed="rId3"/>
          <a:stretch>
            <a:fillRect/>
          </a:stretch>
        </p:blipFill>
        <p:spPr>
          <a:xfrm>
            <a:off x="5255191" y="2211252"/>
            <a:ext cx="6175684" cy="700853"/>
          </a:xfrm>
          <a:prstGeom prst="rect">
            <a:avLst/>
          </a:prstGeom>
        </p:spPr>
      </p:pic>
      <p:pic>
        <p:nvPicPr>
          <p:cNvPr id="7" name="Picture 6">
            <a:extLst>
              <a:ext uri="{FF2B5EF4-FFF2-40B4-BE49-F238E27FC236}">
                <a16:creationId xmlns:a16="http://schemas.microsoft.com/office/drawing/2014/main" id="{DC1ED9E9-F365-4B45-892B-D289F774BFFB}"/>
              </a:ext>
            </a:extLst>
          </p:cNvPr>
          <p:cNvPicPr>
            <a:picLocks noChangeAspect="1"/>
          </p:cNvPicPr>
          <p:nvPr/>
        </p:nvPicPr>
        <p:blipFill>
          <a:blip r:embed="rId4"/>
          <a:stretch>
            <a:fillRect/>
          </a:stretch>
        </p:blipFill>
        <p:spPr>
          <a:xfrm>
            <a:off x="6986558" y="3710038"/>
            <a:ext cx="4392012" cy="1486080"/>
          </a:xfrm>
          <a:prstGeom prst="rect">
            <a:avLst/>
          </a:prstGeom>
        </p:spPr>
      </p:pic>
    </p:spTree>
    <p:extLst>
      <p:ext uri="{BB962C8B-B14F-4D97-AF65-F5344CB8AC3E}">
        <p14:creationId xmlns:p14="http://schemas.microsoft.com/office/powerpoint/2010/main" val="12922584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8091923" cy="4851832"/>
          </a:xfrm>
        </p:spPr>
        <p:txBody>
          <a:bodyPr lIns="91440" tIns="45720" rIns="91440" bIns="45720" anchor="t">
            <a:normAutofit/>
          </a:bodyPr>
          <a:lstStyle/>
          <a:p>
            <a:r>
              <a:rPr lang="en-US">
                <a:latin typeface="Gill Sans MT"/>
              </a:rPr>
              <a:t>Hooks are:</a:t>
            </a:r>
          </a:p>
          <a:p>
            <a:pPr marL="452120" lvl="1">
              <a:buFont typeface="Courier New" panose="02070309020205020404" pitchFamily="49" charset="0"/>
              <a:buChar char="o"/>
            </a:pPr>
            <a:r>
              <a:rPr lang="en-US">
                <a:latin typeface="Gill Sans MT"/>
              </a:rPr>
              <a:t>JavaScript functions used to add React functionality to a function component</a:t>
            </a:r>
          </a:p>
          <a:p>
            <a:pPr marL="452120" lvl="1">
              <a:buFont typeface="Courier New" panose="02070309020205020404" pitchFamily="49" charset="0"/>
              <a:buChar char="o"/>
            </a:pPr>
            <a:r>
              <a:rPr lang="en-US">
                <a:latin typeface="Gill Sans MT"/>
              </a:rPr>
              <a:t>Less verbose compared to equivalent class component functions</a:t>
            </a:r>
          </a:p>
          <a:p>
            <a:r>
              <a:rPr lang="en-US">
                <a:latin typeface="Gill Sans MT"/>
              </a:rPr>
              <a:t>Libraries may export Hooks for use in your application</a:t>
            </a:r>
          </a:p>
          <a:p>
            <a:r>
              <a:rPr lang="en-US">
                <a:latin typeface="Gill Sans MT"/>
              </a:rPr>
              <a:t>Common React Hooks</a:t>
            </a:r>
          </a:p>
          <a:p>
            <a:pPr marL="452120" lvl="1">
              <a:buFont typeface="Courier New" panose="02070309020205020404" pitchFamily="49" charset="0"/>
              <a:buChar char="o"/>
            </a:pPr>
            <a:r>
              <a:rPr lang="en-US" err="1">
                <a:latin typeface="Gill Sans MT"/>
              </a:rPr>
              <a:t>useState</a:t>
            </a:r>
            <a:r>
              <a:rPr lang="en-US">
                <a:latin typeface="Gill Sans MT"/>
              </a:rPr>
              <a:t> – gives access to state object and setter</a:t>
            </a:r>
            <a:endParaRPr lang="en-US"/>
          </a:p>
          <a:p>
            <a:pPr marL="452120" lvl="1">
              <a:buFont typeface="Courier New" panose="02070309020205020404" pitchFamily="49" charset="0"/>
              <a:buChar char="o"/>
            </a:pPr>
            <a:r>
              <a:rPr lang="en-US" err="1">
                <a:latin typeface="Gill Sans MT"/>
              </a:rPr>
              <a:t>useEffect</a:t>
            </a:r>
            <a:r>
              <a:rPr lang="en-US">
                <a:latin typeface="Gill Sans MT"/>
              </a:rPr>
              <a:t> – triggers on component mount and updates</a:t>
            </a:r>
            <a:endParaRPr lang="en-US"/>
          </a:p>
          <a:p>
            <a:pPr marL="452120" lvl="1">
              <a:buFont typeface="Courier New" panose="02070309020205020404" pitchFamily="49" charset="0"/>
              <a:buChar char="o"/>
            </a:pPr>
            <a:r>
              <a:rPr lang="en-US" err="1">
                <a:latin typeface="Gill Sans MT"/>
              </a:rPr>
              <a:t>useContext</a:t>
            </a:r>
            <a:r>
              <a:rPr lang="en-US">
                <a:latin typeface="Gill Sans MT"/>
              </a:rPr>
              <a:t> – used for data stored in parents that can be accessed in children (even if many levels down)</a:t>
            </a:r>
            <a:endParaRPr lang="en-US"/>
          </a:p>
          <a:p>
            <a:pPr marL="452120" lvl="1">
              <a:buFont typeface="Courier New" panose="02070309020205020404" pitchFamily="49" charset="0"/>
              <a:buChar char="o"/>
            </a:pPr>
            <a:r>
              <a:rPr lang="en-US" err="1">
                <a:latin typeface="Gill Sans MT"/>
              </a:rPr>
              <a:t>useRef</a:t>
            </a:r>
            <a:r>
              <a:rPr lang="en-US">
                <a:latin typeface="Gill Sans MT"/>
              </a:rPr>
              <a:t> – used for data that stays consistent between renders that doesn’t trigger a re-render</a:t>
            </a:r>
            <a:endParaRPr lang="en-US"/>
          </a:p>
        </p:txBody>
      </p:sp>
      <p:sp>
        <p:nvSpPr>
          <p:cNvPr id="5" name="Title 4"/>
          <p:cNvSpPr>
            <a:spLocks noGrp="1"/>
          </p:cNvSpPr>
          <p:nvPr>
            <p:ph type="title"/>
          </p:nvPr>
        </p:nvSpPr>
        <p:spPr/>
        <p:txBody>
          <a:bodyPr>
            <a:normAutofit fontScale="90000"/>
          </a:bodyPr>
          <a:lstStyle/>
          <a:p>
            <a:r>
              <a:rPr lang="en-US"/>
              <a:t>React Hooks</a:t>
            </a:r>
            <a:br>
              <a:rPr lang="en-US"/>
            </a:br>
            <a:r>
              <a:rPr lang="en-US" sz="1600"/>
              <a:t>Introduction and Usage</a:t>
            </a:r>
            <a:endParaRPr lang="en-US"/>
          </a:p>
        </p:txBody>
      </p:sp>
      <p:pic>
        <p:nvPicPr>
          <p:cNvPr id="8" name="Picture 2" descr="See the source image">
            <a:extLst>
              <a:ext uri="{FF2B5EF4-FFF2-40B4-BE49-F238E27FC236}">
                <a16:creationId xmlns:a16="http://schemas.microsoft.com/office/drawing/2014/main" id="{F177C422-3929-47A7-A7E6-835F1943B82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34452" y="2694835"/>
            <a:ext cx="2511979" cy="1260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1172734"/>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9209" y="1312677"/>
            <a:ext cx="6727849" cy="4851832"/>
          </a:xfrm>
        </p:spPr>
        <p:txBody>
          <a:bodyPr lIns="91440" tIns="45720" rIns="91440" bIns="45720" anchor="t">
            <a:normAutofit fontScale="92500" lnSpcReduction="10000"/>
          </a:bodyPr>
          <a:lstStyle/>
          <a:p>
            <a:r>
              <a:rPr lang="en-US" err="1">
                <a:latin typeface="Gill Sans MT"/>
              </a:rPr>
              <a:t>useState</a:t>
            </a:r>
            <a:r>
              <a:rPr lang="en-US">
                <a:latin typeface="Gill Sans MT"/>
              </a:rPr>
              <a:t> hook</a:t>
            </a:r>
            <a:endParaRPr lang="en-US"/>
          </a:p>
          <a:p>
            <a:pPr marL="452120" lvl="1"/>
            <a:r>
              <a:rPr lang="en-US">
                <a:latin typeface="Gill Sans MT"/>
              </a:rPr>
              <a:t>Adds state to function component</a:t>
            </a:r>
            <a:endParaRPr lang="en-US"/>
          </a:p>
          <a:p>
            <a:pPr marL="452120" lvl="1"/>
            <a:r>
              <a:rPr lang="en-US">
                <a:latin typeface="Gill Sans MT"/>
              </a:rPr>
              <a:t>Import hook from React library</a:t>
            </a:r>
            <a:endParaRPr lang="en-US"/>
          </a:p>
          <a:p>
            <a:pPr marL="452120" lvl="1"/>
            <a:r>
              <a:rPr lang="en-US">
                <a:latin typeface="Gill Sans MT"/>
              </a:rPr>
              <a:t>Initial value ‘</a:t>
            </a:r>
            <a:r>
              <a:rPr lang="en-US" err="1">
                <a:latin typeface="Gill Sans MT"/>
              </a:rPr>
              <a:t>MyTitle</a:t>
            </a:r>
            <a:r>
              <a:rPr lang="en-US">
                <a:latin typeface="Gill Sans MT"/>
              </a:rPr>
              <a:t>’ is parameter to function</a:t>
            </a:r>
            <a:endParaRPr lang="en-US"/>
          </a:p>
          <a:p>
            <a:pPr marL="452120" lvl="1"/>
            <a:r>
              <a:rPr lang="en-US">
                <a:latin typeface="Gill Sans MT"/>
              </a:rPr>
              <a:t>Function returns state object ‘title’ and function to update state ‘</a:t>
            </a:r>
            <a:r>
              <a:rPr lang="en-US" err="1">
                <a:latin typeface="Gill Sans MT"/>
              </a:rPr>
              <a:t>setTitle</a:t>
            </a:r>
            <a:r>
              <a:rPr lang="en-US">
                <a:latin typeface="Gill Sans MT"/>
              </a:rPr>
              <a:t>’</a:t>
            </a:r>
            <a:endParaRPr lang="en-US"/>
          </a:p>
          <a:p>
            <a:r>
              <a:rPr lang="en-US" err="1">
                <a:latin typeface="Gill Sans MT"/>
              </a:rPr>
              <a:t>useEffect</a:t>
            </a:r>
            <a:r>
              <a:rPr lang="en-US">
                <a:latin typeface="Gill Sans MT"/>
              </a:rPr>
              <a:t> hook</a:t>
            </a:r>
            <a:endParaRPr lang="en-US"/>
          </a:p>
          <a:p>
            <a:pPr marL="452120" lvl="1"/>
            <a:r>
              <a:rPr lang="en-US">
                <a:latin typeface="Gill Sans MT"/>
              </a:rPr>
              <a:t>Performs </a:t>
            </a:r>
            <a:r>
              <a:rPr lang="en-US" i="1">
                <a:latin typeface="Gill Sans MT"/>
              </a:rPr>
              <a:t>after effects</a:t>
            </a:r>
            <a:r>
              <a:rPr lang="en-US">
                <a:latin typeface="Gill Sans MT"/>
              </a:rPr>
              <a:t> in response to changes in the component</a:t>
            </a:r>
            <a:endParaRPr lang="en-US"/>
          </a:p>
          <a:p>
            <a:pPr marL="452120" lvl="1"/>
            <a:r>
              <a:rPr lang="en-US">
                <a:latin typeface="Gill Sans MT"/>
              </a:rPr>
              <a:t>Import hook from React library</a:t>
            </a:r>
            <a:endParaRPr lang="en-US"/>
          </a:p>
          <a:p>
            <a:pPr marL="452120" lvl="1"/>
            <a:r>
              <a:rPr lang="en-US">
                <a:latin typeface="Gill Sans MT"/>
              </a:rPr>
              <a:t>2 parameters:</a:t>
            </a:r>
            <a:endParaRPr lang="en-US"/>
          </a:p>
          <a:p>
            <a:pPr marL="690245" lvl="2">
              <a:buFont typeface="Arial" pitchFamily="2" charset="2"/>
              <a:buChar char="•"/>
            </a:pPr>
            <a:r>
              <a:rPr lang="en-US">
                <a:solidFill>
                  <a:srgbClr val="315EAB"/>
                </a:solidFill>
                <a:latin typeface="Gill Sans MT"/>
              </a:rPr>
              <a:t>First parameter is a function to run</a:t>
            </a:r>
            <a:endParaRPr lang="en-US">
              <a:solidFill>
                <a:srgbClr val="315EAB"/>
              </a:solidFill>
            </a:endParaRPr>
          </a:p>
          <a:p>
            <a:pPr marL="690245" lvl="2">
              <a:buFont typeface="Arial" pitchFamily="2" charset="2"/>
              <a:buChar char="•"/>
            </a:pPr>
            <a:r>
              <a:rPr lang="en-US">
                <a:solidFill>
                  <a:srgbClr val="315EAB"/>
                </a:solidFill>
                <a:latin typeface="Gill Sans MT"/>
              </a:rPr>
              <a:t>Second parameter is array of </a:t>
            </a:r>
            <a:r>
              <a:rPr lang="en-US" i="1">
                <a:solidFill>
                  <a:srgbClr val="315EAB"/>
                </a:solidFill>
                <a:latin typeface="Gill Sans MT"/>
              </a:rPr>
              <a:t>dependencies</a:t>
            </a:r>
            <a:endParaRPr lang="en-US">
              <a:solidFill>
                <a:srgbClr val="315EAB"/>
              </a:solidFill>
            </a:endParaRPr>
          </a:p>
          <a:p>
            <a:pPr marL="452120" lvl="1"/>
            <a:r>
              <a:rPr lang="en-US">
                <a:latin typeface="Gill Sans MT"/>
              </a:rPr>
              <a:t>Same functionality as React lifecycle functions from class component (</a:t>
            </a:r>
            <a:r>
              <a:rPr lang="en-US" err="1">
                <a:latin typeface="Gill Sans MT"/>
              </a:rPr>
              <a:t>componentDidMount</a:t>
            </a:r>
            <a:r>
              <a:rPr lang="en-US">
                <a:latin typeface="Gill Sans MT"/>
              </a:rPr>
              <a:t>, </a:t>
            </a:r>
            <a:r>
              <a:rPr lang="en-US" err="1">
                <a:latin typeface="Gill Sans MT"/>
              </a:rPr>
              <a:t>componentDidUpdate</a:t>
            </a:r>
            <a:r>
              <a:rPr lang="en-US">
                <a:latin typeface="Gill Sans MT"/>
              </a:rPr>
              <a:t>, and </a:t>
            </a:r>
            <a:r>
              <a:rPr lang="en-US" err="1">
                <a:latin typeface="Gill Sans MT"/>
              </a:rPr>
              <a:t>componentWillUnmount</a:t>
            </a:r>
            <a:r>
              <a:rPr lang="en-US">
                <a:latin typeface="Gill Sans MT"/>
              </a:rPr>
              <a:t>)</a:t>
            </a:r>
            <a:endParaRPr lang="en-US"/>
          </a:p>
          <a:p>
            <a:endParaRPr lang="en-US"/>
          </a:p>
        </p:txBody>
      </p:sp>
      <p:sp>
        <p:nvSpPr>
          <p:cNvPr id="5" name="Title 4"/>
          <p:cNvSpPr>
            <a:spLocks noGrp="1"/>
          </p:cNvSpPr>
          <p:nvPr>
            <p:ph type="title"/>
          </p:nvPr>
        </p:nvSpPr>
        <p:spPr/>
        <p:txBody>
          <a:bodyPr lIns="0" tIns="45720" rIns="91440" bIns="45720" anchor="b">
            <a:normAutofit fontScale="90000"/>
          </a:bodyPr>
          <a:lstStyle/>
          <a:p>
            <a:r>
              <a:rPr lang="en-US">
                <a:latin typeface="Gill Sans MT"/>
              </a:rPr>
              <a:t>React Hooks</a:t>
            </a:r>
            <a:br>
              <a:rPr lang="en-US"/>
            </a:br>
            <a:r>
              <a:rPr lang="en-US" sz="1600" err="1">
                <a:latin typeface="Gill Sans MT"/>
              </a:rPr>
              <a:t>useState</a:t>
            </a:r>
            <a:r>
              <a:rPr lang="en-US" sz="1600">
                <a:latin typeface="Gill Sans MT"/>
              </a:rPr>
              <a:t> and </a:t>
            </a:r>
            <a:r>
              <a:rPr lang="en-US" sz="1600" err="1">
                <a:latin typeface="Gill Sans MT"/>
              </a:rPr>
              <a:t>useEffect</a:t>
            </a:r>
            <a:endParaRPr lang="en-US" err="1"/>
          </a:p>
        </p:txBody>
      </p:sp>
      <p:pic>
        <p:nvPicPr>
          <p:cNvPr id="2" name="Picture 2">
            <a:extLst>
              <a:ext uri="{FF2B5EF4-FFF2-40B4-BE49-F238E27FC236}">
                <a16:creationId xmlns:a16="http://schemas.microsoft.com/office/drawing/2014/main" id="{5EEBC46E-86DC-A39E-6958-A15FB98BA709}"/>
              </a:ext>
            </a:extLst>
          </p:cNvPr>
          <p:cNvPicPr>
            <a:picLocks noChangeAspect="1"/>
          </p:cNvPicPr>
          <p:nvPr/>
        </p:nvPicPr>
        <p:blipFill>
          <a:blip r:embed="rId2"/>
          <a:stretch>
            <a:fillRect/>
          </a:stretch>
        </p:blipFill>
        <p:spPr>
          <a:xfrm>
            <a:off x="7639235" y="1456054"/>
            <a:ext cx="2957743" cy="283853"/>
          </a:xfrm>
          <a:prstGeom prst="rect">
            <a:avLst/>
          </a:prstGeom>
        </p:spPr>
      </p:pic>
      <p:pic>
        <p:nvPicPr>
          <p:cNvPr id="3" name="Picture 5">
            <a:extLst>
              <a:ext uri="{FF2B5EF4-FFF2-40B4-BE49-F238E27FC236}">
                <a16:creationId xmlns:a16="http://schemas.microsoft.com/office/drawing/2014/main" id="{6FD7C5F4-5A46-B3BD-FF0D-9E6A6C7C1B43}"/>
              </a:ext>
            </a:extLst>
          </p:cNvPr>
          <p:cNvPicPr>
            <a:picLocks noChangeAspect="1"/>
          </p:cNvPicPr>
          <p:nvPr/>
        </p:nvPicPr>
        <p:blipFill>
          <a:blip r:embed="rId3"/>
          <a:stretch>
            <a:fillRect/>
          </a:stretch>
        </p:blipFill>
        <p:spPr>
          <a:xfrm>
            <a:off x="7639235" y="1830150"/>
            <a:ext cx="3926888" cy="253274"/>
          </a:xfrm>
          <a:prstGeom prst="rect">
            <a:avLst/>
          </a:prstGeom>
        </p:spPr>
      </p:pic>
      <p:pic>
        <p:nvPicPr>
          <p:cNvPr id="6" name="Picture 6">
            <a:extLst>
              <a:ext uri="{FF2B5EF4-FFF2-40B4-BE49-F238E27FC236}">
                <a16:creationId xmlns:a16="http://schemas.microsoft.com/office/drawing/2014/main" id="{DEAAE56B-5BDF-2822-EF3F-CC4BA42BFE0C}"/>
              </a:ext>
            </a:extLst>
          </p:cNvPr>
          <p:cNvPicPr>
            <a:picLocks noChangeAspect="1"/>
          </p:cNvPicPr>
          <p:nvPr/>
        </p:nvPicPr>
        <p:blipFill>
          <a:blip r:embed="rId4"/>
          <a:stretch>
            <a:fillRect/>
          </a:stretch>
        </p:blipFill>
        <p:spPr>
          <a:xfrm>
            <a:off x="7639235" y="3321068"/>
            <a:ext cx="3061316" cy="260251"/>
          </a:xfrm>
          <a:prstGeom prst="rect">
            <a:avLst/>
          </a:prstGeom>
        </p:spPr>
      </p:pic>
      <p:pic>
        <p:nvPicPr>
          <p:cNvPr id="8" name="Picture 8">
            <a:extLst>
              <a:ext uri="{FF2B5EF4-FFF2-40B4-BE49-F238E27FC236}">
                <a16:creationId xmlns:a16="http://schemas.microsoft.com/office/drawing/2014/main" id="{4D7EC3F0-B9B7-1672-2225-CF4EDB283F7B}"/>
              </a:ext>
            </a:extLst>
          </p:cNvPr>
          <p:cNvPicPr>
            <a:picLocks noChangeAspect="1"/>
          </p:cNvPicPr>
          <p:nvPr/>
        </p:nvPicPr>
        <p:blipFill>
          <a:blip r:embed="rId5"/>
          <a:stretch>
            <a:fillRect/>
          </a:stretch>
        </p:blipFill>
        <p:spPr>
          <a:xfrm>
            <a:off x="7636933" y="3671337"/>
            <a:ext cx="4224866" cy="1437260"/>
          </a:xfrm>
          <a:prstGeom prst="rect">
            <a:avLst/>
          </a:prstGeom>
        </p:spPr>
      </p:pic>
    </p:spTree>
    <p:extLst>
      <p:ext uri="{BB962C8B-B14F-4D97-AF65-F5344CB8AC3E}">
        <p14:creationId xmlns:p14="http://schemas.microsoft.com/office/powerpoint/2010/main" val="3611972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8006920" cy="4851832"/>
          </a:xfrm>
        </p:spPr>
        <p:txBody>
          <a:bodyPr lIns="91440" tIns="45720" rIns="91440" bIns="45720" anchor="t">
            <a:normAutofit fontScale="92500" lnSpcReduction="10000"/>
          </a:bodyPr>
          <a:lstStyle/>
          <a:p>
            <a:r>
              <a:rPr lang="en-US">
                <a:latin typeface="Gill Sans MT"/>
              </a:rPr>
              <a:t>How do I display data in my web application?</a:t>
            </a:r>
          </a:p>
          <a:p>
            <a:pPr marL="452120" lvl="1"/>
            <a:r>
              <a:rPr lang="en-US">
                <a:latin typeface="Gill Sans MT"/>
              </a:rPr>
              <a:t>API calls fetch data to display in the web application</a:t>
            </a:r>
            <a:endParaRPr lang="en-US"/>
          </a:p>
          <a:p>
            <a:pPr marL="690245" lvl="2"/>
            <a:r>
              <a:rPr lang="en-US">
                <a:latin typeface="Gill Sans MT"/>
              </a:rPr>
              <a:t>REST API ‘GET’ calls return JSON response</a:t>
            </a:r>
          </a:p>
          <a:p>
            <a:r>
              <a:rPr lang="en-US">
                <a:latin typeface="Gill Sans MT"/>
              </a:rPr>
              <a:t>When do I make API calls in React?</a:t>
            </a:r>
          </a:p>
          <a:p>
            <a:pPr marL="452120" lvl="1"/>
            <a:r>
              <a:rPr lang="en-US">
                <a:latin typeface="Gill Sans MT"/>
              </a:rPr>
              <a:t>In the lifecycle method when the component mounts</a:t>
            </a:r>
          </a:p>
          <a:p>
            <a:pPr marL="690245" lvl="2"/>
            <a:r>
              <a:rPr lang="en-US" err="1">
                <a:latin typeface="Gill Sans MT"/>
              </a:rPr>
              <a:t>useEffect</a:t>
            </a:r>
            <a:r>
              <a:rPr lang="en-US">
                <a:latin typeface="Gill Sans MT"/>
              </a:rPr>
              <a:t> hook with empty dependency array for function component</a:t>
            </a:r>
            <a:endParaRPr lang="en-US"/>
          </a:p>
          <a:p>
            <a:pPr marL="690245" lvl="2"/>
            <a:r>
              <a:rPr lang="en-US" err="1">
                <a:latin typeface="Gill Sans MT"/>
              </a:rPr>
              <a:t>componentDidMount</a:t>
            </a:r>
            <a:r>
              <a:rPr lang="en-US">
                <a:latin typeface="Gill Sans MT"/>
              </a:rPr>
              <a:t> lifecycle function for class component</a:t>
            </a:r>
          </a:p>
          <a:p>
            <a:pPr marL="452120" lvl="1"/>
            <a:r>
              <a:rPr lang="en-US" sz="1800">
                <a:solidFill>
                  <a:srgbClr val="A6A6A6"/>
                </a:solidFill>
                <a:latin typeface="Gill Sans MT"/>
              </a:rPr>
              <a:t>In response to user events (e.g. user clicks 'refresh' button)</a:t>
            </a:r>
          </a:p>
          <a:p>
            <a:r>
              <a:rPr lang="en-US">
                <a:latin typeface="Gill Sans MT"/>
              </a:rPr>
              <a:t>How do I get the data to show up?</a:t>
            </a:r>
          </a:p>
          <a:p>
            <a:pPr marL="452120" lvl="1"/>
            <a:r>
              <a:rPr lang="en-US">
                <a:latin typeface="Gill Sans MT"/>
              </a:rPr>
              <a:t>Set component's state with data fetched from API call</a:t>
            </a:r>
          </a:p>
          <a:p>
            <a:pPr marL="452120" lvl="1"/>
            <a:r>
              <a:rPr lang="en-US">
                <a:latin typeface="Gill Sans MT"/>
              </a:rPr>
              <a:t>Component will re-render after state update to display data</a:t>
            </a:r>
            <a:endParaRPr lang="en-US"/>
          </a:p>
          <a:p>
            <a:r>
              <a:rPr lang="en-US">
                <a:latin typeface="Gill Sans MT"/>
              </a:rPr>
              <a:t>What library do I use for making API calls?</a:t>
            </a:r>
          </a:p>
          <a:p>
            <a:pPr marL="452120" lvl="1"/>
            <a:r>
              <a:rPr lang="en-US" b="1">
                <a:latin typeface="Gill Sans MT"/>
              </a:rPr>
              <a:t>Axios</a:t>
            </a:r>
            <a:r>
              <a:rPr lang="en-US">
                <a:latin typeface="Gill Sans MT"/>
              </a:rPr>
              <a:t> library is a 3rd party package that can be installed using </a:t>
            </a:r>
            <a:r>
              <a:rPr lang="en-US" err="1">
                <a:latin typeface="Gill Sans MT"/>
              </a:rPr>
              <a:t>npm</a:t>
            </a:r>
            <a:endParaRPr lang="en-US">
              <a:latin typeface="Gill Sans MT"/>
            </a:endParaRPr>
          </a:p>
          <a:p>
            <a:pPr marL="452120" lvl="1">
              <a:buFont typeface="Arial" pitchFamily="2" charset="2"/>
              <a:buChar char="•"/>
            </a:pPr>
            <a:r>
              <a:rPr lang="en-US" b="1">
                <a:latin typeface="Gill Sans MT"/>
              </a:rPr>
              <a:t>Fetch </a:t>
            </a:r>
            <a:r>
              <a:rPr lang="en-US">
                <a:latin typeface="Gill Sans MT"/>
              </a:rPr>
              <a:t>API is part of JavaScript API and is supported by all common browsers</a:t>
            </a:r>
            <a:endParaRPr lang="en-US"/>
          </a:p>
          <a:p>
            <a:pPr marL="452120" lvl="1">
              <a:buFont typeface="Courier New" panose="02070309020205020404" pitchFamily="49" charset="0"/>
              <a:buChar char="o"/>
            </a:pPr>
            <a:endParaRPr lang="en-US"/>
          </a:p>
        </p:txBody>
      </p:sp>
      <p:sp>
        <p:nvSpPr>
          <p:cNvPr id="5" name="Title 4"/>
          <p:cNvSpPr>
            <a:spLocks noGrp="1"/>
          </p:cNvSpPr>
          <p:nvPr>
            <p:ph type="title"/>
          </p:nvPr>
        </p:nvSpPr>
        <p:spPr/>
        <p:txBody>
          <a:bodyPr>
            <a:normAutofit fontScale="90000"/>
          </a:bodyPr>
          <a:lstStyle/>
          <a:p>
            <a:r>
              <a:rPr lang="en-US">
                <a:ea typeface="+mn-lt"/>
                <a:cs typeface="+mn-lt"/>
              </a:rPr>
              <a:t>API Calls in React</a:t>
            </a:r>
            <a:br>
              <a:rPr lang="en-US"/>
            </a:br>
            <a:r>
              <a:rPr lang="en-US" sz="1600"/>
              <a:t>Fetch and </a:t>
            </a:r>
            <a:r>
              <a:rPr lang="en-US" sz="1600" err="1"/>
              <a:t>Axios</a:t>
            </a:r>
            <a:endParaRPr lang="en-US"/>
          </a:p>
        </p:txBody>
      </p:sp>
      <p:sp>
        <p:nvSpPr>
          <p:cNvPr id="19" name="Rectangle 18">
            <a:extLst>
              <a:ext uri="{FF2B5EF4-FFF2-40B4-BE49-F238E27FC236}">
                <a16:creationId xmlns:a16="http://schemas.microsoft.com/office/drawing/2014/main" id="{C57A6E03-FDFE-0A2D-67EF-B9164168F725}"/>
              </a:ext>
            </a:extLst>
          </p:cNvPr>
          <p:cNvSpPr/>
          <p:nvPr/>
        </p:nvSpPr>
        <p:spPr>
          <a:xfrm>
            <a:off x="8914141" y="942975"/>
            <a:ext cx="2349030" cy="930228"/>
          </a:xfrm>
          <a:prstGeom prst="rect">
            <a:avLst/>
          </a:prstGeom>
          <a:ln>
            <a:noFill/>
          </a:ln>
        </p:spPr>
        <p:style>
          <a:lnRef idx="0">
            <a:schemeClr val="accent1"/>
          </a:lnRef>
          <a:fillRef idx="1">
            <a:schemeClr val="accent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sz="1400">
                <a:cs typeface="Arial"/>
              </a:rPr>
              <a:t>Component Mount (first render)</a:t>
            </a:r>
          </a:p>
        </p:txBody>
      </p:sp>
      <p:sp>
        <p:nvSpPr>
          <p:cNvPr id="20" name="Rectangle 19">
            <a:extLst>
              <a:ext uri="{FF2B5EF4-FFF2-40B4-BE49-F238E27FC236}">
                <a16:creationId xmlns:a16="http://schemas.microsoft.com/office/drawing/2014/main" id="{3D02A57E-83A8-64B3-6280-28A56046EBA7}"/>
              </a:ext>
            </a:extLst>
          </p:cNvPr>
          <p:cNvSpPr/>
          <p:nvPr/>
        </p:nvSpPr>
        <p:spPr>
          <a:xfrm>
            <a:off x="8914140" y="2282217"/>
            <a:ext cx="2349031" cy="930228"/>
          </a:xfrm>
          <a:prstGeom prst="rect">
            <a:avLst/>
          </a:prstGeom>
          <a:ln>
            <a:noFill/>
          </a:ln>
        </p:spPr>
        <p:style>
          <a:lnRef idx="0">
            <a:schemeClr val="accent1"/>
          </a:lnRef>
          <a:fillRef idx="1">
            <a:schemeClr val="accent1"/>
          </a:fillRef>
          <a:effectRef idx="0">
            <a:schemeClr val="dk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sz="1400">
                <a:cs typeface="Arial"/>
              </a:rPr>
              <a:t>API call in lifecycle function</a:t>
            </a:r>
          </a:p>
        </p:txBody>
      </p:sp>
      <p:sp>
        <p:nvSpPr>
          <p:cNvPr id="21" name="Rectangle 20">
            <a:extLst>
              <a:ext uri="{FF2B5EF4-FFF2-40B4-BE49-F238E27FC236}">
                <a16:creationId xmlns:a16="http://schemas.microsoft.com/office/drawing/2014/main" id="{983C0475-B93D-E2F5-7F8B-3A202CACAE72}"/>
              </a:ext>
            </a:extLst>
          </p:cNvPr>
          <p:cNvSpPr/>
          <p:nvPr/>
        </p:nvSpPr>
        <p:spPr>
          <a:xfrm>
            <a:off x="8958966" y="3671325"/>
            <a:ext cx="2304207" cy="930228"/>
          </a:xfrm>
          <a:prstGeom prst="rect">
            <a:avLst/>
          </a:prstGeom>
          <a:ln>
            <a:noFill/>
          </a:ln>
        </p:spPr>
        <p:style>
          <a:lnRef idx="0">
            <a:schemeClr val="accent1"/>
          </a:lnRef>
          <a:fillRef idx="1">
            <a:schemeClr val="accent1"/>
          </a:fillRef>
          <a:effectRef idx="0">
            <a:schemeClr val="dk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sz="1400">
                <a:cs typeface="Arial"/>
              </a:rPr>
              <a:t>Set component state with fetched data</a:t>
            </a:r>
          </a:p>
        </p:txBody>
      </p:sp>
      <p:sp>
        <p:nvSpPr>
          <p:cNvPr id="22" name="Rectangle 21">
            <a:extLst>
              <a:ext uri="{FF2B5EF4-FFF2-40B4-BE49-F238E27FC236}">
                <a16:creationId xmlns:a16="http://schemas.microsoft.com/office/drawing/2014/main" id="{EA9933C7-6A60-22F1-61B1-68BC3406B9BC}"/>
              </a:ext>
            </a:extLst>
          </p:cNvPr>
          <p:cNvSpPr/>
          <p:nvPr/>
        </p:nvSpPr>
        <p:spPr>
          <a:xfrm>
            <a:off x="8958965" y="5064496"/>
            <a:ext cx="2304206" cy="930229"/>
          </a:xfrm>
          <a:prstGeom prst="rect">
            <a:avLst/>
          </a:prstGeom>
          <a:ln>
            <a:noFill/>
          </a:ln>
        </p:spPr>
        <p:style>
          <a:lnRef idx="0">
            <a:schemeClr val="accent1"/>
          </a:lnRef>
          <a:fillRef idx="1">
            <a:schemeClr val="accent1"/>
          </a:fillRef>
          <a:effectRef idx="0">
            <a:schemeClr val="dk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en-US" sz="1400">
                <a:cs typeface="Arial"/>
              </a:rPr>
              <a:t>Component re-renders showing fetched data</a:t>
            </a:r>
          </a:p>
        </p:txBody>
      </p:sp>
      <p:cxnSp>
        <p:nvCxnSpPr>
          <p:cNvPr id="23" name="Straight Arrow Connector 22">
            <a:extLst>
              <a:ext uri="{FF2B5EF4-FFF2-40B4-BE49-F238E27FC236}">
                <a16:creationId xmlns:a16="http://schemas.microsoft.com/office/drawing/2014/main" id="{19F79D95-3EEE-5A24-FD9D-8EBA27A3379C}"/>
              </a:ext>
            </a:extLst>
          </p:cNvPr>
          <p:cNvCxnSpPr/>
          <p:nvPr/>
        </p:nvCxnSpPr>
        <p:spPr>
          <a:xfrm>
            <a:off x="10105464" y="4607440"/>
            <a:ext cx="11206" cy="442632"/>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26" name="Straight Arrow Connector 25">
            <a:extLst>
              <a:ext uri="{FF2B5EF4-FFF2-40B4-BE49-F238E27FC236}">
                <a16:creationId xmlns:a16="http://schemas.microsoft.com/office/drawing/2014/main" id="{07B90DED-FE6B-E1CC-57ED-E212855E15E5}"/>
              </a:ext>
            </a:extLst>
          </p:cNvPr>
          <p:cNvCxnSpPr>
            <a:cxnSpLocks/>
          </p:cNvCxnSpPr>
          <p:nvPr/>
        </p:nvCxnSpPr>
        <p:spPr>
          <a:xfrm>
            <a:off x="10105464" y="3217910"/>
            <a:ext cx="11206" cy="442632"/>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27" name="Straight Arrow Connector 26">
            <a:extLst>
              <a:ext uri="{FF2B5EF4-FFF2-40B4-BE49-F238E27FC236}">
                <a16:creationId xmlns:a16="http://schemas.microsoft.com/office/drawing/2014/main" id="{639CAFCE-0741-F189-A0E3-A354406A0F34}"/>
              </a:ext>
            </a:extLst>
          </p:cNvPr>
          <p:cNvCxnSpPr>
            <a:cxnSpLocks/>
          </p:cNvCxnSpPr>
          <p:nvPr/>
        </p:nvCxnSpPr>
        <p:spPr>
          <a:xfrm>
            <a:off x="10105463" y="1873204"/>
            <a:ext cx="11206" cy="397809"/>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Tree>
    <p:extLst>
      <p:ext uri="{BB962C8B-B14F-4D97-AF65-F5344CB8AC3E}">
        <p14:creationId xmlns:p14="http://schemas.microsoft.com/office/powerpoint/2010/main" val="872951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6727849" cy="4851832"/>
          </a:xfrm>
        </p:spPr>
        <p:txBody>
          <a:bodyPr lIns="91440" tIns="45720" rIns="91440" bIns="45720" anchor="t">
            <a:normAutofit/>
          </a:bodyPr>
          <a:lstStyle/>
          <a:p>
            <a:pPr marL="457200" indent="-457200">
              <a:buAutoNum type="arabicPeriod"/>
            </a:pPr>
            <a:r>
              <a:rPr lang="en-US" sz="2000" err="1">
                <a:latin typeface="Gill Sans MT"/>
              </a:rPr>
              <a:t>studentList</a:t>
            </a:r>
            <a:r>
              <a:rPr lang="en-US" sz="2000">
                <a:latin typeface="Gill Sans MT"/>
              </a:rPr>
              <a:t> is a list of students to be displayed in the UI, initially empty</a:t>
            </a:r>
            <a:endParaRPr lang="en-US"/>
          </a:p>
          <a:p>
            <a:pPr marL="457200" indent="-457200">
              <a:buAutoNum type="arabicPeriod"/>
            </a:pPr>
            <a:endParaRPr lang="en-US" sz="2000"/>
          </a:p>
          <a:p>
            <a:pPr marL="457200" indent="-457200">
              <a:buAutoNum type="arabicPeriod"/>
            </a:pPr>
            <a:r>
              <a:rPr lang="en-US" sz="2000" err="1">
                <a:latin typeface="Gill Sans MT"/>
              </a:rPr>
              <a:t>useEffect</a:t>
            </a:r>
            <a:r>
              <a:rPr lang="en-US" sz="2000">
                <a:latin typeface="Gill Sans MT"/>
              </a:rPr>
              <a:t> uses fetch API to make GET call to the /</a:t>
            </a:r>
            <a:r>
              <a:rPr lang="en-US" sz="2000" err="1">
                <a:latin typeface="Gill Sans MT"/>
              </a:rPr>
              <a:t>getStudents</a:t>
            </a:r>
            <a:r>
              <a:rPr lang="en-US" sz="2000">
                <a:latin typeface="Gill Sans MT"/>
              </a:rPr>
              <a:t> endpoint</a:t>
            </a:r>
          </a:p>
          <a:p>
            <a:pPr marL="457200" indent="-457200">
              <a:buAutoNum type="arabicPeriod"/>
            </a:pPr>
            <a:endParaRPr lang="en-US" sz="2000"/>
          </a:p>
          <a:p>
            <a:pPr marL="457200" indent="-457200">
              <a:buAutoNum type="arabicPeriod"/>
            </a:pPr>
            <a:r>
              <a:rPr lang="en-US" sz="2000">
                <a:latin typeface="Gill Sans MT"/>
              </a:rPr>
              <a:t>Response to API call is parsed to JSON object and used to set component state</a:t>
            </a:r>
          </a:p>
          <a:p>
            <a:pPr marL="457200" indent="-457200">
              <a:buAutoNum type="arabicPeriod"/>
            </a:pPr>
            <a:endParaRPr lang="en-US" sz="2000"/>
          </a:p>
          <a:p>
            <a:pPr marL="457200" indent="-457200">
              <a:buAutoNum type="arabicPeriod"/>
            </a:pPr>
            <a:r>
              <a:rPr lang="en-US" sz="2000">
                <a:latin typeface="Gill Sans MT"/>
              </a:rPr>
              <a:t>Component view iterates over </a:t>
            </a:r>
            <a:r>
              <a:rPr lang="en-US" sz="2000" err="1">
                <a:latin typeface="Gill Sans MT"/>
              </a:rPr>
              <a:t>studentList</a:t>
            </a:r>
            <a:r>
              <a:rPr lang="en-US" sz="2000">
                <a:latin typeface="Gill Sans MT"/>
              </a:rPr>
              <a:t> and displays header, text content, and image for each student</a:t>
            </a:r>
          </a:p>
          <a:p>
            <a:pPr marL="452120" lvl="1">
              <a:buFont typeface="Courier New" panose="02070309020205020404" pitchFamily="49" charset="0"/>
              <a:buChar char="o"/>
            </a:pPr>
            <a:endParaRPr lang="en-US"/>
          </a:p>
        </p:txBody>
      </p:sp>
      <p:sp>
        <p:nvSpPr>
          <p:cNvPr id="5" name="Title 4"/>
          <p:cNvSpPr>
            <a:spLocks noGrp="1"/>
          </p:cNvSpPr>
          <p:nvPr>
            <p:ph type="title"/>
          </p:nvPr>
        </p:nvSpPr>
        <p:spPr/>
        <p:txBody>
          <a:bodyPr lIns="0" tIns="45720" rIns="91440" bIns="45720" anchor="b">
            <a:normAutofit fontScale="90000"/>
          </a:bodyPr>
          <a:lstStyle/>
          <a:p>
            <a:r>
              <a:rPr lang="en-US">
                <a:latin typeface="Gill Sans MT"/>
                <a:ea typeface="+mn-lt"/>
                <a:cs typeface="+mn-lt"/>
              </a:rPr>
              <a:t>API Calls in React</a:t>
            </a:r>
            <a:br>
              <a:rPr lang="en-US"/>
            </a:br>
            <a:r>
              <a:rPr lang="en-US" sz="1600">
                <a:latin typeface="Gill Sans MT"/>
              </a:rPr>
              <a:t>Fetch Example</a:t>
            </a:r>
            <a:endParaRPr lang="en-US"/>
          </a:p>
        </p:txBody>
      </p:sp>
      <p:pic>
        <p:nvPicPr>
          <p:cNvPr id="7" name="Picture 9">
            <a:extLst>
              <a:ext uri="{FF2B5EF4-FFF2-40B4-BE49-F238E27FC236}">
                <a16:creationId xmlns:a16="http://schemas.microsoft.com/office/drawing/2014/main" id="{02A9A45B-72C0-45FD-86EE-43452F05A2BA}"/>
              </a:ext>
            </a:extLst>
          </p:cNvPr>
          <p:cNvPicPr>
            <a:picLocks noChangeAspect="1"/>
          </p:cNvPicPr>
          <p:nvPr/>
        </p:nvPicPr>
        <p:blipFill>
          <a:blip r:embed="rId2"/>
          <a:stretch>
            <a:fillRect/>
          </a:stretch>
        </p:blipFill>
        <p:spPr>
          <a:xfrm>
            <a:off x="7414013" y="1246093"/>
            <a:ext cx="4434029" cy="5098360"/>
          </a:xfrm>
          <a:prstGeom prst="rect">
            <a:avLst/>
          </a:prstGeom>
        </p:spPr>
      </p:pic>
    </p:spTree>
    <p:extLst>
      <p:ext uri="{BB962C8B-B14F-4D97-AF65-F5344CB8AC3E}">
        <p14:creationId xmlns:p14="http://schemas.microsoft.com/office/powerpoint/2010/main" val="514243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1811" y="1246094"/>
            <a:ext cx="11372420" cy="4851832"/>
          </a:xfrm>
        </p:spPr>
        <p:txBody>
          <a:bodyPr lIns="91440" tIns="45720" rIns="91440" bIns="45720" anchor="t">
            <a:normAutofit fontScale="92500" lnSpcReduction="20000"/>
          </a:bodyPr>
          <a:lstStyle/>
          <a:p>
            <a:pPr marL="128270" indent="-128270"/>
            <a:r>
              <a:rPr lang="en-US">
                <a:latin typeface="Gill Sans MT"/>
                <a:cs typeface="Arial"/>
              </a:rPr>
              <a:t>Axios library is an alternative to the JavaScript Fetch API</a:t>
            </a:r>
            <a:endParaRPr lang="en-US">
              <a:cs typeface="Arial"/>
            </a:endParaRPr>
          </a:p>
          <a:p>
            <a:pPr marL="128270" indent="-128270"/>
            <a:r>
              <a:rPr lang="en-US">
                <a:latin typeface="Gill Sans MT"/>
                <a:cs typeface="Arial"/>
              </a:rPr>
              <a:t>Installing Axios</a:t>
            </a:r>
          </a:p>
          <a:p>
            <a:pPr marL="260350" lvl="1" indent="-128270"/>
            <a:r>
              <a:rPr lang="en-US">
                <a:latin typeface="Gill Sans MT"/>
                <a:cs typeface="Arial"/>
              </a:rPr>
              <a:t>Run '</a:t>
            </a:r>
            <a:r>
              <a:rPr lang="en-US" b="1" err="1">
                <a:latin typeface="Courier New"/>
                <a:cs typeface="Arial"/>
              </a:rPr>
              <a:t>npm</a:t>
            </a:r>
            <a:r>
              <a:rPr lang="en-US" b="1">
                <a:latin typeface="Courier New"/>
                <a:cs typeface="Arial"/>
              </a:rPr>
              <a:t> install </a:t>
            </a:r>
            <a:r>
              <a:rPr lang="en-US" b="1" err="1">
                <a:latin typeface="Courier New"/>
                <a:cs typeface="Arial"/>
              </a:rPr>
              <a:t>axios</a:t>
            </a:r>
            <a:r>
              <a:rPr lang="en-US">
                <a:latin typeface="Gill Sans MT"/>
                <a:cs typeface="Arial"/>
              </a:rPr>
              <a:t>' in project directory</a:t>
            </a:r>
            <a:endParaRPr lang="en-US" i="1">
              <a:latin typeface="Gill Sans MT"/>
              <a:cs typeface="Arial"/>
            </a:endParaRPr>
          </a:p>
          <a:p>
            <a:pPr marL="260350" lvl="1" indent="-128270"/>
            <a:r>
              <a:rPr lang="en-US">
                <a:latin typeface="Gill Sans MT"/>
                <a:cs typeface="Arial"/>
              </a:rPr>
              <a:t>Import Axios library into React component</a:t>
            </a:r>
          </a:p>
          <a:p>
            <a:pPr marL="132080" lvl="1" indent="0">
              <a:buNone/>
            </a:pPr>
            <a:endParaRPr lang="en-US">
              <a:cs typeface="Arial"/>
            </a:endParaRPr>
          </a:p>
          <a:p>
            <a:pPr marL="260350" lvl="1" indent="-128270"/>
            <a:endParaRPr lang="en-US">
              <a:cs typeface="Arial"/>
            </a:endParaRPr>
          </a:p>
          <a:p>
            <a:pPr marL="260350" lvl="1" indent="-128270"/>
            <a:r>
              <a:rPr lang="en-US">
                <a:latin typeface="Gill Sans MT"/>
                <a:cs typeface="Arial"/>
              </a:rPr>
              <a:t>Use Axios for request</a:t>
            </a:r>
          </a:p>
          <a:p>
            <a:pPr marL="260350" lvl="1" indent="-128270"/>
            <a:endParaRPr lang="en-US">
              <a:cs typeface="Arial"/>
            </a:endParaRPr>
          </a:p>
          <a:p>
            <a:pPr marL="260350" lvl="1" indent="-128270"/>
            <a:endParaRPr lang="en-US">
              <a:cs typeface="Arial"/>
            </a:endParaRPr>
          </a:p>
          <a:p>
            <a:pPr marL="260350" lvl="1" indent="-128270"/>
            <a:endParaRPr lang="en-US">
              <a:cs typeface="Arial"/>
            </a:endParaRPr>
          </a:p>
          <a:p>
            <a:pPr marL="260350" lvl="1" indent="-128270"/>
            <a:endParaRPr lang="en-US">
              <a:cs typeface="Arial"/>
            </a:endParaRPr>
          </a:p>
          <a:p>
            <a:pPr marL="260350" lvl="1" indent="-128270"/>
            <a:r>
              <a:rPr lang="en-US">
                <a:latin typeface="Gill Sans MT"/>
                <a:cs typeface="Arial"/>
              </a:rPr>
              <a:t>Axios has convenience methods for all REST calls:</a:t>
            </a:r>
          </a:p>
          <a:p>
            <a:pPr marL="498475" lvl="2" indent="-128270"/>
            <a:r>
              <a:rPr lang="en-US" err="1">
                <a:latin typeface="Gill Sans MT"/>
              </a:rPr>
              <a:t>axios.get</a:t>
            </a:r>
            <a:r>
              <a:rPr lang="en-US">
                <a:latin typeface="Gill Sans MT"/>
              </a:rPr>
              <a:t>(</a:t>
            </a:r>
            <a:r>
              <a:rPr lang="en-US" err="1">
                <a:latin typeface="Gill Sans MT"/>
              </a:rPr>
              <a:t>url</a:t>
            </a:r>
            <a:r>
              <a:rPr lang="en-US">
                <a:latin typeface="Gill Sans MT"/>
              </a:rPr>
              <a:t>[, config])</a:t>
            </a:r>
          </a:p>
          <a:p>
            <a:pPr marL="498475" lvl="2" indent="-128270"/>
            <a:r>
              <a:rPr lang="en-US" err="1">
                <a:latin typeface="Gill Sans MT"/>
              </a:rPr>
              <a:t>axios.delete</a:t>
            </a:r>
            <a:r>
              <a:rPr lang="en-US">
                <a:latin typeface="Gill Sans MT"/>
              </a:rPr>
              <a:t>(</a:t>
            </a:r>
            <a:r>
              <a:rPr lang="en-US" err="1">
                <a:latin typeface="Gill Sans MT"/>
              </a:rPr>
              <a:t>url</a:t>
            </a:r>
            <a:r>
              <a:rPr lang="en-US">
                <a:latin typeface="Gill Sans MT"/>
              </a:rPr>
              <a:t>[, config])</a:t>
            </a:r>
          </a:p>
          <a:p>
            <a:pPr marL="498475" lvl="2" indent="-128270"/>
            <a:r>
              <a:rPr lang="en-US" err="1">
                <a:latin typeface="Gill Sans MT"/>
                <a:ea typeface="+mn-lt"/>
                <a:cs typeface="+mn-lt"/>
              </a:rPr>
              <a:t>axios.post</a:t>
            </a:r>
            <a:r>
              <a:rPr lang="en-US">
                <a:latin typeface="Gill Sans MT"/>
                <a:ea typeface="+mn-lt"/>
                <a:cs typeface="+mn-lt"/>
              </a:rPr>
              <a:t>(</a:t>
            </a:r>
            <a:r>
              <a:rPr lang="en-US" err="1">
                <a:latin typeface="Gill Sans MT"/>
                <a:ea typeface="+mn-lt"/>
                <a:cs typeface="+mn-lt"/>
              </a:rPr>
              <a:t>url</a:t>
            </a:r>
            <a:r>
              <a:rPr lang="en-US">
                <a:latin typeface="Gill Sans MT"/>
                <a:ea typeface="+mn-lt"/>
                <a:cs typeface="+mn-lt"/>
              </a:rPr>
              <a:t>[, config])</a:t>
            </a:r>
          </a:p>
          <a:p>
            <a:pPr marL="498475" lvl="2" indent="-128270"/>
            <a:r>
              <a:rPr lang="en-US" err="1">
                <a:latin typeface="Gill Sans MT"/>
                <a:ea typeface="+mn-lt"/>
                <a:cs typeface="+mn-lt"/>
              </a:rPr>
              <a:t>axios.put</a:t>
            </a:r>
            <a:r>
              <a:rPr lang="en-US">
                <a:latin typeface="Gill Sans MT"/>
                <a:ea typeface="+mn-lt"/>
                <a:cs typeface="+mn-lt"/>
              </a:rPr>
              <a:t>(</a:t>
            </a:r>
            <a:r>
              <a:rPr lang="en-US" err="1">
                <a:latin typeface="Gill Sans MT"/>
                <a:ea typeface="+mn-lt"/>
                <a:cs typeface="+mn-lt"/>
              </a:rPr>
              <a:t>url</a:t>
            </a:r>
            <a:r>
              <a:rPr lang="en-US">
                <a:latin typeface="Gill Sans MT"/>
                <a:ea typeface="+mn-lt"/>
                <a:cs typeface="+mn-lt"/>
              </a:rPr>
              <a:t>[, config])</a:t>
            </a:r>
          </a:p>
          <a:p>
            <a:pPr marL="452120" lvl="1">
              <a:buFont typeface="Courier New" panose="02070309020205020404" pitchFamily="49" charset="0"/>
              <a:buChar char="o"/>
            </a:pPr>
            <a:endParaRPr lang="en-US"/>
          </a:p>
        </p:txBody>
      </p:sp>
      <p:sp>
        <p:nvSpPr>
          <p:cNvPr id="5" name="Title 4"/>
          <p:cNvSpPr>
            <a:spLocks noGrp="1"/>
          </p:cNvSpPr>
          <p:nvPr>
            <p:ph type="title"/>
          </p:nvPr>
        </p:nvSpPr>
        <p:spPr/>
        <p:txBody>
          <a:bodyPr>
            <a:normAutofit fontScale="90000"/>
          </a:bodyPr>
          <a:lstStyle/>
          <a:p>
            <a:r>
              <a:rPr lang="en-US">
                <a:ea typeface="+mn-lt"/>
                <a:cs typeface="+mn-lt"/>
              </a:rPr>
              <a:t>API Calls in React</a:t>
            </a:r>
            <a:br>
              <a:rPr lang="en-US"/>
            </a:br>
            <a:r>
              <a:rPr lang="en-US" sz="1600" err="1"/>
              <a:t>Axios</a:t>
            </a:r>
            <a:endParaRPr lang="en-US"/>
          </a:p>
        </p:txBody>
      </p:sp>
      <p:pic>
        <p:nvPicPr>
          <p:cNvPr id="6" name="Picture 8">
            <a:extLst>
              <a:ext uri="{FF2B5EF4-FFF2-40B4-BE49-F238E27FC236}">
                <a16:creationId xmlns:a16="http://schemas.microsoft.com/office/drawing/2014/main" id="{C0A83473-7093-4C26-86B7-BD5726C2D8CD}"/>
              </a:ext>
            </a:extLst>
          </p:cNvPr>
          <p:cNvPicPr>
            <a:picLocks noChangeAspect="1"/>
          </p:cNvPicPr>
          <p:nvPr/>
        </p:nvPicPr>
        <p:blipFill>
          <a:blip r:embed="rId2"/>
          <a:stretch>
            <a:fillRect/>
          </a:stretch>
        </p:blipFill>
        <p:spPr>
          <a:xfrm>
            <a:off x="839134" y="2530870"/>
            <a:ext cx="2717549" cy="289409"/>
          </a:xfrm>
          <a:prstGeom prst="rect">
            <a:avLst/>
          </a:prstGeom>
        </p:spPr>
      </p:pic>
      <p:pic>
        <p:nvPicPr>
          <p:cNvPr id="8" name="Picture 9">
            <a:extLst>
              <a:ext uri="{FF2B5EF4-FFF2-40B4-BE49-F238E27FC236}">
                <a16:creationId xmlns:a16="http://schemas.microsoft.com/office/drawing/2014/main" id="{FE669585-49F2-461C-A8AC-98DC6853ED4A}"/>
              </a:ext>
            </a:extLst>
          </p:cNvPr>
          <p:cNvPicPr>
            <a:picLocks noChangeAspect="1"/>
          </p:cNvPicPr>
          <p:nvPr/>
        </p:nvPicPr>
        <p:blipFill>
          <a:blip r:embed="rId3"/>
          <a:stretch>
            <a:fillRect/>
          </a:stretch>
        </p:blipFill>
        <p:spPr>
          <a:xfrm>
            <a:off x="839135" y="3276812"/>
            <a:ext cx="3296556" cy="953283"/>
          </a:xfrm>
          <a:prstGeom prst="rect">
            <a:avLst/>
          </a:prstGeom>
        </p:spPr>
      </p:pic>
    </p:spTree>
    <p:extLst>
      <p:ext uri="{BB962C8B-B14F-4D97-AF65-F5344CB8AC3E}">
        <p14:creationId xmlns:p14="http://schemas.microsoft.com/office/powerpoint/2010/main" val="8547727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53ADA6-DA7C-77D0-DED1-9824B22F8420}"/>
              </a:ext>
            </a:extLst>
          </p:cNvPr>
          <p:cNvSpPr>
            <a:spLocks noGrp="1"/>
          </p:cNvSpPr>
          <p:nvPr>
            <p:ph idx="1"/>
          </p:nvPr>
        </p:nvSpPr>
        <p:spPr>
          <a:xfrm>
            <a:off x="401811" y="1042539"/>
            <a:ext cx="6008225" cy="5055387"/>
          </a:xfrm>
        </p:spPr>
        <p:txBody>
          <a:bodyPr/>
          <a:lstStyle/>
          <a:p>
            <a:r>
              <a:rPr lang="en-US"/>
              <a:t>Key notes about React</a:t>
            </a:r>
          </a:p>
          <a:p>
            <a:pPr lvl="1"/>
            <a:r>
              <a:rPr lang="en-US"/>
              <a:t>State updates and data fetching often happen asynchronously, take advantage of async and await</a:t>
            </a:r>
          </a:p>
          <a:p>
            <a:pPr lvl="1"/>
            <a:r>
              <a:rPr lang="en-US"/>
              <a:t>Using </a:t>
            </a:r>
            <a:r>
              <a:rPr lang="en-US" err="1"/>
              <a:t>devtools</a:t>
            </a:r>
            <a:r>
              <a:rPr lang="en-US"/>
              <a:t> is crucial, you can track elements, console.log outputs and check </a:t>
            </a:r>
            <a:r>
              <a:rPr lang="en-US" err="1"/>
              <a:t>api</a:t>
            </a:r>
            <a:r>
              <a:rPr lang="en-US"/>
              <a:t> calls in the network tab</a:t>
            </a:r>
          </a:p>
          <a:p>
            <a:pPr lvl="1"/>
            <a:r>
              <a:rPr lang="en-US"/>
              <a:t>Make use of conditional rendering</a:t>
            </a:r>
          </a:p>
          <a:p>
            <a:pPr lvl="2"/>
            <a:r>
              <a:rPr lang="en-US"/>
              <a:t>{</a:t>
            </a:r>
            <a:r>
              <a:rPr lang="en-US" err="1"/>
              <a:t>IsLoggedIn</a:t>
            </a:r>
            <a:r>
              <a:rPr lang="en-US"/>
              <a:t> &amp;&amp; &lt;Homepage/&gt;}</a:t>
            </a:r>
          </a:p>
          <a:p>
            <a:pPr lvl="2"/>
            <a:r>
              <a:rPr lang="en-US" err="1"/>
              <a:t>Loginattempts</a:t>
            </a:r>
            <a:r>
              <a:rPr lang="en-US"/>
              <a:t> &gt; 3 ? &lt;</a:t>
            </a:r>
            <a:r>
              <a:rPr lang="en-US" err="1"/>
              <a:t>AccountLocked</a:t>
            </a:r>
            <a:r>
              <a:rPr lang="en-US"/>
              <a:t>/&gt; : &lt;Login/&gt; </a:t>
            </a:r>
          </a:p>
          <a:p>
            <a:pPr lvl="1"/>
            <a:r>
              <a:rPr lang="en-US"/>
              <a:t>Learning React?</a:t>
            </a:r>
          </a:p>
          <a:p>
            <a:pPr lvl="2"/>
            <a:r>
              <a:rPr lang="en-US"/>
              <a:t>Never copy and paste code, always write it out</a:t>
            </a:r>
          </a:p>
          <a:p>
            <a:pPr lvl="3"/>
            <a:r>
              <a:rPr lang="en-US"/>
              <a:t>Will help you truly learn the language</a:t>
            </a:r>
          </a:p>
          <a:p>
            <a:pPr lvl="2"/>
            <a:r>
              <a:rPr lang="en-US"/>
              <a:t>Really in-depth course for those super interested ($)</a:t>
            </a:r>
          </a:p>
          <a:p>
            <a:pPr lvl="3"/>
            <a:r>
              <a:rPr lang="en-US">
                <a:hlinkClick r:id="rId2" tooltip="https://www.udemy.com/course/react-the-complete-guide-incl-redux/learn/lecture/39837058?start=600#overview"/>
              </a:rPr>
              <a:t>https://www.udemy.com/course/react-the-complete-guide-incl-redux/learn/lecture/39837058?start=600#overview</a:t>
            </a:r>
            <a:endParaRPr lang="en-US"/>
          </a:p>
          <a:p>
            <a:pPr lvl="1"/>
            <a:endParaRPr lang="en-US"/>
          </a:p>
        </p:txBody>
      </p:sp>
      <p:sp>
        <p:nvSpPr>
          <p:cNvPr id="3" name="Title 2">
            <a:extLst>
              <a:ext uri="{FF2B5EF4-FFF2-40B4-BE49-F238E27FC236}">
                <a16:creationId xmlns:a16="http://schemas.microsoft.com/office/drawing/2014/main" id="{CF396551-F3F4-7AB9-4E05-B12DE6926680}"/>
              </a:ext>
            </a:extLst>
          </p:cNvPr>
          <p:cNvSpPr>
            <a:spLocks noGrp="1"/>
          </p:cNvSpPr>
          <p:nvPr>
            <p:ph type="title"/>
          </p:nvPr>
        </p:nvSpPr>
        <p:spPr/>
        <p:txBody>
          <a:bodyPr/>
          <a:lstStyle/>
          <a:p>
            <a:r>
              <a:rPr lang="en-US"/>
              <a:t>React – Developer Experience</a:t>
            </a:r>
          </a:p>
        </p:txBody>
      </p:sp>
      <p:pic>
        <p:nvPicPr>
          <p:cNvPr id="5" name="Picture 4">
            <a:extLst>
              <a:ext uri="{FF2B5EF4-FFF2-40B4-BE49-F238E27FC236}">
                <a16:creationId xmlns:a16="http://schemas.microsoft.com/office/drawing/2014/main" id="{66555675-EF60-3C88-1B92-41A191F3C584}"/>
              </a:ext>
            </a:extLst>
          </p:cNvPr>
          <p:cNvPicPr>
            <a:picLocks noChangeAspect="1"/>
          </p:cNvPicPr>
          <p:nvPr/>
        </p:nvPicPr>
        <p:blipFill>
          <a:blip r:embed="rId3"/>
          <a:stretch>
            <a:fillRect/>
          </a:stretch>
        </p:blipFill>
        <p:spPr>
          <a:xfrm>
            <a:off x="6345381" y="632610"/>
            <a:ext cx="5542490" cy="2094123"/>
          </a:xfrm>
          <a:prstGeom prst="rect">
            <a:avLst/>
          </a:prstGeom>
        </p:spPr>
      </p:pic>
      <p:pic>
        <p:nvPicPr>
          <p:cNvPr id="7" name="Picture 6">
            <a:extLst>
              <a:ext uri="{FF2B5EF4-FFF2-40B4-BE49-F238E27FC236}">
                <a16:creationId xmlns:a16="http://schemas.microsoft.com/office/drawing/2014/main" id="{46B5DFEC-3B7A-A360-C085-09CBCC113673}"/>
              </a:ext>
            </a:extLst>
          </p:cNvPr>
          <p:cNvPicPr>
            <a:picLocks noChangeAspect="1"/>
          </p:cNvPicPr>
          <p:nvPr/>
        </p:nvPicPr>
        <p:blipFill>
          <a:blip r:embed="rId4"/>
          <a:stretch>
            <a:fillRect/>
          </a:stretch>
        </p:blipFill>
        <p:spPr>
          <a:xfrm>
            <a:off x="8017164" y="2847647"/>
            <a:ext cx="3870707" cy="3560623"/>
          </a:xfrm>
          <a:prstGeom prst="rect">
            <a:avLst/>
          </a:prstGeom>
        </p:spPr>
      </p:pic>
    </p:spTree>
    <p:extLst>
      <p:ext uri="{BB962C8B-B14F-4D97-AF65-F5344CB8AC3E}">
        <p14:creationId xmlns:p14="http://schemas.microsoft.com/office/powerpoint/2010/main" val="30150968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15DE5E-4D1D-013C-BDCA-E5FC1D6A6042}"/>
              </a:ext>
            </a:extLst>
          </p:cNvPr>
          <p:cNvSpPr>
            <a:spLocks noGrp="1"/>
          </p:cNvSpPr>
          <p:nvPr>
            <p:ph idx="1"/>
          </p:nvPr>
        </p:nvSpPr>
        <p:spPr/>
        <p:txBody>
          <a:bodyPr/>
          <a:lstStyle/>
          <a:p>
            <a:r>
              <a:rPr lang="en-US"/>
              <a:t>Because React uses components, a first step with most projects is to design a logical and reusable component structure:</a:t>
            </a:r>
          </a:p>
          <a:p>
            <a:endParaRPr lang="en-US"/>
          </a:p>
          <a:p>
            <a:endParaRPr lang="en-US"/>
          </a:p>
        </p:txBody>
      </p:sp>
      <p:sp>
        <p:nvSpPr>
          <p:cNvPr id="3" name="Title 2">
            <a:extLst>
              <a:ext uri="{FF2B5EF4-FFF2-40B4-BE49-F238E27FC236}">
                <a16:creationId xmlns:a16="http://schemas.microsoft.com/office/drawing/2014/main" id="{961E6055-A9ED-0E77-41B1-3D9DE4DB467B}"/>
              </a:ext>
            </a:extLst>
          </p:cNvPr>
          <p:cNvSpPr>
            <a:spLocks noGrp="1"/>
          </p:cNvSpPr>
          <p:nvPr>
            <p:ph type="title"/>
          </p:nvPr>
        </p:nvSpPr>
        <p:spPr/>
        <p:txBody>
          <a:bodyPr/>
          <a:lstStyle/>
          <a:p>
            <a:r>
              <a:rPr lang="en-US"/>
              <a:t>Thinking in React</a:t>
            </a:r>
          </a:p>
        </p:txBody>
      </p:sp>
      <p:pic>
        <p:nvPicPr>
          <p:cNvPr id="4" name="Picture 4" descr="What can we learn about design from Netflix? | by Monica Galvan | UX Planet">
            <a:extLst>
              <a:ext uri="{FF2B5EF4-FFF2-40B4-BE49-F238E27FC236}">
                <a16:creationId xmlns:a16="http://schemas.microsoft.com/office/drawing/2014/main" id="{804D2D12-D02B-0604-2C8C-6BD62D6231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09680" y="1917576"/>
            <a:ext cx="8257101" cy="43001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695AC46-E0CE-6708-0687-FD258A48D8BD}"/>
              </a:ext>
            </a:extLst>
          </p:cNvPr>
          <p:cNvSpPr/>
          <p:nvPr/>
        </p:nvSpPr>
        <p:spPr>
          <a:xfrm>
            <a:off x="2139696" y="2935224"/>
            <a:ext cx="411480" cy="402336"/>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1A306C7D-078A-A408-8538-9C5DB258D17B}"/>
              </a:ext>
            </a:extLst>
          </p:cNvPr>
          <p:cNvSpPr/>
          <p:nvPr/>
        </p:nvSpPr>
        <p:spPr>
          <a:xfrm>
            <a:off x="2139696" y="3363441"/>
            <a:ext cx="411480" cy="402336"/>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326CD573-8117-52EC-B555-7C926FEF821C}"/>
              </a:ext>
            </a:extLst>
          </p:cNvPr>
          <p:cNvSpPr/>
          <p:nvPr/>
        </p:nvSpPr>
        <p:spPr>
          <a:xfrm>
            <a:off x="2139696" y="3765777"/>
            <a:ext cx="411480" cy="277484"/>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3C1F134C-4128-9A12-0C5E-8DC68296B4F5}"/>
              </a:ext>
            </a:extLst>
          </p:cNvPr>
          <p:cNvSpPr/>
          <p:nvPr/>
        </p:nvSpPr>
        <p:spPr>
          <a:xfrm>
            <a:off x="9315812" y="5020056"/>
            <a:ext cx="950969" cy="1197659"/>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B39832F9-09B3-4BED-7DE1-D98E515A5C41}"/>
              </a:ext>
            </a:extLst>
          </p:cNvPr>
          <p:cNvSpPr/>
          <p:nvPr/>
        </p:nvSpPr>
        <p:spPr>
          <a:xfrm>
            <a:off x="8368969" y="5020056"/>
            <a:ext cx="937462" cy="1197659"/>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6B5C6488-221F-DAFE-A598-D9B43C4FC565}"/>
              </a:ext>
            </a:extLst>
          </p:cNvPr>
          <p:cNvSpPr/>
          <p:nvPr/>
        </p:nvSpPr>
        <p:spPr>
          <a:xfrm>
            <a:off x="7414312" y="5020056"/>
            <a:ext cx="857327" cy="1197658"/>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8F5AE80D-77E1-1EF5-570D-4A5DCFE65F19}"/>
              </a:ext>
            </a:extLst>
          </p:cNvPr>
          <p:cNvSpPr/>
          <p:nvPr/>
        </p:nvSpPr>
        <p:spPr>
          <a:xfrm>
            <a:off x="3462528" y="4089787"/>
            <a:ext cx="946843" cy="309283"/>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64E931A2-C18C-3320-5BAC-19C3BEF5FD0C}"/>
              </a:ext>
            </a:extLst>
          </p:cNvPr>
          <p:cNvSpPr/>
          <p:nvPr/>
        </p:nvSpPr>
        <p:spPr>
          <a:xfrm>
            <a:off x="2681192" y="4092737"/>
            <a:ext cx="781336" cy="309283"/>
          </a:xfrm>
          <a:prstGeom prst="rect">
            <a:avLst/>
          </a:prstGeom>
          <a:noFill/>
          <a:ln>
            <a:solidFill>
              <a:srgbClr val="C00000"/>
            </a:solidFill>
          </a:ln>
          <a:effectLst>
            <a:glow rad="63500">
              <a:schemeClr val="accent3">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A3D522E4-43B6-3A58-8D35-E0E7FC6A6D54}"/>
              </a:ext>
            </a:extLst>
          </p:cNvPr>
          <p:cNvCxnSpPr>
            <a:cxnSpLocks/>
          </p:cNvCxnSpPr>
          <p:nvPr/>
        </p:nvCxnSpPr>
        <p:spPr>
          <a:xfrm flipV="1">
            <a:off x="9976104" y="4276613"/>
            <a:ext cx="466344" cy="6520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0D4C9D9-447D-9B52-85D3-23A46D69E6BE}"/>
              </a:ext>
            </a:extLst>
          </p:cNvPr>
          <p:cNvCxnSpPr>
            <a:cxnSpLocks/>
            <a:stCxn id="12" idx="0"/>
          </p:cNvCxnSpPr>
          <p:nvPr/>
        </p:nvCxnSpPr>
        <p:spPr>
          <a:xfrm flipV="1">
            <a:off x="8837700" y="4135553"/>
            <a:ext cx="1540740" cy="8845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A768ECF-173A-06F5-3971-5D53A944B67F}"/>
              </a:ext>
            </a:extLst>
          </p:cNvPr>
          <p:cNvCxnSpPr>
            <a:cxnSpLocks/>
            <a:stCxn id="13" idx="0"/>
          </p:cNvCxnSpPr>
          <p:nvPr/>
        </p:nvCxnSpPr>
        <p:spPr>
          <a:xfrm flipV="1">
            <a:off x="7842976" y="3994493"/>
            <a:ext cx="2433186" cy="10255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16BF53F-5FE8-8053-0979-6AD46A182811}"/>
              </a:ext>
            </a:extLst>
          </p:cNvPr>
          <p:cNvSpPr txBox="1"/>
          <p:nvPr/>
        </p:nvSpPr>
        <p:spPr>
          <a:xfrm>
            <a:off x="10276161" y="2892408"/>
            <a:ext cx="1986085" cy="1200329"/>
          </a:xfrm>
          <a:prstGeom prst="rect">
            <a:avLst/>
          </a:prstGeom>
          <a:noFill/>
        </p:spPr>
        <p:txBody>
          <a:bodyPr wrap="square" rtlCol="0">
            <a:spAutoFit/>
          </a:bodyPr>
          <a:lstStyle/>
          <a:p>
            <a:r>
              <a:rPr lang="en-US">
                <a:solidFill>
                  <a:srgbClr val="315EAB"/>
                </a:solidFill>
              </a:rPr>
              <a:t>Function </a:t>
            </a:r>
            <a:r>
              <a:rPr lang="en-US" err="1">
                <a:solidFill>
                  <a:srgbClr val="315EAB"/>
                </a:solidFill>
              </a:rPr>
              <a:t>MediaPlayer</a:t>
            </a:r>
            <a:endParaRPr lang="en-US">
              <a:solidFill>
                <a:srgbClr val="315EAB"/>
              </a:solidFill>
            </a:endParaRPr>
          </a:p>
          <a:p>
            <a:r>
              <a:rPr lang="en-US">
                <a:solidFill>
                  <a:srgbClr val="315EAB"/>
                </a:solidFill>
              </a:rPr>
              <a:t>({</a:t>
            </a:r>
            <a:r>
              <a:rPr lang="en-US" err="1">
                <a:solidFill>
                  <a:srgbClr val="315EAB"/>
                </a:solidFill>
              </a:rPr>
              <a:t>mediaUrl,image</a:t>
            </a:r>
            <a:r>
              <a:rPr lang="en-US">
                <a:solidFill>
                  <a:srgbClr val="315EAB"/>
                </a:solidFill>
              </a:rPr>
              <a:t>}){};</a:t>
            </a:r>
          </a:p>
        </p:txBody>
      </p:sp>
      <p:cxnSp>
        <p:nvCxnSpPr>
          <p:cNvPr id="32" name="Straight Arrow Connector 31">
            <a:extLst>
              <a:ext uri="{FF2B5EF4-FFF2-40B4-BE49-F238E27FC236}">
                <a16:creationId xmlns:a16="http://schemas.microsoft.com/office/drawing/2014/main" id="{A2E9A626-B321-0DF0-25C7-8DEBF06411CC}"/>
              </a:ext>
            </a:extLst>
          </p:cNvPr>
          <p:cNvCxnSpPr>
            <a:cxnSpLocks/>
          </p:cNvCxnSpPr>
          <p:nvPr/>
        </p:nvCxnSpPr>
        <p:spPr>
          <a:xfrm flipH="1">
            <a:off x="1416786" y="4402020"/>
            <a:ext cx="1413393" cy="3031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6FC6047-B54A-E42B-3CE1-F8D6120A20D6}"/>
              </a:ext>
            </a:extLst>
          </p:cNvPr>
          <p:cNvCxnSpPr>
            <a:cxnSpLocks/>
            <a:stCxn id="14" idx="2"/>
          </p:cNvCxnSpPr>
          <p:nvPr/>
        </p:nvCxnSpPr>
        <p:spPr>
          <a:xfrm flipH="1">
            <a:off x="1528445" y="4399070"/>
            <a:ext cx="2407505" cy="37924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DF47058-44A2-DF95-AE67-2685A095BD06}"/>
              </a:ext>
            </a:extLst>
          </p:cNvPr>
          <p:cNvSpPr txBox="1"/>
          <p:nvPr/>
        </p:nvSpPr>
        <p:spPr>
          <a:xfrm>
            <a:off x="1" y="4626864"/>
            <a:ext cx="1898020" cy="1200329"/>
          </a:xfrm>
          <a:prstGeom prst="rect">
            <a:avLst/>
          </a:prstGeom>
          <a:noFill/>
        </p:spPr>
        <p:txBody>
          <a:bodyPr wrap="square" rtlCol="0">
            <a:spAutoFit/>
          </a:bodyPr>
          <a:lstStyle/>
          <a:p>
            <a:r>
              <a:rPr lang="en-US">
                <a:solidFill>
                  <a:srgbClr val="315EAB"/>
                </a:solidFill>
              </a:rPr>
              <a:t>Button = ({</a:t>
            </a:r>
            <a:r>
              <a:rPr lang="en-US" err="1">
                <a:solidFill>
                  <a:srgbClr val="315EAB"/>
                </a:solidFill>
              </a:rPr>
              <a:t>onClick,children,ClassName</a:t>
            </a:r>
            <a:r>
              <a:rPr lang="en-US">
                <a:solidFill>
                  <a:srgbClr val="315EAB"/>
                </a:solidFill>
              </a:rPr>
              <a:t>})</a:t>
            </a:r>
          </a:p>
          <a:p>
            <a:r>
              <a:rPr lang="en-US">
                <a:solidFill>
                  <a:srgbClr val="315EAB"/>
                </a:solidFill>
              </a:rPr>
              <a:t>return(&lt;button…</a:t>
            </a:r>
          </a:p>
        </p:txBody>
      </p:sp>
      <p:cxnSp>
        <p:nvCxnSpPr>
          <p:cNvPr id="41" name="Straight Arrow Connector 40">
            <a:extLst>
              <a:ext uri="{FF2B5EF4-FFF2-40B4-BE49-F238E27FC236}">
                <a16:creationId xmlns:a16="http://schemas.microsoft.com/office/drawing/2014/main" id="{FF48608A-6FD3-597E-DFBD-DB4D800F340A}"/>
              </a:ext>
            </a:extLst>
          </p:cNvPr>
          <p:cNvCxnSpPr>
            <a:cxnSpLocks/>
            <a:stCxn id="7" idx="1"/>
          </p:cNvCxnSpPr>
          <p:nvPr/>
        </p:nvCxnSpPr>
        <p:spPr>
          <a:xfrm flipH="1" flipV="1">
            <a:off x="1898021" y="3652423"/>
            <a:ext cx="241675" cy="252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5F1CC47-E836-DC6B-7AE9-007663B7DBC4}"/>
              </a:ext>
            </a:extLst>
          </p:cNvPr>
          <p:cNvCxnSpPr>
            <a:cxnSpLocks/>
            <a:stCxn id="6" idx="1"/>
          </p:cNvCxnSpPr>
          <p:nvPr/>
        </p:nvCxnSpPr>
        <p:spPr>
          <a:xfrm flipH="1" flipV="1">
            <a:off x="1898021" y="3510731"/>
            <a:ext cx="241675" cy="538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6A669FE-570D-3244-2754-0C4AF4CE3584}"/>
              </a:ext>
            </a:extLst>
          </p:cNvPr>
          <p:cNvCxnSpPr>
            <a:cxnSpLocks/>
            <a:stCxn id="5" idx="1"/>
          </p:cNvCxnSpPr>
          <p:nvPr/>
        </p:nvCxnSpPr>
        <p:spPr>
          <a:xfrm flipH="1">
            <a:off x="1887595" y="3136392"/>
            <a:ext cx="252101" cy="252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52462AF7-9745-5BFA-9947-7382250F7B74}"/>
              </a:ext>
            </a:extLst>
          </p:cNvPr>
          <p:cNvSpPr txBox="1"/>
          <p:nvPr/>
        </p:nvSpPr>
        <p:spPr>
          <a:xfrm>
            <a:off x="73152" y="1917575"/>
            <a:ext cx="1872520" cy="2308324"/>
          </a:xfrm>
          <a:prstGeom prst="rect">
            <a:avLst/>
          </a:prstGeom>
          <a:noFill/>
        </p:spPr>
        <p:txBody>
          <a:bodyPr wrap="square" rtlCol="0">
            <a:spAutoFit/>
          </a:bodyPr>
          <a:lstStyle/>
          <a:p>
            <a:r>
              <a:rPr lang="en-US">
                <a:solidFill>
                  <a:srgbClr val="315EAB"/>
                </a:solidFill>
              </a:rPr>
              <a:t>&lt;div </a:t>
            </a:r>
            <a:r>
              <a:rPr lang="en-US" err="1">
                <a:solidFill>
                  <a:srgbClr val="315EAB"/>
                </a:solidFill>
              </a:rPr>
              <a:t>className</a:t>
            </a:r>
            <a:r>
              <a:rPr lang="en-US">
                <a:solidFill>
                  <a:srgbClr val="315EAB"/>
                </a:solidFill>
              </a:rPr>
              <a:t>=“Navbar”&gt;</a:t>
            </a:r>
          </a:p>
          <a:p>
            <a:r>
              <a:rPr lang="en-US">
                <a:solidFill>
                  <a:srgbClr val="315EAB"/>
                </a:solidFill>
              </a:rPr>
              <a:t>&lt;</a:t>
            </a:r>
            <a:r>
              <a:rPr lang="en-US" err="1">
                <a:solidFill>
                  <a:srgbClr val="315EAB"/>
                </a:solidFill>
              </a:rPr>
              <a:t>NavItem</a:t>
            </a:r>
            <a:r>
              <a:rPr lang="en-US">
                <a:solidFill>
                  <a:srgbClr val="315EAB"/>
                </a:solidFill>
              </a:rPr>
              <a:t> </a:t>
            </a:r>
            <a:r>
              <a:rPr lang="en-US" err="1">
                <a:solidFill>
                  <a:srgbClr val="315EAB"/>
                </a:solidFill>
              </a:rPr>
              <a:t>img</a:t>
            </a:r>
            <a:r>
              <a:rPr lang="en-US">
                <a:solidFill>
                  <a:srgbClr val="315EAB"/>
                </a:solidFill>
              </a:rPr>
              <a:t>=</a:t>
            </a:r>
            <a:r>
              <a:rPr lang="en-US" err="1">
                <a:solidFill>
                  <a:srgbClr val="315EAB"/>
                </a:solidFill>
              </a:rPr>
              <a:t>url</a:t>
            </a:r>
            <a:r>
              <a:rPr lang="en-US">
                <a:solidFill>
                  <a:srgbClr val="315EAB"/>
                </a:solidFill>
              </a:rPr>
              <a:t>, </a:t>
            </a:r>
            <a:r>
              <a:rPr lang="en-US" err="1">
                <a:solidFill>
                  <a:srgbClr val="315EAB"/>
                </a:solidFill>
              </a:rPr>
              <a:t>onClick</a:t>
            </a:r>
            <a:r>
              <a:rPr lang="en-US">
                <a:solidFill>
                  <a:srgbClr val="315EAB"/>
                </a:solidFill>
              </a:rPr>
              <a:t>=</a:t>
            </a:r>
            <a:r>
              <a:rPr lang="en-US" err="1">
                <a:solidFill>
                  <a:srgbClr val="315EAB"/>
                </a:solidFill>
              </a:rPr>
              <a:t>handleItemSelect</a:t>
            </a:r>
            <a:r>
              <a:rPr lang="en-US">
                <a:solidFill>
                  <a:srgbClr val="315EAB"/>
                </a:solidFill>
              </a:rPr>
              <a:t>&gt;…</a:t>
            </a:r>
          </a:p>
          <a:p>
            <a:endParaRPr lang="en-US"/>
          </a:p>
        </p:txBody>
      </p:sp>
    </p:spTree>
    <p:extLst>
      <p:ext uri="{BB962C8B-B14F-4D97-AF65-F5344CB8AC3E}">
        <p14:creationId xmlns:p14="http://schemas.microsoft.com/office/powerpoint/2010/main" val="8154581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96B100D-F50F-460C-9B25-89BBFD1433D0}"/>
              </a:ext>
            </a:extLst>
          </p:cNvPr>
          <p:cNvSpPr>
            <a:spLocks noGrp="1"/>
          </p:cNvSpPr>
          <p:nvPr>
            <p:ph type="body" sz="quarter" idx="10"/>
          </p:nvPr>
        </p:nvSpPr>
        <p:spPr/>
        <p:txBody>
          <a:bodyPr lIns="0" tIns="45720" rIns="0" bIns="45720" anchor="t"/>
          <a:lstStyle/>
          <a:p>
            <a:r>
              <a:rPr lang="en-US">
                <a:latin typeface="Gill Sans MT"/>
              </a:rPr>
              <a:t>Getting Started</a:t>
            </a:r>
            <a:endParaRPr lang="en-US"/>
          </a:p>
        </p:txBody>
      </p:sp>
    </p:spTree>
    <p:extLst>
      <p:ext uri="{BB962C8B-B14F-4D97-AF65-F5344CB8AC3E}">
        <p14:creationId xmlns:p14="http://schemas.microsoft.com/office/powerpoint/2010/main" val="39544393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747CE8-9096-7BEC-185E-539D9F600F3C}"/>
              </a:ext>
            </a:extLst>
          </p:cNvPr>
          <p:cNvSpPr>
            <a:spLocks noGrp="1"/>
          </p:cNvSpPr>
          <p:nvPr>
            <p:ph idx="1"/>
          </p:nvPr>
        </p:nvSpPr>
        <p:spPr/>
        <p:txBody>
          <a:bodyPr lIns="91440" tIns="45720" rIns="91440" bIns="45720" anchor="t">
            <a:normAutofit/>
          </a:bodyPr>
          <a:lstStyle/>
          <a:p>
            <a:r>
              <a:rPr lang="en-US">
                <a:latin typeface="Gill Sans MT"/>
              </a:rPr>
              <a:t>Install Node and NPM</a:t>
            </a:r>
            <a:endParaRPr lang="en-US"/>
          </a:p>
          <a:p>
            <a:pPr marL="452120" lvl="1">
              <a:buFont typeface="Arial" pitchFamily="2" charset="2"/>
            </a:pPr>
            <a:r>
              <a:rPr lang="en-US">
                <a:latin typeface="Gill Sans MT"/>
                <a:hlinkClick r:id="rId3"/>
              </a:rPr>
              <a:t>Download | Node.js (nodejs.org)</a:t>
            </a:r>
          </a:p>
          <a:p>
            <a:r>
              <a:rPr lang="en-US">
                <a:latin typeface="Gill Sans MT"/>
              </a:rPr>
              <a:t>Build a React App Using Vite (or another build tool and/or framework)</a:t>
            </a:r>
            <a:endParaRPr lang="en-US"/>
          </a:p>
          <a:p>
            <a:pPr marL="452120" lvl="1">
              <a:buFont typeface="Arial" pitchFamily="2" charset="2"/>
            </a:pPr>
            <a:r>
              <a:rPr lang="en-US">
                <a:solidFill>
                  <a:srgbClr val="A6A6A6"/>
                </a:solidFill>
                <a:latin typeface="Gill Sans MT"/>
                <a:hlinkClick r:id="rId4"/>
              </a:rPr>
              <a:t>https://react.dev/learn/build-a-react-app-from-scratch</a:t>
            </a:r>
            <a:r>
              <a:rPr lang="en-US">
                <a:solidFill>
                  <a:srgbClr val="A6A6A6"/>
                </a:solidFill>
                <a:latin typeface="Gill Sans MT"/>
              </a:rPr>
              <a:t> </a:t>
            </a:r>
          </a:p>
          <a:p>
            <a:r>
              <a:rPr lang="en-US">
                <a:latin typeface="Gill Sans MT"/>
              </a:rPr>
              <a:t>Design basic layout and data flow for your application</a:t>
            </a:r>
          </a:p>
          <a:p>
            <a:pPr marL="452120" lvl="1"/>
            <a:r>
              <a:rPr lang="en-US">
                <a:solidFill>
                  <a:srgbClr val="A6A6A6"/>
                </a:solidFill>
                <a:latin typeface="Gill Sans MT"/>
              </a:rPr>
              <a:t>Go from UI wireframe to React components: </a:t>
            </a:r>
            <a:r>
              <a:rPr lang="en-US">
                <a:latin typeface="Gill Sans MT"/>
                <a:hlinkClick r:id="rId5"/>
              </a:rPr>
              <a:t>Thinking in React – React (reactjs.org)</a:t>
            </a:r>
            <a:endParaRPr lang="en-US">
              <a:solidFill>
                <a:srgbClr val="A6A6A6"/>
              </a:solidFill>
              <a:latin typeface="Gill Sans MT"/>
            </a:endParaRPr>
          </a:p>
          <a:p>
            <a:pPr marL="452120" lvl="1"/>
            <a:r>
              <a:rPr lang="en-US">
                <a:solidFill>
                  <a:srgbClr val="A6A6A6"/>
                </a:solidFill>
                <a:latin typeface="Gill Sans MT"/>
              </a:rPr>
              <a:t>Keep best practices in mind as you design</a:t>
            </a:r>
          </a:p>
          <a:p>
            <a:r>
              <a:rPr lang="en-US">
                <a:latin typeface="Gill Sans MT"/>
              </a:rPr>
              <a:t>Run local development server</a:t>
            </a:r>
          </a:p>
          <a:p>
            <a:pPr marL="452120" lvl="1"/>
            <a:r>
              <a:rPr lang="en-US">
                <a:solidFill>
                  <a:srgbClr val="A6A6A6"/>
                </a:solidFill>
                <a:latin typeface="Gill Sans MT"/>
              </a:rPr>
              <a:t>'</a:t>
            </a:r>
            <a:r>
              <a:rPr lang="en-US" err="1">
                <a:solidFill>
                  <a:srgbClr val="A6A6A6"/>
                </a:solidFill>
                <a:latin typeface="Gill Sans MT"/>
              </a:rPr>
              <a:t>npm</a:t>
            </a:r>
            <a:r>
              <a:rPr lang="en-US">
                <a:solidFill>
                  <a:srgbClr val="A6A6A6"/>
                </a:solidFill>
                <a:latin typeface="Gill Sans MT"/>
              </a:rPr>
              <a:t> start'</a:t>
            </a:r>
          </a:p>
          <a:p>
            <a:pPr marL="452120" lvl="1"/>
            <a:r>
              <a:rPr lang="en-US">
                <a:solidFill>
                  <a:srgbClr val="A6A6A6"/>
                </a:solidFill>
                <a:latin typeface="Gill Sans MT"/>
              </a:rPr>
              <a:t>Saving pre-existing files will automatically apply changes to your site</a:t>
            </a:r>
          </a:p>
          <a:p>
            <a:pPr marL="452120" lvl="1"/>
            <a:r>
              <a:rPr lang="en-US">
                <a:solidFill>
                  <a:srgbClr val="A6A6A6"/>
                </a:solidFill>
                <a:latin typeface="Gill Sans MT"/>
              </a:rPr>
              <a:t>You will need to restart (</a:t>
            </a:r>
            <a:r>
              <a:rPr lang="en-US" err="1">
                <a:solidFill>
                  <a:srgbClr val="A6A6A6"/>
                </a:solidFill>
                <a:latin typeface="Gill Sans MT"/>
              </a:rPr>
              <a:t>ctrl+c</a:t>
            </a:r>
            <a:r>
              <a:rPr lang="en-US">
                <a:solidFill>
                  <a:srgbClr val="A6A6A6"/>
                </a:solidFill>
                <a:latin typeface="Gill Sans MT"/>
              </a:rPr>
              <a:t> and re-run '</a:t>
            </a:r>
            <a:r>
              <a:rPr lang="en-US" err="1">
                <a:solidFill>
                  <a:srgbClr val="A6A6A6"/>
                </a:solidFill>
                <a:latin typeface="Gill Sans MT"/>
              </a:rPr>
              <a:t>npm</a:t>
            </a:r>
            <a:r>
              <a:rPr lang="en-US">
                <a:solidFill>
                  <a:srgbClr val="A6A6A6"/>
                </a:solidFill>
                <a:latin typeface="Gill Sans MT"/>
              </a:rPr>
              <a:t> start') to install </a:t>
            </a:r>
            <a:r>
              <a:rPr lang="en-US" err="1">
                <a:solidFill>
                  <a:srgbClr val="A6A6A6"/>
                </a:solidFill>
                <a:latin typeface="Gill Sans MT"/>
              </a:rPr>
              <a:t>npm</a:t>
            </a:r>
            <a:r>
              <a:rPr lang="en-US">
                <a:solidFill>
                  <a:srgbClr val="A6A6A6"/>
                </a:solidFill>
                <a:latin typeface="Gill Sans MT"/>
              </a:rPr>
              <a:t> packages or add project files</a:t>
            </a:r>
          </a:p>
          <a:p>
            <a:r>
              <a:rPr lang="en-US">
                <a:latin typeface="Gill Sans MT"/>
              </a:rPr>
              <a:t>Refer to these slides and React documentation for examples and help</a:t>
            </a:r>
            <a:endParaRPr lang="en-US"/>
          </a:p>
          <a:p>
            <a:pPr marL="452120" lvl="1"/>
            <a:r>
              <a:rPr lang="en-US">
                <a:latin typeface="Gill Sans MT"/>
                <a:hlinkClick r:id="rId6"/>
              </a:rPr>
              <a:t>Hello World – React (reactjs.org)</a:t>
            </a:r>
            <a:endParaRPr lang="en-US">
              <a:solidFill>
                <a:srgbClr val="A6A6A6"/>
              </a:solidFill>
              <a:latin typeface="Gill Sans MT"/>
            </a:endParaRPr>
          </a:p>
          <a:p>
            <a:endParaRPr lang="en-US">
              <a:solidFill>
                <a:srgbClr val="A6A6A6"/>
              </a:solidFill>
            </a:endParaRPr>
          </a:p>
        </p:txBody>
      </p:sp>
      <p:sp>
        <p:nvSpPr>
          <p:cNvPr id="3" name="Title 2">
            <a:extLst>
              <a:ext uri="{FF2B5EF4-FFF2-40B4-BE49-F238E27FC236}">
                <a16:creationId xmlns:a16="http://schemas.microsoft.com/office/drawing/2014/main" id="{6044F0D3-7D84-88C4-591A-5E476931F55A}"/>
              </a:ext>
            </a:extLst>
          </p:cNvPr>
          <p:cNvSpPr>
            <a:spLocks noGrp="1"/>
          </p:cNvSpPr>
          <p:nvPr>
            <p:ph type="title"/>
          </p:nvPr>
        </p:nvSpPr>
        <p:spPr/>
        <p:txBody>
          <a:bodyPr lIns="0" tIns="45720" rIns="91440" bIns="45720" anchor="b">
            <a:noAutofit/>
          </a:bodyPr>
          <a:lstStyle/>
          <a:p>
            <a:r>
              <a:rPr lang="en-US">
                <a:latin typeface="Gill Sans MT"/>
              </a:rPr>
              <a:t>Quick Start</a:t>
            </a:r>
            <a:endParaRPr lang="en-US"/>
          </a:p>
        </p:txBody>
      </p:sp>
    </p:spTree>
    <p:extLst>
      <p:ext uri="{BB962C8B-B14F-4D97-AF65-F5344CB8AC3E}">
        <p14:creationId xmlns:p14="http://schemas.microsoft.com/office/powerpoint/2010/main" val="319299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649326-867F-88C9-BAF0-7FC13C579B42}"/>
              </a:ext>
            </a:extLst>
          </p:cNvPr>
          <p:cNvSpPr>
            <a:spLocks noGrp="1"/>
          </p:cNvSpPr>
          <p:nvPr>
            <p:ph idx="1"/>
          </p:nvPr>
        </p:nvSpPr>
        <p:spPr/>
        <p:txBody>
          <a:bodyPr lIns="91440" tIns="45720" rIns="91440" bIns="45720" anchor="t">
            <a:normAutofit/>
          </a:bodyPr>
          <a:lstStyle/>
          <a:p>
            <a:r>
              <a:rPr lang="en-US">
                <a:latin typeface="Gill Sans MT"/>
              </a:rPr>
              <a:t>Demo Code: </a:t>
            </a:r>
            <a:r>
              <a:rPr lang="en-US">
                <a:latin typeface="Gill Sans MT"/>
                <a:hlinkClick r:id="rId3"/>
              </a:rPr>
              <a:t>https://github.com/lhudsonPeraton/React</a:t>
            </a:r>
            <a:endParaRPr lang="en-US">
              <a:highlight>
                <a:srgbClr val="FFFF00"/>
              </a:highlight>
              <a:latin typeface="Gill Sans MT"/>
            </a:endParaRPr>
          </a:p>
          <a:p>
            <a:r>
              <a:rPr lang="en-US">
                <a:latin typeface="Gill Sans MT"/>
              </a:rPr>
              <a:t>Install links</a:t>
            </a:r>
            <a:endParaRPr lang="en-US">
              <a:solidFill>
                <a:srgbClr val="A6A6A6"/>
              </a:solidFill>
              <a:latin typeface="Gill Sans MT"/>
            </a:endParaRPr>
          </a:p>
          <a:p>
            <a:pPr marL="452120" lvl="1"/>
            <a:r>
              <a:rPr lang="en-US">
                <a:solidFill>
                  <a:srgbClr val="A6A6A6"/>
                </a:solidFill>
                <a:latin typeface="Gill Sans MT"/>
              </a:rPr>
              <a:t>Node/NPM: </a:t>
            </a:r>
            <a:r>
              <a:rPr lang="en-US">
                <a:solidFill>
                  <a:srgbClr val="A6A6A6"/>
                </a:solidFill>
                <a:latin typeface="Gill Sans MT"/>
                <a:hlinkClick r:id="rId4">
                  <a:extLst>
                    <a:ext uri="{A12FA001-AC4F-418D-AE19-62706E023703}">
                      <ahyp:hlinkClr xmlns:ahyp="http://schemas.microsoft.com/office/drawing/2018/hyperlinkcolor" val="tx"/>
                    </a:ext>
                  </a:extLst>
                </a:hlinkClick>
              </a:rPr>
              <a:t>https://nodejs.org/en/download/</a:t>
            </a:r>
            <a:endParaRPr lang="en-US"/>
          </a:p>
          <a:p>
            <a:pPr marL="452120" lvl="1"/>
            <a:r>
              <a:rPr lang="en-US">
                <a:latin typeface="Gill Sans MT"/>
              </a:rPr>
              <a:t>Git: </a:t>
            </a:r>
            <a:r>
              <a:rPr lang="en-US">
                <a:latin typeface="Gill Sans MT"/>
                <a:hlinkClick r:id="rId5"/>
              </a:rPr>
              <a:t>https://git-scm.com/downloads</a:t>
            </a:r>
            <a:endParaRPr lang="en-US">
              <a:latin typeface="Gill Sans MT"/>
            </a:endParaRPr>
          </a:p>
          <a:p>
            <a:pPr marL="452120" lvl="1"/>
            <a:r>
              <a:rPr lang="en-US" err="1">
                <a:solidFill>
                  <a:srgbClr val="A6A6A6"/>
                </a:solidFill>
                <a:latin typeface="Gill Sans MT"/>
              </a:rPr>
              <a:t>VSCode</a:t>
            </a:r>
            <a:r>
              <a:rPr lang="en-US">
                <a:solidFill>
                  <a:srgbClr val="A6A6A6"/>
                </a:solidFill>
                <a:latin typeface="Gill Sans MT"/>
              </a:rPr>
              <a:t> IDE: </a:t>
            </a:r>
            <a:r>
              <a:rPr lang="en-US">
                <a:solidFill>
                  <a:srgbClr val="315EAB"/>
                </a:solidFill>
                <a:latin typeface="Gill Sans MT"/>
                <a:hlinkClick r:id="rId6">
                  <a:extLst>
                    <a:ext uri="{A12FA001-AC4F-418D-AE19-62706E023703}">
                      <ahyp:hlinkClr xmlns:ahyp="http://schemas.microsoft.com/office/drawing/2018/hyperlinkcolor" val="tx"/>
                    </a:ext>
                  </a:extLst>
                </a:hlinkClick>
              </a:rPr>
              <a:t>https://code.visualstudio.com/</a:t>
            </a:r>
            <a:endParaRPr lang="en-US">
              <a:solidFill>
                <a:srgbClr val="315EAB"/>
              </a:solidFill>
              <a:latin typeface="Gill Sans MT"/>
            </a:endParaRPr>
          </a:p>
          <a:p>
            <a:pPr marL="0" indent="0">
              <a:buNone/>
            </a:pPr>
            <a:endParaRPr lang="en-US"/>
          </a:p>
          <a:p>
            <a:r>
              <a:rPr lang="en-US">
                <a:latin typeface="Gill Sans MT"/>
              </a:rPr>
              <a:t>Documentation:</a:t>
            </a:r>
          </a:p>
          <a:p>
            <a:pPr marL="452120" lvl="1"/>
            <a:r>
              <a:rPr lang="en-US">
                <a:latin typeface="Gill Sans MT"/>
              </a:rPr>
              <a:t>React: </a:t>
            </a:r>
            <a:r>
              <a:rPr lang="en-US">
                <a:latin typeface="Gill Sans MT"/>
                <a:hlinkClick r:id="rId7"/>
              </a:rPr>
              <a:t>https://reactjs.org/docs/getting-started.html</a:t>
            </a:r>
            <a:endParaRPr lang="en-US">
              <a:solidFill>
                <a:srgbClr val="315EAB"/>
              </a:solidFill>
              <a:latin typeface="Gill Sans MT"/>
            </a:endParaRPr>
          </a:p>
          <a:p>
            <a:pPr marL="452120" lvl="1"/>
            <a:r>
              <a:rPr lang="en-US">
                <a:latin typeface="Gill Sans MT"/>
              </a:rPr>
              <a:t>Material UI (MUI): </a:t>
            </a:r>
            <a:r>
              <a:rPr lang="en-US">
                <a:latin typeface="Gill Sans MT"/>
                <a:hlinkClick r:id="rId8"/>
              </a:rPr>
              <a:t>https://mui.com/material-ui/getting-started/overview/</a:t>
            </a:r>
            <a:endParaRPr lang="en-US">
              <a:solidFill>
                <a:srgbClr val="A6A6A6"/>
              </a:solidFill>
              <a:latin typeface="Gill Sans MT"/>
            </a:endParaRPr>
          </a:p>
          <a:p>
            <a:pPr marL="452120" lvl="1"/>
            <a:r>
              <a:rPr lang="en-US">
                <a:latin typeface="Gill Sans MT"/>
              </a:rPr>
              <a:t>Axios: </a:t>
            </a:r>
            <a:r>
              <a:rPr lang="en-US">
                <a:latin typeface="Gill Sans MT"/>
                <a:hlinkClick r:id="rId9"/>
              </a:rPr>
              <a:t>https://axios-http.com/docs/intro</a:t>
            </a:r>
            <a:endParaRPr lang="en-US">
              <a:latin typeface="Gill Sans MT"/>
            </a:endParaRPr>
          </a:p>
          <a:p>
            <a:endParaRPr lang="en-US"/>
          </a:p>
        </p:txBody>
      </p:sp>
      <p:sp>
        <p:nvSpPr>
          <p:cNvPr id="3" name="Title 2">
            <a:extLst>
              <a:ext uri="{FF2B5EF4-FFF2-40B4-BE49-F238E27FC236}">
                <a16:creationId xmlns:a16="http://schemas.microsoft.com/office/drawing/2014/main" id="{5E104998-4FC0-23E2-5FEF-36974AA84AD7}"/>
              </a:ext>
            </a:extLst>
          </p:cNvPr>
          <p:cNvSpPr>
            <a:spLocks noGrp="1"/>
          </p:cNvSpPr>
          <p:nvPr>
            <p:ph type="title"/>
          </p:nvPr>
        </p:nvSpPr>
        <p:spPr/>
        <p:txBody>
          <a:bodyPr lIns="0" tIns="45720" rIns="91440" bIns="45720" anchor="b">
            <a:noAutofit/>
          </a:bodyPr>
          <a:lstStyle/>
          <a:p>
            <a:r>
              <a:rPr lang="en-US"/>
              <a:t>Resources</a:t>
            </a:r>
          </a:p>
        </p:txBody>
      </p:sp>
    </p:spTree>
    <p:extLst>
      <p:ext uri="{BB962C8B-B14F-4D97-AF65-F5344CB8AC3E}">
        <p14:creationId xmlns:p14="http://schemas.microsoft.com/office/powerpoint/2010/main" val="17927635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8B1C06-B348-C23F-5EC2-EB8648D42A64}"/>
              </a:ext>
            </a:extLst>
          </p:cNvPr>
          <p:cNvSpPr>
            <a:spLocks noGrp="1"/>
          </p:cNvSpPr>
          <p:nvPr>
            <p:ph idx="1"/>
          </p:nvPr>
        </p:nvSpPr>
        <p:spPr/>
        <p:txBody>
          <a:bodyPr/>
          <a:lstStyle/>
          <a:p>
            <a:r>
              <a:rPr lang="en-US"/>
              <a:t>HTML Tutorial: </a:t>
            </a:r>
            <a:r>
              <a:rPr lang="en-US">
                <a:hlinkClick r:id="rId2"/>
              </a:rPr>
              <a:t>HTML Tutorial (w3schools.com)</a:t>
            </a:r>
            <a:endParaRPr lang="en-US"/>
          </a:p>
          <a:p>
            <a:r>
              <a:rPr lang="en-US"/>
              <a:t>CSS Tutorial: </a:t>
            </a:r>
            <a:r>
              <a:rPr lang="en-US">
                <a:hlinkClick r:id="rId3"/>
              </a:rPr>
              <a:t>CSS Tutorial (w3schools.com)</a:t>
            </a:r>
            <a:endParaRPr lang="en-US"/>
          </a:p>
          <a:p>
            <a:r>
              <a:rPr lang="en-US"/>
              <a:t>JS Tutorial: </a:t>
            </a:r>
            <a:r>
              <a:rPr lang="en-US">
                <a:hlinkClick r:id="rId4"/>
              </a:rPr>
              <a:t>JavaScript Tutorial (w3schools.com)</a:t>
            </a:r>
            <a:endParaRPr lang="en-US"/>
          </a:p>
          <a:p>
            <a:endParaRPr lang="en-US"/>
          </a:p>
          <a:p>
            <a:r>
              <a:rPr lang="en-US"/>
              <a:t>Unix/Linux Commands: </a:t>
            </a:r>
            <a:r>
              <a:rPr lang="en-US">
                <a:hlinkClick r:id="rId5"/>
              </a:rPr>
              <a:t>Linux Commands Cheat Sheet | </a:t>
            </a:r>
            <a:r>
              <a:rPr lang="en-US" err="1">
                <a:hlinkClick r:id="rId5"/>
              </a:rPr>
              <a:t>GeeksforGeeks</a:t>
            </a:r>
            <a:endParaRPr lang="en-US"/>
          </a:p>
          <a:p>
            <a:pPr marL="0" indent="0">
              <a:buNone/>
            </a:pPr>
            <a:endParaRPr lang="en-US"/>
          </a:p>
        </p:txBody>
      </p:sp>
      <p:sp>
        <p:nvSpPr>
          <p:cNvPr id="3" name="Title 2">
            <a:extLst>
              <a:ext uri="{FF2B5EF4-FFF2-40B4-BE49-F238E27FC236}">
                <a16:creationId xmlns:a16="http://schemas.microsoft.com/office/drawing/2014/main" id="{F596A239-2B39-127B-FD7E-8CF1B3F3DFE6}"/>
              </a:ext>
            </a:extLst>
          </p:cNvPr>
          <p:cNvSpPr>
            <a:spLocks noGrp="1"/>
          </p:cNvSpPr>
          <p:nvPr>
            <p:ph type="title"/>
          </p:nvPr>
        </p:nvSpPr>
        <p:spPr/>
        <p:txBody>
          <a:bodyPr/>
          <a:lstStyle/>
          <a:p>
            <a:r>
              <a:rPr lang="en-US"/>
              <a:t>Additional Resources</a:t>
            </a:r>
          </a:p>
        </p:txBody>
      </p:sp>
    </p:spTree>
    <p:extLst>
      <p:ext uri="{BB962C8B-B14F-4D97-AF65-F5344CB8AC3E}">
        <p14:creationId xmlns:p14="http://schemas.microsoft.com/office/powerpoint/2010/main" val="989274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96B100D-F50F-460C-9B25-89BBFD1433D0}"/>
              </a:ext>
            </a:extLst>
          </p:cNvPr>
          <p:cNvSpPr>
            <a:spLocks noGrp="1"/>
          </p:cNvSpPr>
          <p:nvPr>
            <p:ph type="body" sz="quarter" idx="10"/>
          </p:nvPr>
        </p:nvSpPr>
        <p:spPr/>
        <p:txBody>
          <a:bodyPr/>
          <a:lstStyle/>
          <a:p>
            <a:r>
              <a:rPr lang="en-US" sz="2800"/>
              <a:t>Demo</a:t>
            </a:r>
            <a:endParaRPr lang="en-US"/>
          </a:p>
        </p:txBody>
      </p:sp>
    </p:spTree>
    <p:extLst>
      <p:ext uri="{BB962C8B-B14F-4D97-AF65-F5344CB8AC3E}">
        <p14:creationId xmlns:p14="http://schemas.microsoft.com/office/powerpoint/2010/main" val="616843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49F25BB-70C2-4092-8AC3-1AE5960BE297}"/>
              </a:ext>
            </a:extLst>
          </p:cNvPr>
          <p:cNvSpPr>
            <a:spLocks noGrp="1"/>
          </p:cNvSpPr>
          <p:nvPr>
            <p:ph type="body" sz="quarter" idx="10"/>
          </p:nvPr>
        </p:nvSpPr>
        <p:spPr/>
        <p:txBody>
          <a:bodyPr/>
          <a:lstStyle/>
          <a:p>
            <a:r>
              <a:rPr lang="en-US" sz="2800"/>
              <a:t>Questions?</a:t>
            </a:r>
            <a:endParaRPr lang="en-US"/>
          </a:p>
        </p:txBody>
      </p:sp>
    </p:spTree>
    <p:extLst>
      <p:ext uri="{BB962C8B-B14F-4D97-AF65-F5344CB8AC3E}">
        <p14:creationId xmlns:p14="http://schemas.microsoft.com/office/powerpoint/2010/main" val="2603961356"/>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ratonSlideTemplate_16x9 (1)" id="{1BB1B024-ACA6-458B-9640-3462F4DA0526}" vid="{04C3CE73-ACC0-467D-BAE4-D424426448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ec4f3cb9-4c12-4ddf-8535-d5800daf0e6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C636614A6C53042ABEE0B4A479ED2B7" ma:contentTypeVersion="15" ma:contentTypeDescription="Create a new document." ma:contentTypeScope="" ma:versionID="4dbe97180dfaf04d963ab5b074b97397">
  <xsd:schema xmlns:xsd="http://www.w3.org/2001/XMLSchema" xmlns:xs="http://www.w3.org/2001/XMLSchema" xmlns:p="http://schemas.microsoft.com/office/2006/metadata/properties" xmlns:ns3="ec4f3cb9-4c12-4ddf-8535-d5800daf0e63" xmlns:ns4="fd4afd76-754d-4a2d-9110-fede197bb8c0" targetNamespace="http://schemas.microsoft.com/office/2006/metadata/properties" ma:root="true" ma:fieldsID="78df630f8b91052bd12eca06fa7691e0" ns3:_="" ns4:_="">
    <xsd:import namespace="ec4f3cb9-4c12-4ddf-8535-d5800daf0e63"/>
    <xsd:import namespace="fd4afd76-754d-4a2d-9110-fede197bb8c0"/>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3:MediaServiceOCR" minOccurs="0"/>
                <xsd:element ref="ns3:MediaServiceSearchPropertie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4f3cb9-4c12-4ddf-8535-d5800daf0e63"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SystemTags" ma:index="2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4afd76-754d-4a2d-9110-fede197bb8c0"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0820447-02DF-4B3B-8F0E-EC21F16EFF81}">
  <ds:schemaRefs>
    <ds:schemaRef ds:uri="http://schemas.microsoft.com/sharepoint/v3/contenttype/forms"/>
  </ds:schemaRefs>
</ds:datastoreItem>
</file>

<file path=customXml/itemProps2.xml><?xml version="1.0" encoding="utf-8"?>
<ds:datastoreItem xmlns:ds="http://schemas.openxmlformats.org/officeDocument/2006/customXml" ds:itemID="{89587043-DE42-459D-B6A4-A1B264AC53DD}">
  <ds:schemaRefs>
    <ds:schemaRef ds:uri="http://schemas.openxmlformats.org/package/2006/metadata/core-properties"/>
    <ds:schemaRef ds:uri="ec4f3cb9-4c12-4ddf-8535-d5800daf0e63"/>
    <ds:schemaRef ds:uri="http://schemas.microsoft.com/office/infopath/2007/PartnerControls"/>
    <ds:schemaRef ds:uri="http://purl.org/dc/terms/"/>
    <ds:schemaRef ds:uri="http://schemas.microsoft.com/office/2006/metadata/properties"/>
    <ds:schemaRef ds:uri="http://www.w3.org/XML/1998/namespace"/>
    <ds:schemaRef ds:uri="http://schemas.microsoft.com/office/2006/documentManagement/types"/>
    <ds:schemaRef ds:uri="http://purl.org/dc/elements/1.1/"/>
    <ds:schemaRef ds:uri="fd4afd76-754d-4a2d-9110-fede197bb8c0"/>
    <ds:schemaRef ds:uri="http://purl.org/dc/dcmitype/"/>
  </ds:schemaRefs>
</ds:datastoreItem>
</file>

<file path=customXml/itemProps3.xml><?xml version="1.0" encoding="utf-8"?>
<ds:datastoreItem xmlns:ds="http://schemas.openxmlformats.org/officeDocument/2006/customXml" ds:itemID="{C752CF03-7A60-411E-8098-69AB8F792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4f3cb9-4c12-4ddf-8535-d5800daf0e63"/>
    <ds:schemaRef ds:uri="fd4afd76-754d-4a2d-9110-fede197bb8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Peraton 2022 16x9</Template>
  <TotalTime>486</TotalTime>
  <Words>4367</Words>
  <Application>Microsoft Office PowerPoint</Application>
  <PresentationFormat>Widescreen</PresentationFormat>
  <Paragraphs>486</Paragraphs>
  <Slides>44</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Calibri</vt:lpstr>
      <vt:lpstr>Courier New</vt:lpstr>
      <vt:lpstr>Gill Sans MT</vt:lpstr>
      <vt:lpstr>Google Sans</vt:lpstr>
      <vt:lpstr>Wingdings</vt:lpstr>
      <vt:lpstr>Custom Design</vt:lpstr>
      <vt:lpstr>PowerPoint Presentation</vt:lpstr>
      <vt:lpstr>Agenda</vt:lpstr>
      <vt:lpstr>Peraton at a Glance</vt:lpstr>
      <vt:lpstr>Peraton Culture</vt:lpstr>
      <vt:lpstr>Ways to Engage with Peraton</vt:lpstr>
      <vt:lpstr>PowerPoint Presentation</vt:lpstr>
      <vt:lpstr>“Prerequisites”</vt:lpstr>
      <vt:lpstr>What makes a website?</vt:lpstr>
      <vt:lpstr>What is a Framework? What is a Library?</vt:lpstr>
      <vt:lpstr>How Can We Visualize + Represent Websites?</vt:lpstr>
      <vt:lpstr>Representing Elements on a Page Using the DOM</vt:lpstr>
      <vt:lpstr>How do Frameworks use the DOM?</vt:lpstr>
      <vt:lpstr>  Single-Page Applications     vs     Multi-Page Applications</vt:lpstr>
      <vt:lpstr>PowerPoint Presentation</vt:lpstr>
      <vt:lpstr>React (ReactJS)</vt:lpstr>
      <vt:lpstr>Advantages of React</vt:lpstr>
      <vt:lpstr>React in the Real World</vt:lpstr>
      <vt:lpstr>Common Libraries</vt:lpstr>
      <vt:lpstr>React Bootstrap</vt:lpstr>
      <vt:lpstr>PowerPoint Presentation</vt:lpstr>
      <vt:lpstr>Node and NPM</vt:lpstr>
      <vt:lpstr>JSX (JavaScript XML) Introduction and Usage</vt:lpstr>
      <vt:lpstr>PowerPoint Presentation</vt:lpstr>
      <vt:lpstr>React Components Introduction</vt:lpstr>
      <vt:lpstr>React Components Continued</vt:lpstr>
      <vt:lpstr>React Functional Component (*Recommended*) Example</vt:lpstr>
      <vt:lpstr>React Class Component Example</vt:lpstr>
      <vt:lpstr>React Lifecycle</vt:lpstr>
      <vt:lpstr>Data Flow Introduction</vt:lpstr>
      <vt:lpstr>React Context</vt:lpstr>
      <vt:lpstr>Updating State User interaction events and asynchronous events</vt:lpstr>
      <vt:lpstr>React Hooks Introduction and Usage</vt:lpstr>
      <vt:lpstr>React Hooks useState and useEffect</vt:lpstr>
      <vt:lpstr>API Calls in React Fetch and Axios</vt:lpstr>
      <vt:lpstr>API Calls in React Fetch Example</vt:lpstr>
      <vt:lpstr>API Calls in React Axios</vt:lpstr>
      <vt:lpstr>React – Developer Experience</vt:lpstr>
      <vt:lpstr>Thinking in React</vt:lpstr>
      <vt:lpstr>PowerPoint Presentation</vt:lpstr>
      <vt:lpstr>Quick Start</vt:lpstr>
      <vt:lpstr>Resources</vt:lpstr>
      <vt:lpstr>Additional Resources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Caufman, Greg (PERATON)</dc:creator>
  <cp:lastModifiedBy>Stoltz, Ryan G (PERATON)</cp:lastModifiedBy>
  <cp:revision>3</cp:revision>
  <cp:lastPrinted>2020-07-15T21:22:53Z</cp:lastPrinted>
  <dcterms:created xsi:type="dcterms:W3CDTF">2022-08-24T22:04:14Z</dcterms:created>
  <dcterms:modified xsi:type="dcterms:W3CDTF">2025-04-12T03:13:01Z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0x0101004C636614A6C53042ABEE0B4A479ED2B7</vt:lpwstr>
  </property>
  <property fmtid="{D5CDD505-2E9C-101B-9397-08002B2CF9AE}" pid="3" name="MSIP_Label_e6b0ad23-84db-440d-b659-8bee5234175e_Enabled">
    <vt:lpwstr>true</vt:lpwstr>
  </property>
  <property fmtid="{D5CDD505-2E9C-101B-9397-08002B2CF9AE}" pid="4" name="MSIP_Label_e6b0ad23-84db-440d-b659-8bee5234175e_SetDate">
    <vt:lpwstr>2021-02-03T18:02:51Z</vt:lpwstr>
  </property>
  <property fmtid="{D5CDD505-2E9C-101B-9397-08002B2CF9AE}" pid="5" name="MSIP_Label_e6b0ad23-84db-440d-b659-8bee5234175e_Method">
    <vt:lpwstr>Standard</vt:lpwstr>
  </property>
  <property fmtid="{D5CDD505-2E9C-101B-9397-08002B2CF9AE}" pid="6" name="MSIP_Label_e6b0ad23-84db-440d-b659-8bee5234175e_Name">
    <vt:lpwstr>e6b0ad23-84db-440d-b659-8bee5234175e</vt:lpwstr>
  </property>
  <property fmtid="{D5CDD505-2E9C-101B-9397-08002B2CF9AE}" pid="7" name="MSIP_Label_e6b0ad23-84db-440d-b659-8bee5234175e_SiteId">
    <vt:lpwstr>1c625846-2b0a-4483-83dd-e024820875b3</vt:lpwstr>
  </property>
  <property fmtid="{D5CDD505-2E9C-101B-9397-08002B2CF9AE}" pid="8" name="MSIP_Label_e6b0ad23-84db-440d-b659-8bee5234175e_ActionId">
    <vt:lpwstr/>
  </property>
  <property fmtid="{D5CDD505-2E9C-101B-9397-08002B2CF9AE}" pid="9" name="MSIP_Label_e6b0ad23-84db-440d-b659-8bee5234175e_ContentBits">
    <vt:lpwstr>0</vt:lpwstr>
  </property>
  <property fmtid="{D5CDD505-2E9C-101B-9397-08002B2CF9AE}" pid="10" name="MediaServiceImageTags">
    <vt:lpwstr/>
  </property>
  <property fmtid="{D5CDD505-2E9C-101B-9397-08002B2CF9AE}" pid="11" name="MSIP_Label_d9be401e-98d6-42b6-bec6-0ceb84895e69_Enabled">
    <vt:lpwstr>true</vt:lpwstr>
  </property>
  <property fmtid="{D5CDD505-2E9C-101B-9397-08002B2CF9AE}" pid="12" name="MSIP_Label_d9be401e-98d6-42b6-bec6-0ceb84895e69_SetDate">
    <vt:lpwstr>2025-03-10T19:13:04Z</vt:lpwstr>
  </property>
  <property fmtid="{D5CDD505-2E9C-101B-9397-08002B2CF9AE}" pid="13" name="MSIP_Label_d9be401e-98d6-42b6-bec6-0ceb84895e69_Method">
    <vt:lpwstr>Privileged</vt:lpwstr>
  </property>
  <property fmtid="{D5CDD505-2E9C-101B-9397-08002B2CF9AE}" pid="14" name="MSIP_Label_d9be401e-98d6-42b6-bec6-0ceb84895e69_Name">
    <vt:lpwstr>Unrestricted Senstivitiy</vt:lpwstr>
  </property>
  <property fmtid="{D5CDD505-2E9C-101B-9397-08002B2CF9AE}" pid="15" name="MSIP_Label_d9be401e-98d6-42b6-bec6-0ceb84895e69_SiteId">
    <vt:lpwstr>2a6ae295-f13d-4948-ba78-332742ce9097</vt:lpwstr>
  </property>
  <property fmtid="{D5CDD505-2E9C-101B-9397-08002B2CF9AE}" pid="16" name="MSIP_Label_d9be401e-98d6-42b6-bec6-0ceb84895e69_ActionId">
    <vt:lpwstr>96bac3bd-bcbe-4cbf-bf4e-ac6060fd3532</vt:lpwstr>
  </property>
  <property fmtid="{D5CDD505-2E9C-101B-9397-08002B2CF9AE}" pid="17" name="MSIP_Label_d9be401e-98d6-42b6-bec6-0ceb84895e69_ContentBits">
    <vt:lpwstr>0</vt:lpwstr>
  </property>
  <property fmtid="{D5CDD505-2E9C-101B-9397-08002B2CF9AE}" pid="18" name="MSIP_Label_d9be401e-98d6-42b6-bec6-0ceb84895e69_Tag">
    <vt:lpwstr>10, 0, 1, 1</vt:lpwstr>
  </property>
</Properties>
</file>